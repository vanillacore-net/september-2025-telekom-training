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9" d="100"/>
          <a:sy n="129" d="100"/>
        </p:scale>
        <p:origin x="4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4 behandelt die fortgeschrittenen Design Patterns, die für komplexe Enterprise-Architektur unerlässlich sind. Focus liegt auf praktischer Integration aller Patterns in produktiven Telekom-Systemen.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4 behandelt die fortgeschrittenen Design Patterns, die für komplexe Enterprise-Architektur unerlässlich sind. Focus liegt auf praktischer Integration aller Patterns in produktiven Telekom-Systemen.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Point-to-Point Communication führt zu exponentieller Komplexität. Bei 300+ Netzwerkgeräten entstehen über 3 Millionen Update-Operationen bei jeder Änderung.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direkte Kommunikation zwischen allen Netzwerkgeräten führt zu unbeherrschbarer Komplexität und kritischen Performance-Problemen.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Mediator Pattern reduziert die Komplexität von exponentiell auf linear und ermöglicht zentrale Orchestrierung aller Netzwerkoperationen.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Production-ready Implementation mit Parallel Processing, Error Isolation und Metrics. Jeder Handler kümmert sich um einen spezifischen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instanceof-Horror führt zu N×M Komplexität: N Device-Types × M Report-Formats. Jeder neue Type erfordert Änderungen in allen Formaten.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Vermischung von Navigation und Datenverarbeitung führt zu unlesbarem und wartungsfeindlichem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Kombination von Iterator und Visitor Pattern trennt Navigation von Verarbeitung und ermöglicht type-safe Operations ohne 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 Navigation mit Cycle Detection und type-safe Operations durch Method Overloading. Keine Casting-Fehler zur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Fehlgeschlagene Configuration-Changes ohne Rollback-Möglichkeit führen zu stundenlangen manuellen Recovery-Prozessen und kritischen Ausfällen.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Telekom-Netzen kann ein Configuration-Fehler 50.000+ Kunden betreffen. Ohne Rollback-Mechanismen sind die Recovery-Zeiten inakzeptabel.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Memento Pattern ermöglicht atomare Configuration-Changes mit garantiertem Rollback und vollständiger Audit-Historie.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Production-ready Implementation mit Integrity-Validation und parallelem Emergency-Rollback für kritische Situationen.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String-basierte Configuration führt zu fragiler Syntax, fehlendem IDE-Support und schwer debugbaren Fehlern.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String-Parsing macht Network Engineers von Entwicklern abhängig und verlangsamt kritische Configuration-Changes erheblich.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Interpreter Pattern ermöglicht domänen-spezifische Sprachen, die Experten ohne Programmierkenntnisse verwenden können.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Strukturierter AST ermöglicht type-safe Configuration mit umfassender Validation und klarer Syntax für Network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Pattern-Obsession führt zu Over-Engineering. Nicht jedes Problem braucht ein Pattern - manchmal ist die einfache Lösung die beste.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größte Anti-Pattern ist "Pattern für alles". Patterns sollen Probleme lösen, nicht schaffen.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Erfolgreiche Pattern-Integration erfordert pragmatische Abwägung zwischen Nutzen und Komplexität.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Layered Architecture mit gradueller Pattern-Einführung: Foundation → Behavioral → Advanced Integration für produktive Enterprise-Systeme.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Nachhaltige Pattern-Adoption braucht strukturiertes Vorgehen mit Team-Training und gradueller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Production-Einsatz erfordert umfassendes Monitoring, Error Handling und Rollback-Strategien für Pattern-basierte Systeme.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Pattern Selection Framework hilft bei der Entscheidung, wann Patterns Mehrwert bringen und wann sie Over-Engineering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4 hat gezeigt, wie Advanced Patterns in produktiven Enterprise-Systemen integriert werden. Der Schlüssel ist pragmatische Abwägung zwischen Nutzen und Komplexität.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Erfolgreiche Pattern-Mastery ist ein Journey. Beginnt mit Foundation Patterns, entwickelt euch graduell zu Advanced Integration und teilt euer Wissen im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Block 4: Advanced Patterns &amp;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4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Mediator Pattern: Zentrale Orchestrierung statt Communication Chaos</a:t>
            </a:r>
          </a:p>
          <a:p>
            <a:r>
              <a:t>Iterator &amp; Visitor: Intelligente Datenverarbeitung ohne Type-Casting</a:t>
            </a:r>
          </a:p>
          <a:p>
            <a:r>
              <a:t>Memento &amp; Interpreter: State-Recovery und Configuration-DSLs</a:t>
            </a:r>
          </a:p>
          <a:p>
            <a:r>
              <a:t>Pattern Integration: Alles zusammenfügen in produktiver Architektur</a:t>
            </a:r>
          </a:p>
          <a:p>
            <a:r>
              <a:t>Anti-Patterns vermeiden: Pattern-Obsession und Over-Engineering</a:t>
            </a:r>
          </a:p>
          <a:p>
            <a:r>
              <a:t>Team-Adoption: Graduelle Einführung und nachhaltige Nutzung</a:t>
            </a:r>
          </a:p>
          <a:p>
            <a:r>
              <a:t>Production Readiness: Monitoring, Performance und Fehlerbehandlung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 1: Mediator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Communication Explosion: Jeder redet mit jedem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class NetworkDevice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List&lt;Router&gt; routers;           // 50+ Router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List&lt;Switch&gt; switches;          // 200+ Switches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List&lt;FirewallDevice&gt; firewalls; // 30+ Firewalls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List&lt;MonitoringSystem&gt; monitors; // 10+ Monitoring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void statusChanged()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O(n²) = 50 × 200 × 30 × 10 = 3 MILLIONEN Updates!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for (Router r : routers)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r.updateTopology(this);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for (Switch s : switches)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s.recalculateRoutes(r, this);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for (FirewallDevice f : firewalls)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    f.updateRules(r, s, this);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    // HORROR: 4-fach verschachtelte Loops!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Performance-Kollaps: Ein Device-Change triggert 1000+ Notifications</a:t>
            </a:r>
          </a:p>
          <a:p>
            <a:r>
              <a:t>Network Storms: Broadcast-Messages überlasten Management-Netz</a:t>
            </a:r>
          </a:p>
          <a:p>
            <a:r>
              <a:t>Deadlocks: Circular Dependencies zwischen Devices</a:t>
            </a:r>
          </a:p>
          <a:p>
            <a:r>
              <a:t>Maintenance-Horror: Neue Device-Art muss mit ALLEN Types integriert werden</a:t>
            </a:r>
          </a:p>
          <a:p>
            <a:r>
              <a:t>Testing-Explosion: Jeder Change gegen 100+ Device-Kombinationen testen</a:t>
            </a:r>
          </a:p>
          <a:p>
            <a:r>
              <a:t>Root-Cause-Analysis: "Warum ist Router-47 langsam?" → 72h Investigation</a:t>
            </a:r>
          </a:p>
          <a:p>
            <a:r>
              <a:t>Change-Impact: Unbekannt, zu komplex zu analysieren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Mediator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Zentrale Koordination: Ein Mediator statt 50.000 Point-to-Point Verbindungen</a:t>
            </a:r>
          </a:p>
          <a:p>
            <a:r>
              <a:t>O(n) statt O(n²): Alle reden mit einem Mediator, nicht miteinander</a:t>
            </a:r>
          </a:p>
          <a:p>
            <a:r>
              <a:t>Handler-Architektur: Spezialisierte Handler für verschiedene Device-Types</a:t>
            </a:r>
          </a:p>
          <a:p>
            <a:r>
              <a:t>Error Isolation: Ein Handler-Fehler stoppt nicht andere Handler</a:t>
            </a:r>
          </a:p>
          <a:p>
            <a:r>
              <a:t>Priority-based Processing: Routing vor Monitoring, Security nach Routing</a:t>
            </a:r>
          </a:p>
          <a:p>
            <a:r>
              <a:t>Event-driven Design: Async Processing für Performance</a:t>
            </a:r>
          </a:p>
          <a:p>
            <a:r>
              <a:t>Extensibility: Neue Handler ohne Änderung bestehender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@Component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TelekomNetworkOrchestrator implements NetworkMediator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Map&lt;DeviceType, List&lt;DeviceHandler&gt;&gt; handlers = new ConcurrentHashMap&lt;&gt;();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void deviceStatusChanged(NetworkDevice device, DeviceStatus status)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log.info("📡 Device {} status: {} → {}",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device.getId(), device.getPreviousStatus(), status);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DeviceChangeEvent event = new DeviceChangeEvent(device, status);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List&lt;DeviceHandler&gt; orderedHandlers = getOrderedHandlers(device.getType());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Parallel Processing für Performance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orderedHandlers.parallelStream().forEach(handler -&gt;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try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handler.handle(event);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 catch (Exception 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log.error("❌ Handler {} failed", handler.getClass().getSimpleName(), 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// Error Isolation: Ein Handler-Fehler stoppt nicht die anderen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 2: Iterator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Navigation und Type-Casting Horror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class NetworkTopologyReport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String generateReport(NetworkTopology topology, ReportType reportType)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StringBuilder report = new StringBuilder();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for (NetworkNode node : topology.getNodes())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if (node instanceof Router)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Router r = (Router) node;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// 100 Zeilen Router-spezifischer XML Logic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 else if (node instanceof Switch)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Switch s = (Switch) node;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// 150 Zeilen Switch-spezifischer XML Logic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 else if (node instanceof FirewallDevice)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// 200 Zeilen Firewall XML Logic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// Was passiert mit neuen Device-Types???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KOMPLETT ANDERE 500 Zeilen für JSON...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NOCHMAL 600 Zeilen für PDF...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 × M Complexity: N Device-Types × M Report-Formats = exponentielle Code-Pfade</a:t>
            </a:r>
          </a:p>
          <a:p>
            <a:r>
              <a:t>Instanceof-Horror: Type-Casting überall, fehleranfällig</a:t>
            </a:r>
          </a:p>
          <a:p>
            <a:r>
              <a:t>Code Duplication: Device-Logic wird pro Format wiederholt</a:t>
            </a:r>
          </a:p>
          <a:p>
            <a:r>
              <a:t>Maintenance-Nightmare: Bug in Router-Logic = Fix in XML, JSON UND PDF</a:t>
            </a:r>
          </a:p>
          <a:p>
            <a:r>
              <a:t>Testing-Explosion: 5 Device-Types × 4 Formate = 20 Test-Kombinationen</a:t>
            </a:r>
          </a:p>
          <a:p>
            <a:r>
              <a:t>Knowledge Requirements: Developer braucht XML, JSON UND PDF Expertise</a:t>
            </a:r>
          </a:p>
          <a:p>
            <a:r>
              <a:t>ConcurrentModificationException: Unsafe Collection Modification während Iteration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Iterator + Visitor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Separation of Concerns: Iterator (WIE navigieren) + Visitor (WAS machen)</a:t>
            </a:r>
          </a:p>
          <a:p>
            <a:r>
              <a:t>Type-Safe Operations: Keine instanceof-Checks zur Runtime</a:t>
            </a:r>
          </a:p>
          <a:p>
            <a:r>
              <a:t>Method Overloading: Jeder Device-Type hat optimierte Behandlung</a:t>
            </a:r>
          </a:p>
          <a:p>
            <a:r>
              <a:t>Safe Navigation: ConcurrentModificationException vermeiden</a:t>
            </a:r>
          </a:p>
          <a:p>
            <a:r>
              <a:t>Extensibility: Neue Operations ohne Datenstruktur-Änderungen</a:t>
            </a:r>
          </a:p>
          <a:p>
            <a:r>
              <a:t>Parallel Processing: Stream-Integration für Performance</a:t>
            </a:r>
          </a:p>
          <a:p>
            <a:r>
              <a:t>Cycle Detection: Verhindert Infinite Loops in Mesh-Topologien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Iterator für sichere Navigation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TopologyBreadthFirstIterator implements NetworkIterator&lt;NetworkNode&gt;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Queue&lt;NetworkNode&gt; queue = new LinkedList&lt;&gt;();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Set&lt;NetworkNode&gt; visited = new HashSet&lt;&gt;();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NetworkNode next()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NetworkNode current = queue.poll();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if (!visited.contains(current))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visited.add(current);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// Add connected nodes for BFS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topology.getConnectedNodes(current).stream()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.filter(node -&gt; !visited.contains(node))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.forEach(queue::offer);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return current;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Visitor für type-safe Processing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XmlReportVisitor implements NetworkNodeVisitor&lt;String&gt;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String visitRouter(Router router)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Router-spezifische XML-Generierung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return generateRouterXml(router);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 3: Memento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Kein Rollback, kein Recovery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class NetworkDeviceConfigurator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void applyConfiguration(NetworkDevice device, Configuration newConfig)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HORROR: Direkte State-Mutations ohne Backup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device.setRoutingTable(newConfig.getRoutes());        // Was war vorher?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device.setVlanConfiguration(newConfig.getVlans());    // Unbekannt!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device.setSecurityPolicies(newConfig.getSecurityPolicies()); // Lost!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try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device.commitConfiguration(); // 🎲 All-or-Nothing Gamble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 catch (ConfigurationException e)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// We're screwed - no way back!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log.error("🚨 Device in UNKNOWN state!", 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// Manual Recovery Required: 2+ hours debugging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throw new RuntimeException("Device unrecoverable", 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Backup: Vorheriger Zustand unwiderruflich verloren</a:t>
            </a:r>
          </a:p>
          <a:p>
            <a:r>
              <a:t>Partial Updates: Device in inkonsistentem Zustand bei Fehlern</a:t>
            </a:r>
          </a:p>
          <a:p>
            <a:r>
              <a:t>No Atomicity: Kein sauberer Rollback bei partial Failures</a:t>
            </a:r>
          </a:p>
          <a:p>
            <a:r>
              <a:t>Manual Recovery: Stunden von Expert-Zeit für Wiederherstellung</a:t>
            </a:r>
          </a:p>
          <a:p>
            <a:r>
              <a:t>Production Outages: Configuration-Fehler → 30 Min Komplettausfall</a:t>
            </a:r>
          </a:p>
          <a:p>
            <a:r>
              <a:t>Audit &amp; Compliance: Keine Historie für Regulatory Requirements</a:t>
            </a:r>
          </a:p>
          <a:p>
            <a:r>
              <a:t>Expert-Dependency: Nur 3-4 Personen können kritische Configs wiederherstellen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Memento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Production-Safe Changes: Garantierte Rollback-Möglichkeit</a:t>
            </a:r>
          </a:p>
          <a:p>
            <a:r>
              <a:t>Atomic Operations: Entweder alles oder nichts, aber sauber</a:t>
            </a:r>
          </a:p>
          <a:p>
            <a:r>
              <a:t>Audit-Compliance: Vollständige Historie aller Changes</a:t>
            </a:r>
          </a:p>
          <a:p>
            <a:r>
              <a:t>Disaster Recovery: State-Snapshots für schnelle Wiederherstellung</a:t>
            </a:r>
          </a:p>
          <a:p>
            <a:r>
              <a:t>Immutable Snapshots: Deep Copy verhindert versehentliche Mutations</a:t>
            </a:r>
          </a:p>
          <a:p>
            <a:r>
              <a:t>Integrity Validation: Hash-basierte Corruption Detection</a:t>
            </a:r>
          </a:p>
          <a:p>
            <a:r>
              <a:t>Multi-Device Coordination: Orchestrierte Changes mit Rollback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Immutable Memento für Network Device State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NetworkDeviceMemento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String deviceId;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LocalDateTime timestamp;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Map&lt;String, Object&gt; configurationSnapshot;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String configurationHash;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Package-private Constructor - nur NetworkDevice kann Mementos erstellen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NetworkDeviceMemento(String deviceId, Map&lt;String, Object&gt; configuration)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this.deviceId = deviceId;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this.timestamp = LocalDateTime.now();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this.configurationSnapshot = deepCopyConfiguration(configuration);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this.configurationHash = calculateConfigHash(configurationSnapshot);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Integrity Validation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boolean validateIntegrity()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return configurationHash.equals(calculateConfigHash(configurationSnapshot));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Multi-Device Emergency Rollback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EmergencyRollbackResult performEmergencyRollback(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Map&lt;String, NetworkDeviceMemento&gt; preChangeSnapshots)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preChangeSnapshots.entrySet().parallelStream().forEach(entry -&gt;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NetworkDevice device = deviceService.getDevice(entry.getKey());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device.restoreFromMemento(entry.getValue());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 4: Interpreter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String-Parsing Nightmare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void parseNetworkConfig(String configText)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String[] lines = configText.split("\n");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for (String line : lines)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if (line.startsWith("route"))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String[] parts = line.split(" "); // Was bei Tabs? Extra-Spaces?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if (parts.length &gt;= 3) { // Was wenn parts.length == 2?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String destination = parts[1]; // Was wenn leer?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String gateway = parts[2];     // Was wenn invalid IP?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// Keine Syntax Validation!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    addRoute(destination, gateway); // 💣 Potential Bomb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 else if (line.startsWith("vlan"))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int vlanId = Integer.parseInt(parts[1]); // NumberFormatException?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// ... 100+ weitere Zeilen String-Horror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Fragile Syntax: Whitespace-sensitive, error-prone parsing</a:t>
            </a:r>
          </a:p>
          <a:p>
            <a:r>
              <a:t>No Validation: Invalid IPs, VLAN IDs werden nicht caught</a:t>
            </a:r>
          </a:p>
          <a:p>
            <a:r>
              <a:t>Error Handling: Silent failures oder Exception-Chaos</a:t>
            </a:r>
          </a:p>
          <a:p>
            <a:r>
              <a:t>Debugging Horror: "Zeile 247 von 2000 ist falsch" - good luck</a:t>
            </a:r>
          </a:p>
          <a:p>
            <a:r>
              <a:t>No IDE Support: Keine Syntax-Highlighting, Auto-Completion</a:t>
            </a:r>
          </a:p>
          <a:p>
            <a:r>
              <a:t>Expert Dependency: Java-Code für jede neue Configuration-Rule</a:t>
            </a:r>
          </a:p>
          <a:p>
            <a:r>
              <a:t>Change Velocity: 2 Tage Development für einfache Firewall-Rule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Interpreter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Configuration-as-Code: DSL für Network Engineers ohne Java-Knowledge</a:t>
            </a:r>
          </a:p>
          <a:p>
            <a:r>
              <a:t>Type-Safe Parsing: Abstract Syntax Tree statt String-Manipulation</a:t>
            </a:r>
          </a:p>
          <a:p>
            <a:r>
              <a:t>IDE Integration: Syntax-Highlighting und Auto-Completion möglich</a:t>
            </a:r>
          </a:p>
          <a:p>
            <a:r>
              <a:t>Expert Empowerment: Fachexperten werden von Entwicklern unabhängig</a:t>
            </a:r>
          </a:p>
          <a:p>
            <a:r>
              <a:t>Comprehensive Validation: Syntax- und Semantic-Checks</a:t>
            </a:r>
          </a:p>
          <a:p>
            <a:r>
              <a:t>Grammar Evolution: DSL kann schrittweise erweitert werden</a:t>
            </a:r>
          </a:p>
          <a:p>
            <a:r>
              <a:t>Tool Support: Code-Generator für Common Patterns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Abstract Syntax Tree für Network Configuration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abstract class ConfigurationExpression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abstract void interpret(NetworkConfigurationContext context);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abstract void validate(ValidationContext validationContext);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Terminal Expression für Route Configuration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RouteExpression extends ConfigurationExpression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String destinationNetwork;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String gatewayAddress;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int metric;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void interpret(NetworkConfigurationContext context)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Route route = Route.builder()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.destination(destinationNetwork)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.gateway(gatewayAddress)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.metric(metric)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.build();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context.addRoute(route);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void validate(ValidationContext validationContext)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if (!NetworkUtils.isValidNetworkAddress(destinationNetwork))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    validationContext.addError("Invalid destination: " + destinationNetwork);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DSL Example: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route 192.168.1.0/24 via 10.0.0.1 metric 100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vlan 100 name "Production Network"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  ip address 192.168.100.1/24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Pattern Integration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hier schlecht?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Pattern-Obsession Monster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OverEngineeredStringProcessor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OVERKILL: Factory für simple String Operations!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AbstractStringOperationFactory operationFactory;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OVERKILL: Strategy für jeden String-Vorgang!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Map&lt;OperationType, StringProcessingStrategy&gt; strategies;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OVERKILL: Observer für String Changes!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List&lt;StringChangeObserver&gt; observers;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WAHNSINN: 150 Zeilen Code für "Hello World".toUpperCase()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String convertToUpperCase(String input)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// 100+ Zeilen Pattern-Overkill für eine einzige Operation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return result; // Finally! After unnecessary complexity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Method length: 150+ lines, Pattern count: 7 (!!!)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Time to understand: 30+ minutes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Smells identifiziert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 für alles: Entwickler wollen Patterns überall verwenden</a:t>
            </a:r>
          </a:p>
          <a:p>
            <a:r>
              <a:t>Over-Engineering: 150 Zeilen für eine einzige String-Operation</a:t>
            </a:r>
          </a:p>
          <a:p>
            <a:r>
              <a:t>God Mediator: 10.000-Zeilen Monster-Klassen</a:t>
            </a:r>
          </a:p>
          <a:p>
            <a:r>
              <a:t>Pattern Explosion: 50+ micro-patterns für simple Use Cases</a:t>
            </a:r>
          </a:p>
          <a:p>
            <a:r>
              <a:t>Complexity Explosion: 7 Patterns für eine triviale Operation</a:t>
            </a:r>
          </a:p>
          <a:p>
            <a:r>
              <a:t>Maintenance Horror: 30 Minuten zum Verstehen, 2h zum Debuggen</a:t>
            </a:r>
          </a:p>
          <a:p>
            <a:r>
              <a:t>Team Overwhelm: Junior Developers können Code nicht mehr lesen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Lösung: Intelligente Pattern-Integration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KISS Principle: Keep It Simple, Stupid - einfache Probleme, einfache Lösungen</a:t>
            </a:r>
          </a:p>
          <a:p>
            <a:r>
              <a:t>Problem-First: Pattern nur wenn echtes Problem gelöst wird</a:t>
            </a:r>
          </a:p>
          <a:p>
            <a:r>
              <a:t>Team Reality Check: Pattern-Complexity muss Team-Expertise entsprechen</a:t>
            </a:r>
          </a:p>
          <a:p>
            <a:r>
              <a:t>Performance Impact: Pattern-Overhead messen, nicht annehmen</a:t>
            </a:r>
          </a:p>
          <a:p>
            <a:r>
              <a:t>Graduelle Evolution: Foundation Patterns zuerst, Advanced später</a:t>
            </a:r>
          </a:p>
          <a:p>
            <a:r>
              <a:t>Business Value: Patterns dienen Business, nicht umgekehrt</a:t>
            </a:r>
          </a:p>
          <a:p>
            <a:r>
              <a:t>Architecture Review: Pattern-bewusste Code Reviews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Implementierung - Layer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Layer 1: Foundation Patterns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@Component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TelekomConfigurationManager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static volatile TelekomConfigurationManager instance; // Singleton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@Component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TelekomDeviceFactory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NetworkDevice createDevice(DeviceType type, DeviceSpecification spec)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return deviceBuilders.get(type).build(); // Factory + Builder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Layer 2: Behavioral Integration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@Component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NetworkEventProcessor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List&lt;NetworkEventObserver&gt; observers; // Observer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private final Map&lt;EventType, EventProcessingStrategy&gt; strategies; // Strategy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// Layer 3: Advanced Coordination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@Component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public class TelekomNetworkOrchestrationHub implements NetworkMediator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// Mediator + Observer + Command + Iterator integration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@Override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public void handleNetworkChange(NetworkChangeEvent event)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NetworkImpactAnalysis impact = analyzeNetworkImpact(event); // Iterator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NetworkOperation operation = createResponseOperation(impact); // Command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OperationResult result = operationOrchestrator.executeOperation(operation);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    eventProcessor.processNetworkEvent(result); // Observer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Team-Adoption &amp; Production Readiness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Team-Adoption Strategie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(Wochen 1-4): Foundation Building - Survival Patterns</a:t>
            </a:r>
          </a:p>
          <a:p>
            <a:r>
              <a:t>Phase 2 (Wochen 5-8): Behavioral Integration - Observer, Strategy</a:t>
            </a:r>
          </a:p>
          <a:p>
            <a:r>
              <a:t>Phase 3 (Wochen 9-12): Advanced Coordination - Mediator, Command</a:t>
            </a:r>
          </a:p>
          <a:p>
            <a:r>
              <a:t>Graduelle Code-Integration: Legacy-Wrapper für sanfte Migration</a:t>
            </a:r>
          </a:p>
          <a:p>
            <a:r>
              <a:t>Pattern-bewusste Code Reviews: Checklist für Pattern Usage</a:t>
            </a:r>
          </a:p>
          <a:p>
            <a:r>
              <a:t>Training &amp; Mentoring: Internal Pattern Workshops</a:t>
            </a:r>
          </a:p>
          <a:p>
            <a:r>
              <a:t>Metrics &amp; ROI: Pattern-Impact messen und demonstrieren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Monitoring: Pattern-Execution-Time tracking</a:t>
            </a:r>
          </a:p>
          <a:p>
            <a:r>
              <a:t>Error Handling: Circuit Breaker für Pattern-Failures</a:t>
            </a:r>
          </a:p>
          <a:p>
            <a:r>
              <a:t>Resilience: Fallback-Strategien für Pattern-Ausfälle</a:t>
            </a:r>
          </a:p>
          <a:p>
            <a:r>
              <a:t>Observability: Metrics für Pattern-Usage und Impact</a:t>
            </a:r>
          </a:p>
          <a:p>
            <a:r>
              <a:t>Documentation: Pattern-Guidelines und Best Practices</a:t>
            </a:r>
          </a:p>
          <a:p>
            <a:r>
              <a:t>Testing: Pattern-Integration Testing</a:t>
            </a:r>
          </a:p>
          <a:p>
            <a:r>
              <a:t>Rollback: Feature Flags für schrittweise Einführung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VERWENDE Patterns wenn:</a:t>
            </a:r>
          </a:p>
          <a:p>
            <a:r>
              <a:t>Komplexität rechtfertigt Pattern-Overhead</a:t>
            </a:r>
          </a:p>
          <a:p>
            <a:r>
              <a:t>Team versteht und kann Patterns maintainen</a:t>
            </a:r>
          </a:p>
          <a:p>
            <a:r>
              <a:t>Future Changes werden durch Pattern erleichtert</a:t>
            </a:r>
          </a:p>
          <a:p>
            <a:r>
              <a:t>Performance ist akzeptabel</a:t>
            </a:r>
          </a:p>
          <a:p>
            <a:r>
              <a:t>Pattern löst tatsächlich ein Problem</a:t>
            </a:r>
          </a:p>
          <a:p/>
          <a:p>
            <a:r>
              <a:t>❌ VERMEIDE Patterns wenn:</a:t>
            </a:r>
          </a:p>
          <a:p>
            <a:r>
              <a:t>Simple Code wird komplizierter</a:t>
            </a:r>
          </a:p>
          <a:p>
            <a:r>
              <a:t>Einmaliger Use Case ohne Erweiterung</a:t>
            </a:r>
          </a:p>
          <a:p>
            <a:r>
              <a:t>Performance-kritischer Code</a:t>
            </a:r>
          </a:p>
          <a:p>
            <a:r>
              <a:t>Team nicht bereit für Pattern-Complexity</a:t>
            </a:r>
          </a:p>
          <a:p>
            <a:r>
              <a:t>"Cool Factor" ist einziger Grund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Zusammenfassung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4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Mediator Pattern: Löst Communication-Explosion, reduziert O(n²) auf O(n)</a:t>
            </a:r>
          </a:p>
          <a:p>
            <a:r>
              <a:t>Iterator + Visitor: Trennt Navigation von Processing, eliminiert instanceof-Horror</a:t>
            </a:r>
          </a:p>
          <a:p>
            <a:r>
              <a:t>Memento + Interpreter: Production-safe State-Management + Domain-specific Languages</a:t>
            </a:r>
          </a:p>
          <a:p>
            <a:r>
              <a:t>Pattern Integration: Layer-basierte Architektur mit gradueller Evolution</a:t>
            </a:r>
          </a:p>
          <a:p>
            <a:r>
              <a:t>Anti-Pattern Awareness: Pattern-Obsession vermeiden, KISS Principle beachten</a:t>
            </a:r>
          </a:p>
          <a:p>
            <a:r>
              <a:t>Team Success: Training, graduelle Adoption, Metrics-basierte ROI-Demonstration</a:t>
            </a:r>
          </a:p>
          <a:p>
            <a:r>
              <a:t>Production Reality: Monitoring, Error Handling, Performance-Impact beachten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1-2: Pattern Assessment - Aktuelle Code-Schmerz-Punkte analysieren</a:t>
            </a:r>
          </a:p>
          <a:p>
            <a:r>
              <a:t>Month 2-3: Team Enablement - Pilot Project und interne Workshops</a:t>
            </a:r>
          </a:p>
          <a:p>
            <a:r>
              <a:t>Month 4-6: Production Integration - Patterns in kritischen Systemen</a:t>
            </a:r>
          </a:p>
          <a:p>
            <a:r>
              <a:t>Continuous: Pattern Community - Telekom-weite Knowledge Sharing</a:t>
            </a:r>
          </a:p>
          <a:p/>
          <a:p>
            <a:r>
              <a:t>Success Factors:</a:t>
            </a:r>
          </a:p>
          <a:p>
            <a:r>
              <a:t>Business Value First - Patterns lösen Business-Probleme</a:t>
            </a:r>
          </a:p>
          <a:p>
            <a:r>
              <a:t>Team Readiness - Skills müssen Pattern-Complexity entsprechen</a:t>
            </a:r>
          </a:p>
          <a:p>
            <a:r>
              <a:t>Gradual Evolution - Schrittweise Adoption, kein "Big Bang"</a:t>
            </a:r>
          </a:p>
          <a:p>
            <a:r>
              <a:t>Measure Impact - ROI dokumentieren für Stakeholder Buy-in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Arial</vt:lpstr>
      <vt:lpstr>Open Sans</vt:lpstr>
      <vt:lpstr>Open Sans Light</vt:lpstr>
      <vt:lpstr>Source Code Pro</vt:lpstr>
      <vt:lpstr>Custom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8</cp:revision>
  <dcterms:created xsi:type="dcterms:W3CDTF">2025-09-10T03:57:45Z</dcterms:created>
  <dcterms:modified xsi:type="dcterms:W3CDTF">2025-09-10T05:07:05Z</dcterms:modified>
</cp:coreProperties>
</file>