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43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87"/>
  </p:normalViewPr>
  <p:slideViewPr>
    <p:cSldViewPr snapToGrid="0">
      <p:cViewPr varScale="1">
        <p:scale>
          <a:sx n="147" d="100"/>
          <a:sy n="147" d="100"/>
        </p:scale>
        <p:origin x="5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07193-AE5D-4968-BAF6-3656BE156B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870169"/>
            <a:ext cx="9144000" cy="895972"/>
          </a:xfrm>
          <a:prstGeom prst="rect">
            <a:avLst/>
          </a:prstGeom>
        </p:spPr>
        <p:txBody>
          <a:bodyPr anchor="b"/>
          <a:lstStyle>
            <a:lvl1pPr algn="ctr">
              <a:defRPr sz="4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186BB9-FD07-7E5E-44C6-0A574C54EA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858216"/>
            <a:ext cx="9144000" cy="5525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B45C3DAA-2C1B-4B03-DCD5-CEA9A48DC3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302560" y="2321640"/>
            <a:ext cx="1586880" cy="2214720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84214E46-3795-F2C4-2D6A-4DF0C15ACEDA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99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FD443-8D62-99E4-BE59-A33D1ABDD9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780720"/>
            <a:ext cx="9144000" cy="687250"/>
          </a:xfrm>
          <a:prstGeom prst="rect">
            <a:avLst/>
          </a:prstGeom>
        </p:spPr>
        <p:txBody>
          <a:bodyPr anchor="b"/>
          <a:lstStyle>
            <a:lvl1pPr algn="ctr">
              <a:defRPr sz="36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29BB70-AB0C-EB4F-73E7-686FB01CED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560045"/>
            <a:ext cx="9144000" cy="43324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434343"/>
                </a:solidFill>
                <a:latin typeface="Open Sans" pitchFamily="2" charset="0"/>
                <a:ea typeface="Open Sans" pitchFamily="2" charset="0"/>
                <a:cs typeface="Open Sans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4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C62A5225-6C59-0F22-28CB-A0E99267643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lum/>
            <a:alphaModFix/>
          </a:blip>
          <a:srcRect/>
          <a:stretch>
            <a:fillRect/>
          </a:stretch>
        </p:blipFill>
        <p:spPr>
          <a:xfrm>
            <a:off x="5498782" y="2595496"/>
            <a:ext cx="1194437" cy="166700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E3CF7D-A3E7-417D-2594-BEB7DA122EAC}"/>
              </a:ext>
            </a:extLst>
          </p:cNvPr>
          <p:cNvSpPr/>
          <p:nvPr userDrawn="1"/>
        </p:nvSpPr>
        <p:spPr>
          <a:xfrm>
            <a:off x="10416209" y="-1"/>
            <a:ext cx="1610139" cy="19182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413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ith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86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50DB9-59A8-CF17-BB9B-F72B0FABF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139" y="365125"/>
            <a:ext cx="10088220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8D29E-375A-0909-2E62-2F6CBC442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06B1-97FA-B22F-65EC-94B636BCD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27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 Bullet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 sz="2000">
                <a:solidFill>
                  <a:srgbClr val="434343"/>
                </a:solidFill>
              </a:defRPr>
            </a:lvl2pPr>
            <a:lvl3pPr>
              <a:defRPr sz="1800">
                <a:solidFill>
                  <a:srgbClr val="434343"/>
                </a:solidFill>
              </a:defRPr>
            </a:lvl3pPr>
            <a:lvl4pPr>
              <a:defRPr sz="1600">
                <a:solidFill>
                  <a:srgbClr val="434343"/>
                </a:solidFill>
              </a:defRPr>
            </a:lvl4pPr>
            <a:lvl5pPr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88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13F90-FBB0-1588-E79D-EB61EC04B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91647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B056B7-03C2-B71C-2EDA-0359D94159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7322" y="1825625"/>
            <a:ext cx="5582478" cy="4667250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Font typeface="Arial" panose="020B0604020202020204" pitchFamily="34" charset="0"/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Font typeface="Arial" panose="020B0604020202020204" pitchFamily="34" charset="0"/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Font typeface="Arial" panose="020B0604020202020204" pitchFamily="34" charset="0"/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5A315-0D02-B709-C30A-483144A24C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36096" cy="4667250"/>
          </a:xfrm>
        </p:spPr>
        <p:txBody>
          <a:bodyPr/>
          <a:lstStyle>
            <a:lvl1pPr marL="0" indent="0">
              <a:buNone/>
              <a:defRPr sz="2400">
                <a:solidFill>
                  <a:srgbClr val="434343"/>
                </a:solidFill>
              </a:defRPr>
            </a:lvl1pPr>
            <a:lvl2pPr marL="457200" indent="0">
              <a:buNone/>
              <a:defRPr sz="2000">
                <a:solidFill>
                  <a:srgbClr val="434343"/>
                </a:solidFill>
              </a:defRPr>
            </a:lvl2pPr>
            <a:lvl3pPr marL="914400" indent="0">
              <a:buNone/>
              <a:defRPr sz="1800">
                <a:solidFill>
                  <a:srgbClr val="434343"/>
                </a:solidFill>
              </a:defRPr>
            </a:lvl3pPr>
            <a:lvl4pPr marL="1371600" indent="0">
              <a:buNone/>
              <a:defRPr sz="1600">
                <a:solidFill>
                  <a:srgbClr val="434343"/>
                </a:solidFill>
              </a:defRPr>
            </a:lvl4pPr>
            <a:lvl5pPr marL="1828800" indent="0">
              <a:buNone/>
              <a:defRPr sz="1600"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69FACF-99F9-6EC6-9746-B8C7A0FB1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65096" y="6492874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498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73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D0D7-65B1-D72F-0D21-4B04BD3FD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888" y="365125"/>
            <a:ext cx="10111408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F97DE5-2F32-14FA-E76B-D744B262A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3888" y="1681163"/>
            <a:ext cx="55436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F8CDEA-3150-6B79-5CAA-316A2BEDE4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3888" y="2505074"/>
            <a:ext cx="5543687" cy="3987799"/>
          </a:xfrm>
        </p:spPr>
        <p:txBody>
          <a:bodyPr/>
          <a:lstStyle>
            <a:lvl1pPr>
              <a:defRPr sz="2400"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035CEA-A4A2-208B-B279-70AC76B65D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56591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rgbClr val="434343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D0417B-357A-1441-1081-878E1A3E93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65913" cy="3987800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  <a:lvl2pPr>
              <a:defRPr>
                <a:solidFill>
                  <a:srgbClr val="434343"/>
                </a:solidFill>
              </a:defRPr>
            </a:lvl2pPr>
            <a:lvl3pPr>
              <a:defRPr>
                <a:solidFill>
                  <a:srgbClr val="434343"/>
                </a:solidFill>
              </a:defRPr>
            </a:lvl3pPr>
            <a:lvl4pPr>
              <a:defRPr>
                <a:solidFill>
                  <a:srgbClr val="434343"/>
                </a:solidFill>
              </a:defRPr>
            </a:lvl4pPr>
            <a:lvl5pPr>
              <a:defRPr>
                <a:solidFill>
                  <a:srgbClr val="434343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4AAD1C-C9FB-8ECD-9D67-E4F2C5692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94913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684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7391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de-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2F1FF-93BF-4CCF-926B-0576DF6BC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322" y="365125"/>
            <a:ext cx="10118035" cy="1325563"/>
          </a:xfrm>
        </p:spPr>
        <p:txBody>
          <a:bodyPr/>
          <a:lstStyle>
            <a:lvl1pPr>
              <a:defRPr>
                <a:solidFill>
                  <a:srgbClr val="43434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FAE5E-51A7-801C-5D44-B6AB89FF0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139" y="1825625"/>
            <a:ext cx="11231218" cy="466725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1pPr>
            <a:lvl2pPr marL="457200" indent="0">
              <a:buNone/>
              <a:defRPr sz="20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2pPr>
            <a:lvl3pPr marL="914400" indent="0">
              <a:buNone/>
              <a:defRPr sz="18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3pPr>
            <a:lvl4pPr marL="13716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4pPr>
            <a:lvl5pPr marL="1828800" indent="0">
              <a:buNone/>
              <a:defRPr sz="1600" b="0" i="0">
                <a:solidFill>
                  <a:srgbClr val="434343"/>
                </a:solidFill>
                <a:latin typeface="Source Code Pro" panose="020B0309030403020204" pitchFamily="49" charset="0"/>
                <a:ea typeface="Source Code Pro" panose="020B0309030403020204" pitchFamily="49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2C3E47A-69A0-8F49-E63F-B87255EE9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55157" y="6492875"/>
            <a:ext cx="2743200" cy="365125"/>
          </a:xfrm>
        </p:spPr>
        <p:txBody>
          <a:bodyPr/>
          <a:lstStyle>
            <a:lvl1pPr>
              <a:defRPr b="0" i="0">
                <a:solidFill>
                  <a:srgbClr val="434343"/>
                </a:solidFill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9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60A35E-A630-2C0F-48C4-334D4CCF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7739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736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AE0C0-D32D-13D4-8621-9FED98472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57200"/>
            <a:ext cx="4364521" cy="1600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3F3171-700D-AC09-57D2-7CE376F6C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525108" cy="543325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DD5D4F-5251-A419-B3B6-3E776795B6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2057400"/>
            <a:ext cx="4364521" cy="43632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1C4C30-205A-2492-192B-B806843ED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149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504" y="407504"/>
            <a:ext cx="7146235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7712765" y="0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07504" y="1816443"/>
            <a:ext cx="7146235" cy="4703627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58329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2ED0A-CB71-BE95-6D74-70732531D4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1209" y="407504"/>
            <a:ext cx="5854148" cy="1282147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7DA386B-F71F-624B-D60E-1519DE7516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9942"/>
            <a:ext cx="4479235" cy="6858000"/>
          </a:xfrm>
        </p:spPr>
        <p:txBody>
          <a:bodyPr anchor="ctr" anchorCtr="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F26256-41DC-0D7B-7119-A2460887C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701209" y="1816444"/>
            <a:ext cx="7026958" cy="4676432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193BDEA3-6F5B-33C7-1FE1-589B04B9C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89874" y="6492875"/>
            <a:ext cx="2743200" cy="365125"/>
          </a:xfrm>
        </p:spPr>
        <p:txBody>
          <a:bodyPr/>
          <a:lstStyle>
            <a:lvl1pPr>
              <a:defRPr b="0" i="0">
                <a:latin typeface="Open Sans Light" pitchFamily="2" charset="0"/>
                <a:ea typeface="Open Sans Light" pitchFamily="2" charset="0"/>
                <a:cs typeface="Open Sans Light" pitchFamily="2" charset="0"/>
              </a:defRPr>
            </a:lvl1pPr>
          </a:lstStyle>
          <a:p>
            <a:fld id="{FC1172EA-F3A5-C440-8FDE-A5EAD26928A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5282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89312B-648F-07C4-1C1A-87F50DC94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8B8739-0CD2-1439-97E1-AFE668843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2DFFE-3F1B-D665-A941-E6705F464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1172EA-F3A5-C440-8FDE-A5EAD26928A2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1" descr="A white flower on a yellow background&#10;&#10;Description automatically generated">
            <a:extLst>
              <a:ext uri="{FF2B5EF4-FFF2-40B4-BE49-F238E27FC236}">
                <a16:creationId xmlns:a16="http://schemas.microsoft.com/office/drawing/2014/main" id="{36DDDAD4-6DBF-843D-79CB-7A2FBAC6A166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lum/>
            <a:alphaModFix/>
          </a:blip>
          <a:srcRect/>
          <a:stretch>
            <a:fillRect/>
          </a:stretch>
        </p:blipFill>
        <p:spPr>
          <a:xfrm>
            <a:off x="10619994" y="0"/>
            <a:ext cx="1101857" cy="1537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6599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4" r:id="rId2"/>
    <p:sldLayoutId id="2147483663" r:id="rId3"/>
    <p:sldLayoutId id="2147483675" r:id="rId4"/>
    <p:sldLayoutId id="2147483665" r:id="rId5"/>
    <p:sldLayoutId id="2147483676" r:id="rId6"/>
    <p:sldLayoutId id="2147483666" r:id="rId7"/>
    <p:sldLayoutId id="2147483677" r:id="rId8"/>
    <p:sldLayoutId id="2147483667" r:id="rId9"/>
    <p:sldLayoutId id="2147483672" r:id="rId10"/>
    <p:sldLayoutId id="2147483668" r:id="rId11"/>
    <p:sldLayoutId id="2147483669" r:id="rId12"/>
    <p:sldLayoutId id="2147483670" r:id="rId13"/>
    <p:sldLayoutId id="214748367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Open Sans" pitchFamily="2" charset="0"/>
          <a:ea typeface="Open Sans" pitchFamily="2" charset="0"/>
          <a:cs typeface="Open Sans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434343"/>
        </a:buClr>
        <a:buFont typeface="Arial" panose="020B0604020202020204" pitchFamily="34" charset="0"/>
        <a:buChar char="•"/>
        <a:defRPr sz="2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4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20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434343"/>
        </a:buClr>
        <a:buFont typeface="Arial" panose="020B0604020202020204" pitchFamily="34" charset="0"/>
        <a:buChar char="•"/>
        <a:defRPr sz="1800" b="0" i="0" kern="1200">
          <a:solidFill>
            <a:srgbClr val="434343"/>
          </a:solidFill>
          <a:latin typeface="Open Sans Light" pitchFamily="2" charset="0"/>
          <a:ea typeface="Open Sans Light" pitchFamily="2" charset="0"/>
          <a:cs typeface="Open Sans Light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/>
            </a:pPr>
            <a:r>
              <a:t>Architectural Patterns -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Design Patterns Workshop - Telekom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Overview: Layer-Based Architectures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333511" cy="193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latin typeface="Consolas"/>
              </a:defRPr>
            </a:pPr>
            <a:r>
              <a:rPr dirty="0"/>
              <a:t>Layered Architecture        N-Tier Architecture        Clean Architecture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┌─────────────────┐        ┌─────────────────┐        ┌─────────────────┐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│   Presentation  │        │   Client Tier   │        │   Frameworks    │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├─────────────────┤        ├─────────────────┤        ├─────────────────┤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│    Business     │        │ Application     │        │   Interface     │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├─────────────────┤  &lt;--&gt;  │      Tier       │  &lt;--&gt;  │   Adapters      │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│  Persistence    │        ├─────────────────┤        ├─────────────────┤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├─────────────────┤        │   Data Tier     │        │  Use Cases      │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│    Database     │        └─────────────────┘        ├─────────────────┤</a:t>
            </a:r>
          </a:p>
          <a:p>
            <a:pPr>
              <a:defRPr sz="1000">
                <a:latin typeface="Consolas"/>
              </a:defRPr>
            </a:pPr>
            <a:r>
              <a:rPr dirty="0"/>
              <a:t>└─────────────────┘                                   │   Entities      │</a:t>
            </a:r>
          </a:p>
          <a:p>
            <a:pPr>
              <a:defRPr sz="1000">
                <a:latin typeface="Consolas"/>
              </a:defRPr>
            </a:pPr>
            <a:r>
              <a:rPr dirty="0"/>
              <a:t>                                                      └─────────────────┘</a:t>
            </a:r>
          </a:p>
          <a:p>
            <a:pPr>
              <a:defRPr sz="1000">
                <a:latin typeface="Consolas"/>
              </a:defRPr>
            </a:pPr>
            <a:r>
              <a:rPr dirty="0"/>
              <a:t>Classic Layering           Enterprise N-Tier          Domain-Centric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400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Focus: Clear separation of concerns through horizontal layers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Layered Architecture (</a:t>
            </a:r>
            <a:r>
              <a:rPr dirty="0" err="1"/>
              <a:t>Schichtarchitektur</a:t>
            </a:r>
            <a:r>
              <a:rPr dirty="0"/>
              <a:t>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193041" y="1137920"/>
            <a:ext cx="11591234" cy="4734559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sz="3600" dirty="0">
              <a:latin typeface="Source Code Pro" panose="020B0309030403020204" pitchFamily="49" charset="0"/>
              <a:ea typeface="Source Code Pro" panose="020B0309030403020204" pitchFamily="49" charset="0"/>
            </a:endParaRP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┌─────────────────────────────────────────────────┐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│                Presentation Layer               │ &lt;- Web UI, REST APIs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├─────────────────────────────────────────────────┤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│                 Business Layer                  │ &lt;- Domain Logic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├─────────────────────────────────────────────────┤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│                Persistence Layer                │ &lt;- Data Access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├─────────────────────────────────────────────────┤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│                 Database Layer                  │ &lt;- Data Storage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└─────────────────────────────────────────────────┘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Dependency Flow: Top -&gt; Down (Higher layers depend on lower layers)</a:t>
            </a:r>
          </a:p>
          <a:p>
            <a:pPr marL="0" indent="0">
              <a:buNone/>
              <a:defRPr sz="1200"/>
            </a:pPr>
            <a:r>
              <a:rPr sz="1600" dirty="0">
                <a:latin typeface="Source Code Pro" panose="020B0309030403020204" pitchFamily="49" charset="0"/>
                <a:ea typeface="Source Code Pro" panose="020B0309030403020204" pitchFamily="49" charset="0"/>
              </a:rPr>
              <a:t>Data Flow: Bidirectional through defined interfaces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Layered Architecture - Telekom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Network Configuration Management System</a:t>
            </a:r>
          </a:p>
          <a:p>
            <a:pPr lvl="1">
              <a:defRPr sz="1400"/>
            </a:pPr>
            <a:r>
              <a:t>**Presentation:** Web Dashboard für Network Engineers</a:t>
            </a:r>
          </a:p>
          <a:p>
            <a:pPr lvl="1">
              <a:defRPr sz="1400"/>
            </a:pPr>
            <a:r>
              <a:t>**Business:** Configuration Validation, Change Management</a:t>
            </a:r>
          </a:p>
          <a:p>
            <a:pPr lvl="1">
              <a:defRPr sz="1400"/>
            </a:pPr>
            <a:r>
              <a:t>**Persistence:** Configuration Repository, Audit Logging</a:t>
            </a:r>
          </a:p>
          <a:p>
            <a:pPr lvl="1">
              <a:defRPr sz="1400"/>
            </a:pPr>
            <a:r>
              <a:t>**Database:** PostgreSQL für Config Data, MongoDB für Audit Logs</a:t>
            </a:r>
          </a:p>
          <a:p>
            <a:pPr lvl="1">
              <a:defRPr sz="1400"/>
            </a:pPr>
            <a:r>
              <a:t>SNMP configuration management</a:t>
            </a:r>
          </a:p>
          <a:p>
            <a:pPr lvl="1">
              <a:defRPr sz="1400"/>
            </a:pPr>
            <a:r>
              <a:t>Network device inventory</a:t>
            </a:r>
          </a:p>
          <a:p>
            <a:pPr lvl="1">
              <a:defRPr sz="1400"/>
            </a:pPr>
            <a:r>
              <a:t>Change approval workflows</a:t>
            </a:r>
          </a:p>
          <a:p>
            <a:pPr lvl="1">
              <a:defRPr sz="1400"/>
            </a:pPr>
            <a:r>
              <a:t>Configuration backup and restore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Layered Architecture -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Vorteile ✅</a:t>
            </a:r>
          </a:p>
          <a:p>
            <a:pPr>
              <a:defRPr sz="1200"/>
            </a:pPr>
            <a:r>
              <a:t>• Klare Trennung der Verantwortlichkeiten</a:t>
            </a:r>
          </a:p>
          <a:p>
            <a:pPr>
              <a:defRPr sz="1200"/>
            </a:pPr>
            <a:r>
              <a:t>• Einfache Testbarkeit jeder Schicht</a:t>
            </a:r>
          </a:p>
          <a:p>
            <a:pPr>
              <a:defRPr sz="1200"/>
            </a:pPr>
            <a:r>
              <a:t>• Bewährtes Pattern mit hoher Entwickler-Akzeptanz</a:t>
            </a:r>
          </a:p>
          <a:p>
            <a:pPr>
              <a:defRPr sz="1200"/>
            </a:pPr>
            <a:r>
              <a:t>• Gute Performance bei einfachen CRUD-Operationen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Nachteile ❌</a:t>
            </a:r>
          </a:p>
          <a:p>
            <a:pPr>
              <a:defRPr sz="1200"/>
            </a:pPr>
            <a:r>
              <a:t>• Monolithischer Charakter erschwert Skalierung</a:t>
            </a:r>
          </a:p>
          <a:p>
            <a:pPr>
              <a:defRPr sz="1200"/>
            </a:pPr>
            <a:r>
              <a:t>• Änderungen propagieren durch alle Schichten</a:t>
            </a:r>
          </a:p>
          <a:p>
            <a:pPr>
              <a:defRPr sz="1200"/>
            </a:pPr>
            <a:r>
              <a:t>• Datenbankschema-Changes beeinflussen alle Layer</a:t>
            </a:r>
          </a:p>
          <a:p>
            <a:pPr>
              <a:defRPr sz="1200"/>
            </a:pPr>
            <a:r>
              <a:t>• Schwierig für komplexe Domain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Production Considerations ⚠️</a:t>
            </a:r>
          </a:p>
          <a:p>
            <a:pPr>
              <a:defRPr sz="1000"/>
            </a:pPr>
            <a:r>
              <a:t>• Horizontal Skalierung nur als Ganzes möglich</a:t>
            </a:r>
          </a:p>
          <a:p>
            <a:pPr>
              <a:defRPr sz="1000"/>
            </a:pPr>
            <a:r>
              <a:t>• Session-Management zwischen Layers erforderlich</a:t>
            </a:r>
          </a:p>
          <a:p>
            <a:pPr>
              <a:defRPr sz="1000"/>
            </a:pPr>
            <a:r>
              <a:t>• Monitoring muss alle Schichten umfassen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1. Layered Architecture -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Ideal für:</a:t>
            </a:r>
          </a:p>
          <a:p>
            <a:pPr>
              <a:defRPr sz="1200"/>
            </a:pPr>
            <a:r>
              <a:t>• Kleine bis mittlere Teams (&lt;5 Entwickler)</a:t>
            </a:r>
          </a:p>
          <a:p>
            <a:pPr>
              <a:defRPr sz="1200"/>
            </a:pPr>
            <a:r>
              <a:t>• Einfache CRUD-Operationen</a:t>
            </a:r>
          </a:p>
          <a:p>
            <a:pPr>
              <a:defRPr sz="1200"/>
            </a:pPr>
            <a:r>
              <a:t>• Prototypen und Proof-of-Concepts</a:t>
            </a:r>
          </a:p>
          <a:p>
            <a:pPr>
              <a:defRPr sz="1200"/>
            </a:pPr>
            <a:r>
              <a:t>• Kurze Time-to-Market Anforderungen</a:t>
            </a:r>
          </a:p>
          <a:p>
            <a:pPr>
              <a:defRPr sz="1200"/>
            </a:pPr>
            <a:r>
              <a:t>• Bewährte Entwicklungsstandards erforderlich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Vermeiden wenn:</a:t>
            </a:r>
          </a:p>
          <a:p>
            <a:pPr>
              <a:defRPr sz="1200"/>
            </a:pPr>
            <a:r>
              <a:t>• Hohe Skalierungsanforderungen</a:t>
            </a:r>
          </a:p>
          <a:p>
            <a:pPr>
              <a:defRPr sz="1200"/>
            </a:pPr>
            <a:r>
              <a:t>• Komplexe Domain Logic</a:t>
            </a:r>
          </a:p>
          <a:p>
            <a:pPr>
              <a:defRPr sz="1200"/>
            </a:pPr>
            <a:r>
              <a:t>• Mehrere unabhängige Teams</a:t>
            </a:r>
          </a:p>
          <a:p>
            <a:pPr>
              <a:defRPr sz="1200"/>
            </a:pPr>
            <a:r>
              <a:t>• Mikroservice-Architektur gewünscht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Microservices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```</a:t>
            </a:r>
          </a:p>
          <a:p>
            <a:pPr>
              <a:defRPr sz="1200"/>
            </a:pPr>
            <a:r>
              <a:t>Service Landscape:</a:t>
            </a:r>
          </a:p>
          <a:p>
            <a:pPr>
              <a:defRPr sz="1200"/>
            </a:pPr>
            <a:r>
              <a:t>┌───────────────┐  ┌───────────────┐  ┌───────────────┐</a:t>
            </a:r>
          </a:p>
          <a:p>
            <a:pPr>
              <a:defRPr sz="1200"/>
            </a:pPr>
            <a:r>
              <a:t>│  Device Mgmt  │  │   Monitoring  │  │  Configuration │</a:t>
            </a:r>
          </a:p>
          <a:p>
            <a:pPr>
              <a:defRPr sz="1200"/>
            </a:pPr>
            <a:r>
              <a:t>│   Service     │  │    Service    │  │    Service    │</a:t>
            </a:r>
          </a:p>
          <a:p>
            <a:pPr>
              <a:defRPr sz="1200"/>
            </a:pPr>
            <a:r>
              <a:t>├───────────────┤  ├───────────────┤  ├───────────────┤</a:t>
            </a:r>
          </a:p>
          <a:p>
            <a:pPr>
              <a:defRPr sz="1200"/>
            </a:pPr>
            <a:r>
              <a:t>│  PostgreSQL   │  │  InfluxDB     │  │   MongoDB     │</a:t>
            </a:r>
          </a:p>
          <a:p>
            <a:pPr>
              <a:defRPr sz="1200"/>
            </a:pPr>
            <a:r>
              <a:t>└───────────────┘  └───────────────┘  └───────────────┘</a:t>
            </a:r>
          </a:p>
          <a:p>
            <a:pPr>
              <a:defRPr sz="1200"/>
            </a:pPr>
            <a:r>
              <a:t>│                  │                  │</a:t>
            </a:r>
          </a:p>
          <a:p>
            <a:pPr>
              <a:defRPr sz="1200"/>
            </a:pPr>
            <a:r>
              <a:t>└──────────────────┼──────────────────┘</a:t>
            </a:r>
          </a:p>
          <a:p>
            <a:pPr>
              <a:defRPr sz="1200"/>
            </a:pPr>
            <a:r>
              <a:t>│</a:t>
            </a:r>
          </a:p>
          <a:p>
            <a:pPr>
              <a:defRPr sz="1200"/>
            </a:pPr>
            <a:r>
              <a:t>┌─────────────────┐</a:t>
            </a:r>
          </a:p>
          <a:p>
            <a:pPr>
              <a:defRPr sz="1200"/>
            </a:pPr>
            <a:r>
              <a:t>│   API Gateway   │</a:t>
            </a:r>
          </a:p>
          <a:p>
            <a:pPr>
              <a:defRPr sz="1200"/>
            </a:pPr>
            <a:r>
              <a:t>├─────────────────┤</a:t>
            </a:r>
          </a:p>
          <a:p>
            <a:pPr>
              <a:defRPr sz="1200"/>
            </a:pPr>
            <a:r>
              <a:t>│ Load Balancer   │</a:t>
            </a:r>
          </a:p>
          <a:p>
            <a:pPr>
              <a:defRPr sz="1200"/>
            </a:pPr>
            <a:r>
              <a:t>├─────────────────┤</a:t>
            </a:r>
          </a:p>
          <a:p>
            <a:pPr>
              <a:defRPr sz="1200"/>
            </a:pPr>
            <a:r>
              <a:t>│ Service Mesh    │</a:t>
            </a:r>
          </a:p>
          <a:p>
            <a:pPr>
              <a:defRPr sz="1200"/>
            </a:pPr>
            <a:r>
              <a:t>└─────────────────┘</a:t>
            </a:r>
          </a:p>
          <a:p>
            <a:pPr>
              <a:defRPr sz="1200"/>
            </a:pPr>
            <a:r>
              <a:t>```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Microservices - Telekom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Network Operations Center (NOC) Platform</a:t>
            </a:r>
          </a:p>
          <a:p>
            <a:pPr lvl="1">
              <a:defRPr sz="1400"/>
            </a:pPr>
            <a:r>
              <a:t>**Device Management:** CRUD für Router, Switches, Firewalls</a:t>
            </a:r>
          </a:p>
          <a:p>
            <a:pPr lvl="1">
              <a:defRPr sz="1400"/>
            </a:pPr>
            <a:r>
              <a:t>**Monitoring Service:** Metriken, Alerts, Health Checks</a:t>
            </a:r>
          </a:p>
          <a:p>
            <a:pPr lvl="1">
              <a:defRPr sz="1400"/>
            </a:pPr>
            <a:r>
              <a:t>**Configuration Service:** Config Templates, Deployment</a:t>
            </a:r>
          </a:p>
          <a:p>
            <a:pPr lvl="1">
              <a:defRPr sz="1400"/>
            </a:pPr>
            <a:r>
              <a:t>**Analytics Service:** Performance Analysis, Capacity Planning</a:t>
            </a:r>
          </a:p>
          <a:p>
            <a:pPr lvl="1">
              <a:defRPr sz="1400"/>
            </a:pPr>
            <a:r>
              <a:t>**Container:** Docker + Kubernetes</a:t>
            </a:r>
          </a:p>
          <a:p>
            <a:pPr lvl="1">
              <a:defRPr sz="1400"/>
            </a:pPr>
            <a:r>
              <a:t>**API Gateway:** Kong oder Istio</a:t>
            </a:r>
          </a:p>
          <a:p>
            <a:pPr lvl="1">
              <a:defRPr sz="1400"/>
            </a:pPr>
            <a:r>
              <a:t>**Service Mesh:** Linkerd oder Istio</a:t>
            </a:r>
          </a:p>
          <a:p>
            <a:pPr lvl="1">
              <a:defRPr sz="1400"/>
            </a:pPr>
            <a:r>
              <a:t>**Monitoring:** Prometheus + Grafana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Microservices -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Vorteile ✅</a:t>
            </a:r>
          </a:p>
          <a:p>
            <a:pPr>
              <a:defRPr sz="1200"/>
            </a:pPr>
            <a:r>
              <a:t>• Unabhängige Skalierung pro Service</a:t>
            </a:r>
          </a:p>
          <a:p>
            <a:pPr>
              <a:defRPr sz="1200"/>
            </a:pPr>
            <a:r>
              <a:t>• Technology Stack Diversität möglich</a:t>
            </a:r>
          </a:p>
          <a:p>
            <a:pPr>
              <a:defRPr sz="1200"/>
            </a:pPr>
            <a:r>
              <a:t>• Fehler-Isolierung zwischen Services</a:t>
            </a:r>
          </a:p>
          <a:p>
            <a:pPr>
              <a:defRPr sz="1200"/>
            </a:pPr>
            <a:r>
              <a:t>• Parallele Entwicklung durch verschiedene Teams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Nachteile ❌</a:t>
            </a:r>
          </a:p>
          <a:p>
            <a:pPr>
              <a:defRPr sz="1200"/>
            </a:pPr>
            <a:r>
              <a:t>• Hohe operationale Komplexität</a:t>
            </a:r>
          </a:p>
          <a:p>
            <a:pPr>
              <a:defRPr sz="1200"/>
            </a:pPr>
            <a:r>
              <a:t>• Distributed System Challenges (Latency, Partial Failures)</a:t>
            </a:r>
          </a:p>
          <a:p>
            <a:pPr>
              <a:defRPr sz="1200"/>
            </a:pPr>
            <a:r>
              <a:t>• Data Consistency zwischen Services schwierig</a:t>
            </a:r>
          </a:p>
          <a:p>
            <a:pPr>
              <a:defRPr sz="1200"/>
            </a:pPr>
            <a:r>
              <a:t>• Service Discovery und Load Balancing erforderlich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Production Considerations ⚠️</a:t>
            </a:r>
          </a:p>
          <a:p>
            <a:pPr>
              <a:defRPr sz="1000"/>
            </a:pPr>
            <a:r>
              <a:t>• Container Orchestration (Kubernetes) notwendig</a:t>
            </a:r>
          </a:p>
          <a:p>
            <a:pPr>
              <a:defRPr sz="1000"/>
            </a:pPr>
            <a:r>
              <a:t>• Service Mesh für Service-to-Service Communication</a:t>
            </a:r>
          </a:p>
          <a:p>
            <a:pPr>
              <a:defRPr sz="1000"/>
            </a:pPr>
            <a:r>
              <a:t>• Distributed Tracing für End-to-End Monitoring</a:t>
            </a:r>
          </a:p>
          <a:p>
            <a:pPr>
              <a:defRPr sz="1000"/>
            </a:pPr>
            <a:r>
              <a:t>• Event Sourcing für Data Consistency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2. Microservices -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Ideal für:</a:t>
            </a:r>
          </a:p>
          <a:p>
            <a:pPr>
              <a:defRPr sz="1200"/>
            </a:pPr>
            <a:r>
              <a:t>• Große verteilte Teams (5+ Entwickler)</a:t>
            </a:r>
          </a:p>
          <a:p>
            <a:pPr>
              <a:defRPr sz="1200"/>
            </a:pPr>
            <a:r>
              <a:t>• Independent Service Scaling erforderlich</a:t>
            </a:r>
          </a:p>
          <a:p>
            <a:pPr>
              <a:defRPr sz="1200"/>
            </a:pPr>
            <a:r>
              <a:t>• Complex Domain Logic</a:t>
            </a:r>
          </a:p>
          <a:p>
            <a:pPr>
              <a:defRPr sz="1200"/>
            </a:pPr>
            <a:r>
              <a:t>• High Availability Requirements</a:t>
            </a:r>
          </a:p>
          <a:p>
            <a:pPr>
              <a:defRPr sz="1200"/>
            </a:pPr>
            <a:r>
              <a:t>• Technology Stack Diversität gewünscht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Vermeiden wenn:</a:t>
            </a:r>
          </a:p>
          <a:p>
            <a:pPr>
              <a:defRPr sz="1200"/>
            </a:pPr>
            <a:r>
              <a:t>• Kleine Teams (&lt;5 Entwickler)</a:t>
            </a:r>
          </a:p>
          <a:p>
            <a:pPr>
              <a:defRPr sz="1200"/>
            </a:pPr>
            <a:r>
              <a:t>• Einfache Monolithische Anwendungen</a:t>
            </a:r>
          </a:p>
          <a:p>
            <a:pPr>
              <a:defRPr sz="1200"/>
            </a:pPr>
            <a:r>
              <a:t>• Begrenzte DevOps-Expertise</a:t>
            </a:r>
          </a:p>
          <a:p>
            <a:pPr>
              <a:defRPr sz="1200"/>
            </a:pPr>
            <a:r>
              <a:t>• Keine Container-Infrastruktur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Event-Driven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```</a:t>
            </a:r>
          </a:p>
          <a:p>
            <a:pPr>
              <a:defRPr sz="1200"/>
            </a:pPr>
            <a:r>
              <a:t>Event Flow:</a:t>
            </a:r>
          </a:p>
          <a:p>
            <a:pPr>
              <a:defRPr sz="1200"/>
            </a:pPr>
            <a:r>
              <a:t>┌─────────────┐    Events     ┌─────────────┐    Events     ┌─────────────┐</a:t>
            </a:r>
          </a:p>
          <a:p>
            <a:pPr>
              <a:defRPr sz="1200"/>
            </a:pPr>
            <a:r>
              <a:t>│  Producers  │ ─────────────&gt; │  Event Bus  │ ─────────────&gt; │  Consumers  │</a:t>
            </a:r>
          </a:p>
          <a:p>
            <a:pPr>
              <a:defRPr sz="1200"/>
            </a:pPr>
            <a:r>
              <a:t>│             │               │             │               │             │</a:t>
            </a:r>
          </a:p>
          <a:p>
            <a:pPr>
              <a:defRPr sz="1200"/>
            </a:pPr>
            <a:r>
              <a:t>│ Device      │               │  Apache     │               │ Alerting    │</a:t>
            </a:r>
          </a:p>
          <a:p>
            <a:pPr>
              <a:defRPr sz="1200"/>
            </a:pPr>
            <a:r>
              <a:t>│ Sensors     │               │  Kafka      │               │ System      │</a:t>
            </a:r>
          </a:p>
          <a:p>
            <a:pPr>
              <a:defRPr sz="1200"/>
            </a:pPr>
            <a:r>
              <a:t>│             │               │             │               │             │</a:t>
            </a:r>
          </a:p>
          <a:p>
            <a:pPr>
              <a:defRPr sz="1200"/>
            </a:pPr>
            <a:r>
              <a:t>│ User        │               │ Topics:     │               │ Analytics   │</a:t>
            </a:r>
          </a:p>
          <a:p>
            <a:pPr>
              <a:defRPr sz="1200"/>
            </a:pPr>
            <a:r>
              <a:t>│ Actions     │               │ - alerts    │               │ Engine      │</a:t>
            </a:r>
          </a:p>
          <a:p>
            <a:pPr>
              <a:defRPr sz="1200"/>
            </a:pPr>
            <a:r>
              <a:t>│             │               │ - metrics   │               │             │</a:t>
            </a:r>
          </a:p>
          <a:p>
            <a:pPr>
              <a:defRPr sz="1200"/>
            </a:pPr>
            <a:r>
              <a:t>│ System      │               │ - configs   │               │ Dashboard   │</a:t>
            </a:r>
          </a:p>
          <a:p>
            <a:pPr>
              <a:defRPr sz="1200"/>
            </a:pPr>
            <a:r>
              <a:t>│ Events      │               │ - audit     │               │ Updates     │</a:t>
            </a:r>
          </a:p>
          <a:p>
            <a:pPr>
              <a:defRPr sz="1200"/>
            </a:pPr>
            <a:r>
              <a:t>└─────────────┘               └─────────────┘               └─────────────┘</a:t>
            </a:r>
          </a:p>
          <a:p>
            <a:pPr>
              <a:defRPr sz="1200"/>
            </a:pPr>
            <a:r>
              <a:t>│                             │                             │</a:t>
            </a:r>
          </a:p>
          <a:p>
            <a:pPr>
              <a:defRPr sz="1200"/>
            </a:pPr>
            <a:r>
              <a:t>└─── Async Pub/Sub ────────────┼─── Message Queues ────────┘</a:t>
            </a:r>
          </a:p>
          <a:p>
            <a:pPr>
              <a:defRPr sz="1200"/>
            </a:pPr>
            <a:r>
              <a:t>│</a:t>
            </a:r>
          </a:p>
          <a:p>
            <a:pPr>
              <a:defRPr sz="1200"/>
            </a:pPr>
            <a:r>
              <a:t>┌─────────────┐</a:t>
            </a:r>
          </a:p>
          <a:p>
            <a:pPr>
              <a:defRPr sz="1200"/>
            </a:pPr>
            <a:r>
              <a:t>│ Event Store │</a:t>
            </a:r>
          </a:p>
          <a:p>
            <a:pPr>
              <a:defRPr sz="1200"/>
            </a:pPr>
            <a:r>
              <a:t>│ (History)   │</a:t>
            </a:r>
          </a:p>
          <a:p>
            <a:pPr>
              <a:defRPr sz="1200"/>
            </a:pPr>
            <a:r>
              <a:t>└─────────────┘</a:t>
            </a:r>
          </a:p>
          <a:p>
            <a:pPr>
              <a:defRPr sz="1200"/>
            </a:pPr>
            <a:r>
              <a:t>```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Event-Driven - Telekom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Network Event Processing Platform</a:t>
            </a:r>
          </a:p>
          <a:p>
            <a:pPr lvl="1">
              <a:defRPr sz="1400"/>
            </a:pPr>
            <a:r>
              <a:t>**Events:** Device failures, configuration changes, performance alerts</a:t>
            </a:r>
          </a:p>
          <a:p>
            <a:pPr lvl="1">
              <a:defRPr sz="1400"/>
            </a:pPr>
            <a:r>
              <a:t>**Producers:** SNMP agents, log collectors, user interfaces</a:t>
            </a:r>
          </a:p>
          <a:p>
            <a:pPr lvl="1">
              <a:defRPr sz="1400"/>
            </a:pPr>
            <a:r>
              <a:t>**Consumers:** Alert system, analytics, dashboard updates, audit logging</a:t>
            </a:r>
          </a:p>
          <a:p>
            <a:pPr lvl="1">
              <a:defRPr sz="1400"/>
            </a:pPr>
            <a:r>
              <a:t>**Event Bus:** Apache Kafka</a:t>
            </a:r>
          </a:p>
          <a:p>
            <a:pPr lvl="1">
              <a:defRPr sz="1400"/>
            </a:pPr>
            <a:r>
              <a:t>**Event Topics:** alerts, metrics, configs, audit</a:t>
            </a:r>
          </a:p>
          <a:p>
            <a:pPr lvl="1">
              <a:defRPr sz="1400"/>
            </a:pPr>
            <a:r>
              <a:t>**Event Store:** Persistent event history</a:t>
            </a:r>
          </a:p>
          <a:p>
            <a:pPr lvl="1">
              <a:defRPr sz="1400"/>
            </a:pPr>
            <a:r>
              <a:t>**Consumers:** Real-time and batch processing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Event-Driven -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Vorteile ✅</a:t>
            </a:r>
          </a:p>
          <a:p>
            <a:pPr>
              <a:defRPr sz="1200"/>
            </a:pPr>
            <a:r>
              <a:t>• Lose Kopplung zwischen Komponenten</a:t>
            </a:r>
          </a:p>
          <a:p>
            <a:pPr>
              <a:defRPr sz="1200"/>
            </a:pPr>
            <a:r>
              <a:t>• Asynchrone Verarbeitung für bessere Performance</a:t>
            </a:r>
          </a:p>
          <a:p>
            <a:pPr>
              <a:defRPr sz="1200"/>
            </a:pPr>
            <a:r>
              <a:t>• Event Replay für Debugging und Analytics möglich</a:t>
            </a:r>
          </a:p>
          <a:p>
            <a:pPr>
              <a:defRPr sz="1200"/>
            </a:pPr>
            <a:r>
              <a:t>• Einfaches Hinzufügen neuer Event Consumer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Nachteile ❌</a:t>
            </a:r>
          </a:p>
          <a:p>
            <a:pPr>
              <a:defRPr sz="1200"/>
            </a:pPr>
            <a:r>
              <a:t>• Eventually Consistent Data</a:t>
            </a:r>
          </a:p>
          <a:p>
            <a:pPr>
              <a:defRPr sz="1200"/>
            </a:pPr>
            <a:r>
              <a:t>• Komplexere Error Handling (Dead Letter Queues)</a:t>
            </a:r>
          </a:p>
          <a:p>
            <a:pPr>
              <a:defRPr sz="1200"/>
            </a:pPr>
            <a:r>
              <a:t>• Event Schema Evolution herausfordernd</a:t>
            </a:r>
          </a:p>
          <a:p>
            <a:pPr>
              <a:defRPr sz="1200"/>
            </a:pPr>
            <a:r>
              <a:t>• Debugging von Event Flows schwierig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Production Considerations ⚠️</a:t>
            </a:r>
          </a:p>
          <a:p>
            <a:pPr>
              <a:defRPr sz="1000"/>
            </a:pPr>
            <a:r>
              <a:t>• Event Schema Registry für Compatibility</a:t>
            </a:r>
          </a:p>
          <a:p>
            <a:pPr>
              <a:defRPr sz="1000"/>
            </a:pPr>
            <a:r>
              <a:t>• Dead Letter Queue für Failed Events</a:t>
            </a:r>
          </a:p>
          <a:p>
            <a:pPr>
              <a:defRPr sz="1000"/>
            </a:pPr>
            <a:r>
              <a:t>• Event Compression für hohe Throughput</a:t>
            </a:r>
          </a:p>
          <a:p>
            <a:pPr>
              <a:defRPr sz="1000"/>
            </a:pPr>
            <a:r>
              <a:t>• Monitoring von Queue Depths und Lag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3. Event-Driven -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Ideal für:</a:t>
            </a:r>
          </a:p>
          <a:p>
            <a:pPr>
              <a:defRPr sz="1200"/>
            </a:pPr>
            <a:r>
              <a:t>• Real-time Monitoring und Alerting</a:t>
            </a:r>
          </a:p>
          <a:p>
            <a:pPr>
              <a:defRPr sz="1200"/>
            </a:pPr>
            <a:r>
              <a:t>• High-Throughput Event Processing</a:t>
            </a:r>
          </a:p>
          <a:p>
            <a:pPr>
              <a:defRPr sz="1200"/>
            </a:pPr>
            <a:r>
              <a:t>• Lose gekoppelte Systeme</a:t>
            </a:r>
          </a:p>
          <a:p>
            <a:pPr>
              <a:defRPr sz="1200"/>
            </a:pPr>
            <a:r>
              <a:t>• Asynchrone Verarbeitung erforderlich</a:t>
            </a:r>
          </a:p>
          <a:p>
            <a:pPr>
              <a:defRPr sz="1200"/>
            </a:pPr>
            <a:r>
              <a:t>• Event Replay und Analytics wichtig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Vermeiden wenn:</a:t>
            </a:r>
          </a:p>
          <a:p>
            <a:pPr>
              <a:defRPr sz="1200"/>
            </a:pPr>
            <a:r>
              <a:t>• Strong Consistency erforderlich</a:t>
            </a:r>
          </a:p>
          <a:p>
            <a:pPr>
              <a:defRPr sz="1200"/>
            </a:pPr>
            <a:r>
              <a:t>• Einfache Request-Response Patterns</a:t>
            </a:r>
          </a:p>
          <a:p>
            <a:pPr>
              <a:defRPr sz="1200"/>
            </a:pPr>
            <a:r>
              <a:t>• Begrenzte Message Queue Expertise</a:t>
            </a:r>
          </a:p>
          <a:p>
            <a:pPr>
              <a:defRPr sz="1200"/>
            </a:pPr>
            <a:r>
              <a:t>• Synchrone Verarbeitung ausreichend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Hexagonal Architecture (Ports &amp; Adapters)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200"/>
            </a:pPr>
            <a:r>
              <a:t>```</a:t>
            </a:r>
          </a:p>
          <a:p>
            <a:pPr>
              <a:defRPr sz="1200"/>
            </a:pPr>
            <a:r>
              <a:t>Hexagonal Architecture</a:t>
            </a:r>
          </a:p>
          <a:p>
            <a:pPr>
              <a:defRPr sz="1200"/>
            </a:pPr>
            <a:r>
              <a:t>(Ports &amp; Adapters)</a:t>
            </a:r>
          </a:p>
          <a:p>
            <a:pPr>
              <a:defRPr sz="1200"/>
            </a:pPr>
            <a:r>
              <a:t>┌─────────────────┐                    ┌─────────────────┐</a:t>
            </a:r>
          </a:p>
          <a:p>
            <a:pPr>
              <a:defRPr sz="1200"/>
            </a:pPr>
            <a:r>
              <a:t>│   Web UI        │                    │   Database      │</a:t>
            </a:r>
          </a:p>
          <a:p>
            <a:pPr>
              <a:defRPr sz="1200"/>
            </a:pPr>
            <a:r>
              <a:t>│   Adapter       │                    │   Adapter       │</a:t>
            </a:r>
          </a:p>
          <a:p>
            <a:pPr>
              <a:defRPr sz="1200"/>
            </a:pPr>
            <a:r>
              <a:t>└─────┬───────────┘                    └─────┬───────────┘</a:t>
            </a:r>
          </a:p>
          <a:p>
            <a:pPr>
              <a:defRPr sz="1200"/>
            </a:pPr>
            <a:r>
              <a:t>│                                      │</a:t>
            </a:r>
          </a:p>
          <a:p>
            <a:pPr>
              <a:defRPr sz="1200"/>
            </a:pPr>
            <a:r>
              <a:t>┌─────┴───────────┐                    ┌─────┴───────────┐</a:t>
            </a:r>
          </a:p>
          <a:p>
            <a:pPr>
              <a:defRPr sz="1200"/>
            </a:pPr>
            <a:r>
              <a:t>│   HTTP Port     │                    │ Persistence Port│</a:t>
            </a:r>
          </a:p>
          <a:p>
            <a:pPr>
              <a:defRPr sz="1200"/>
            </a:pPr>
            <a:r>
              <a:t>└─────┬───────────┘                    └─────┬───────────┘</a:t>
            </a:r>
          </a:p>
          <a:p>
            <a:pPr>
              <a:defRPr sz="1200"/>
            </a:pPr>
            <a:r>
              <a:t>│                                      │</a:t>
            </a:r>
          </a:p>
          <a:p>
            <a:pPr>
              <a:defRPr sz="1200"/>
            </a:pPr>
            <a:r>
              <a:t>│     ┌─────────────────────────┐      │</a:t>
            </a:r>
          </a:p>
          <a:p>
            <a:pPr>
              <a:defRPr sz="1200"/>
            </a:pPr>
            <a:r>
              <a:t>└─────│                         │──────┘</a:t>
            </a:r>
          </a:p>
          <a:p>
            <a:pPr>
              <a:defRPr sz="1200"/>
            </a:pPr>
            <a:r>
              <a:t>│     Domain Core         │</a:t>
            </a:r>
          </a:p>
          <a:p>
            <a:pPr>
              <a:defRPr sz="1200"/>
            </a:pPr>
            <a:r>
              <a:t>│                         │</a:t>
            </a:r>
          </a:p>
          <a:p>
            <a:pPr>
              <a:defRPr sz="1200"/>
            </a:pPr>
            <a:r>
              <a:t>┌───────────│   Business Logic        │──────────┐</a:t>
            </a:r>
          </a:p>
          <a:p>
            <a:pPr>
              <a:defRPr sz="1200"/>
            </a:pPr>
            <a:r>
              <a:t>│           │                         │          │</a:t>
            </a:r>
          </a:p>
          <a:p>
            <a:pPr>
              <a:defRPr sz="1200"/>
            </a:pPr>
            <a:r>
              <a:t>│           └─────────────────────────┘          │</a:t>
            </a:r>
          </a:p>
          <a:p>
            <a:pPr>
              <a:defRPr sz="1200"/>
            </a:pPr>
            <a:r>
              <a:t>│                                                │</a:t>
            </a:r>
          </a:p>
          <a:p>
            <a:pPr>
              <a:defRPr sz="1200"/>
            </a:pPr>
            <a:r>
              <a:t>┌───┴───────────┐                            ┌─────┴───────────┐</a:t>
            </a:r>
          </a:p>
          <a:p>
            <a:pPr>
              <a:defRPr sz="1200"/>
            </a:pPr>
            <a:r>
              <a:t>│  API Port     │                            │   Event Port    │</a:t>
            </a:r>
          </a:p>
          <a:p>
            <a:pPr>
              <a:defRPr sz="1200"/>
            </a:pPr>
            <a:r>
              <a:t>└───┬───────────┘                            └─────┬───────────┘</a:t>
            </a:r>
          </a:p>
          <a:p>
            <a:pPr>
              <a:defRPr sz="1200"/>
            </a:pPr>
            <a:r>
              <a:t>│                                              │</a:t>
            </a:r>
          </a:p>
          <a:p>
            <a:pPr>
              <a:defRPr sz="1200"/>
            </a:pPr>
            <a:r>
              <a:t>┌───┴───────────┐                            ┌─────┴───────────┐</a:t>
            </a:r>
          </a:p>
          <a:p>
            <a:pPr>
              <a:defRPr sz="1200"/>
            </a:pPr>
            <a:r>
              <a:t>│   REST API    │                            │   Message       │</a:t>
            </a:r>
          </a:p>
          <a:p>
            <a:pPr>
              <a:defRPr sz="1200"/>
            </a:pPr>
            <a:r>
              <a:t>│   Adapter     │                            │   Queue Adapter │</a:t>
            </a:r>
          </a:p>
          <a:p>
            <a:pPr>
              <a:defRPr sz="1200"/>
            </a:pPr>
            <a:r>
              <a:t>└───────────────┘                            └─────────────────┘</a:t>
            </a:r>
          </a:p>
          <a:p>
            <a:pPr>
              <a:defRPr sz="1200"/>
            </a:pPr>
            <a:r>
              <a:t>```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Hexagonal Architecture - Telekom Use Case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Device Configuration Service</a:t>
            </a:r>
          </a:p>
          <a:p>
            <a:pPr lvl="1">
              <a:defRPr sz="1400"/>
            </a:pPr>
            <a:r>
              <a:t>**Device configuration validation**</a:t>
            </a:r>
          </a:p>
          <a:p>
            <a:pPr lvl="1">
              <a:defRPr sz="1400"/>
            </a:pPr>
            <a:r>
              <a:t>**Template processing**</a:t>
            </a:r>
          </a:p>
          <a:p>
            <a:pPr lvl="1">
              <a:defRPr sz="1400"/>
            </a:pPr>
            <a:r>
              <a:t>**Business rules enforcement**</a:t>
            </a:r>
          </a:p>
          <a:p>
            <a:pPr lvl="1">
              <a:defRPr sz="1400"/>
            </a:pPr>
            <a:r>
              <a:t>**REST API:** Web interface</a:t>
            </a:r>
          </a:p>
          <a:p>
            <a:pPr lvl="1">
              <a:defRPr sz="1400"/>
            </a:pPr>
            <a:r>
              <a:t>**SNMP interface:** Device communication</a:t>
            </a:r>
          </a:p>
          <a:p>
            <a:pPr lvl="1">
              <a:defRPr sz="1400"/>
            </a:pPr>
            <a:r>
              <a:t>**File-based config:** Bulk operations</a:t>
            </a:r>
          </a:p>
          <a:p>
            <a:pPr lvl="1">
              <a:defRPr sz="1400"/>
            </a:pPr>
            <a:r>
              <a:t>**Message queues:** Event notifications</a:t>
            </a:r>
          </a:p>
          <a:p>
            <a:pPr lvl="1">
              <a:defRPr sz="1400"/>
            </a:pPr>
            <a:r>
              <a:t>**Device management:** Core business operations</a:t>
            </a:r>
          </a:p>
          <a:p>
            <a:pPr lvl="1">
              <a:defRPr sz="1400"/>
            </a:pPr>
            <a:r>
              <a:t>**Configuration storage:** Persistence interface</a:t>
            </a:r>
          </a:p>
          <a:p>
            <a:pPr lvl="1">
              <a:defRPr sz="1400"/>
            </a:pPr>
            <a:r>
              <a:t>**Event notification:** Integration interface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Hexagonal Architecture - 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Vorteile ✅</a:t>
            </a:r>
          </a:p>
          <a:p>
            <a:pPr>
              <a:defRPr sz="1200"/>
            </a:pPr>
            <a:r>
              <a:t>• Domain Logic vollständig isoliert von Infrastructure</a:t>
            </a:r>
          </a:p>
          <a:p>
            <a:pPr>
              <a:defRPr sz="1200"/>
            </a:pPr>
            <a:r>
              <a:t>• Austauschbare External Dependencies (Database, APIs)</a:t>
            </a:r>
          </a:p>
          <a:p>
            <a:pPr>
              <a:defRPr sz="1200"/>
            </a:pPr>
            <a:r>
              <a:t>• Excellente Testbarkeit durch Dependency Inversion</a:t>
            </a:r>
          </a:p>
          <a:p>
            <a:pPr>
              <a:defRPr sz="1200"/>
            </a:pPr>
            <a:r>
              <a:t>• Framework-agnostic Domain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/>
            </a:pPr>
            <a:r>
              <a:t>Nachteile ❌</a:t>
            </a:r>
          </a:p>
          <a:p>
            <a:pPr>
              <a:defRPr sz="1200"/>
            </a:pPr>
            <a:r>
              <a:t>• Initial Setup komplexer als Layer Architecture</a:t>
            </a:r>
          </a:p>
          <a:p>
            <a:pPr>
              <a:defRPr sz="1200"/>
            </a:pPr>
            <a:r>
              <a:t>• Mehr Abstractions und Interfaces</a:t>
            </a:r>
          </a:p>
          <a:p>
            <a:pPr>
              <a:defRPr sz="1200"/>
            </a:pPr>
            <a:r>
              <a:t>• Kann Over-Engineering für einfache CRUD Apps sein</a:t>
            </a:r>
          </a:p>
          <a:p>
            <a:pPr>
              <a:defRPr sz="1200"/>
            </a:pPr>
            <a:r>
              <a:t>• Team muss Dependency Inversion verstehen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Production Considerations ⚠️</a:t>
            </a:r>
          </a:p>
          <a:p>
            <a:pPr>
              <a:defRPr sz="1000"/>
            </a:pPr>
            <a:r>
              <a:t>• Adapter Health Checks für alle External Systems</a:t>
            </a:r>
          </a:p>
          <a:p>
            <a:pPr>
              <a:defRPr sz="1000"/>
            </a:pPr>
            <a:r>
              <a:t>• Circuit Breaker Pattern für External Dependencies</a:t>
            </a:r>
          </a:p>
          <a:p>
            <a:pPr>
              <a:defRPr sz="1000"/>
            </a:pPr>
            <a:r>
              <a:t>• Adapter-specific Monitoring und Alerting</a:t>
            </a:r>
          </a:p>
          <a:p>
            <a:pPr>
              <a:defRPr sz="1000"/>
            </a:pPr>
            <a:r>
              <a:t>• Configuration für Adapter Switching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4. Hexagonal Architecture -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6576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08000"/>
                </a:solidFill>
              </a:defRPr>
            </a:pPr>
            <a:r>
              <a:t>Ideal für:</a:t>
            </a:r>
          </a:p>
          <a:p>
            <a:pPr>
              <a:defRPr sz="1200"/>
            </a:pPr>
            <a:r>
              <a:t>• Long-lived Business Applications</a:t>
            </a:r>
          </a:p>
          <a:p>
            <a:pPr>
              <a:defRPr sz="1200"/>
            </a:pPr>
            <a:r>
              <a:t>• Frequent External System Changes</a:t>
            </a:r>
          </a:p>
          <a:p>
            <a:pPr>
              <a:defRPr sz="1200"/>
            </a:pPr>
            <a:r>
              <a:t>• High Testing Requirements</a:t>
            </a:r>
          </a:p>
          <a:p>
            <a:pPr>
              <a:defRPr sz="1200"/>
            </a:pPr>
            <a:r>
              <a:t>• Framework Independence gewünscht</a:t>
            </a:r>
          </a:p>
          <a:p>
            <a:pPr>
              <a:defRPr sz="1200"/>
            </a:pPr>
            <a:r>
              <a:t>• Complex Domain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4114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0000"/>
                </a:solidFill>
              </a:defRPr>
            </a:pPr>
            <a:r>
              <a:t>Vermeiden wenn:</a:t>
            </a:r>
          </a:p>
          <a:p>
            <a:pPr>
              <a:defRPr sz="1200"/>
            </a:pPr>
            <a:r>
              <a:t>• Einfache CRUD Applications</a:t>
            </a:r>
          </a:p>
          <a:p>
            <a:pPr>
              <a:defRPr sz="1200"/>
            </a:pPr>
            <a:r>
              <a:t>• Begrenzte DI/IoC Erfahrung</a:t>
            </a:r>
          </a:p>
          <a:p>
            <a:pPr>
              <a:defRPr sz="1200"/>
            </a:pPr>
            <a:r>
              <a:t>• Kurze Entwicklungszyklen</a:t>
            </a:r>
          </a:p>
          <a:p>
            <a:pPr>
              <a:defRPr sz="1200"/>
            </a:pPr>
            <a:r>
              <a:t>• Kleine Prototyp-Projekte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Architecture Decision Matrix - Part 1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Criteria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Layered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Microservices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Event-Driven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Hexagonal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**Team Size**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1-5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3-8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2-6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**Scalability**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**Complexity**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Very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**Performance**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Good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**Maintainability**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High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**Testing**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Easy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Easy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**Deployment**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Simple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Complex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Telekom-Specific Recommendations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600" b="1"/>
            </a:pPr>
            <a:r>
              <a:t>Für Network Operations (NOC):</a:t>
            </a:r>
          </a:p>
          <a:p>
            <a:pPr lvl="1">
              <a:defRPr sz="1200">
                <a:solidFill>
                  <a:srgbClr val="008000"/>
                </a:solidFill>
              </a:defRPr>
            </a:pPr>
            <a:r>
              <a:t>✅ **Event-Driven** für Real-time Monitoring</a:t>
            </a:r>
          </a:p>
          <a:p>
            <a:pPr lvl="1">
              <a:defRPr sz="1200">
                <a:solidFill>
                  <a:srgbClr val="008000"/>
                </a:solidFill>
              </a:defRPr>
            </a:pPr>
            <a:r>
              <a:t>✅ **Microservices** für Service-specific Teams</a:t>
            </a:r>
          </a:p>
          <a:p>
            <a:pPr lvl="1">
              <a:defRPr sz="1200">
                <a:solidFill>
                  <a:srgbClr val="FFA500"/>
                </a:solidFill>
              </a:defRPr>
            </a:pPr>
            <a:r>
              <a:t>⚠️ **Layered** nur für Simple Tools</a:t>
            </a:r>
          </a:p>
          <a:p>
            <a:pPr>
              <a:defRPr sz="1600" b="1"/>
            </a:pPr>
            <a:r>
              <a:t>Für Infrastructure Services:</a:t>
            </a:r>
          </a:p>
          <a:p>
            <a:pPr lvl="1">
              <a:defRPr sz="1200">
                <a:solidFill>
                  <a:srgbClr val="008000"/>
                </a:solidFill>
              </a:defRPr>
            </a:pPr>
            <a:r>
              <a:t>✅ **Microservices** für Independent Scaling</a:t>
            </a:r>
          </a:p>
          <a:p>
            <a:pPr lvl="1">
              <a:defRPr sz="1200">
                <a:solidFill>
                  <a:srgbClr val="008000"/>
                </a:solidFill>
              </a:defRPr>
            </a:pPr>
            <a:r>
              <a:t>✅ **Event-Driven** für System Integration</a:t>
            </a:r>
          </a:p>
          <a:p>
            <a:pPr lvl="1">
              <a:defRPr sz="1200">
                <a:solidFill>
                  <a:srgbClr val="008000"/>
                </a:solidFill>
              </a:defRPr>
            </a:pPr>
            <a:r>
              <a:t>✅ **Hexagonal** für Core Business Logic</a:t>
            </a:r>
          </a:p>
          <a:p>
            <a:pPr>
              <a:defRPr sz="1600" b="1"/>
            </a:pPr>
            <a:r>
              <a:t>Migration Strategy:</a:t>
            </a:r>
          </a:p>
          <a:p>
            <a:pPr lvl="1">
              <a:defRPr sz="1200"/>
            </a:pPr>
            <a:r>
              <a:t>Start: Layered für Prototypen</a:t>
            </a:r>
          </a:p>
          <a:p>
            <a:pPr lvl="1">
              <a:defRPr sz="1200"/>
            </a:pPr>
            <a:r>
              <a:t>Scale: Event-Driven für Integration</a:t>
            </a:r>
          </a:p>
          <a:p>
            <a:pPr lvl="1">
              <a:defRPr sz="1200"/>
            </a:pPr>
            <a:r>
              <a:t>Optimize: Microservices für Team Growth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Summary - Part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/>
          </a:p>
          <a:p>
            <a:pPr>
              <a:defRPr sz="1800" b="1"/>
            </a:pPr>
            <a:r>
              <a:t>Pattern Selection Guide:</a:t>
            </a:r>
          </a:p>
          <a:p>
            <a:pPr>
              <a:defRPr sz="1400" b="1"/>
            </a:pPr>
            <a:r>
              <a:t>## Summary - Part 1</a:t>
            </a:r>
            <a:br/>
            <a:br/>
            <a:r>
              <a:t>### Pattern Selection Guide:</a:t>
            </a:r>
          </a:p>
          <a:p>
            <a:pPr>
              <a:defRPr sz="1400" b="1"/>
            </a:pPr>
            <a:r>
              <a:t>Start Simple (Layered):</a:t>
            </a:r>
          </a:p>
          <a:p>
            <a:pPr lvl="1">
              <a:defRPr sz="1200"/>
            </a:pPr>
            <a:r>
              <a:t>Prototypen und Proof-of-Concepts</a:t>
            </a:r>
          </a:p>
          <a:p>
            <a:pPr lvl="1">
              <a:defRPr sz="1200"/>
            </a:pPr>
            <a:r>
              <a:t>Kleine Teams (&lt;5 Entwickler)</a:t>
            </a:r>
          </a:p>
          <a:p>
            <a:pPr lvl="1">
              <a:defRPr sz="1200"/>
            </a:pPr>
            <a:r>
              <a:t>Einfache CRUD-Operationen</a:t>
            </a:r>
          </a:p>
          <a:p>
            <a:pPr>
              <a:defRPr sz="1400" b="1"/>
            </a:pPr>
            <a:r>
              <a:t>Scale Smart (Microservices):</a:t>
            </a:r>
          </a:p>
          <a:p>
            <a:pPr lvl="1">
              <a:defRPr sz="1200"/>
            </a:pPr>
            <a:r>
              <a:t>Große verteilte Teams</a:t>
            </a:r>
          </a:p>
          <a:p>
            <a:pPr lvl="1">
              <a:defRPr sz="1200"/>
            </a:pPr>
            <a:r>
              <a:t>Independent Service Scaling</a:t>
            </a:r>
          </a:p>
          <a:p>
            <a:pPr lvl="1">
              <a:defRPr sz="1200"/>
            </a:pPr>
            <a:r>
              <a:t>High Availability Requirements</a:t>
            </a:r>
          </a:p>
          <a:p>
            <a:pPr>
              <a:defRPr sz="1400" b="1"/>
            </a:pPr>
            <a:r>
              <a:t>Integrate Efficiently (Event-Driven):</a:t>
            </a:r>
          </a:p>
          <a:p>
            <a:pPr lvl="1">
              <a:defRPr sz="1200"/>
            </a:pPr>
            <a:r>
              <a:t>Real-time Processing</a:t>
            </a:r>
          </a:p>
          <a:p>
            <a:pPr lvl="1">
              <a:defRPr sz="1200"/>
            </a:pPr>
            <a:r>
              <a:t>System Integration</a:t>
            </a:r>
          </a:p>
          <a:p>
            <a:pPr lvl="1">
              <a:defRPr sz="1200"/>
            </a:pPr>
            <a:r>
              <a:t>Asynchronous Workflows</a:t>
            </a:r>
          </a:p>
          <a:p>
            <a:pPr>
              <a:defRPr sz="1400" b="1"/>
            </a:pPr>
            <a:r>
              <a:t>Design for Change (Hexagonal):</a:t>
            </a:r>
          </a:p>
          <a:p>
            <a:pPr lvl="1">
              <a:defRPr sz="1200"/>
            </a:pPr>
            <a:r>
              <a:t>Complex Domain Logic</a:t>
            </a:r>
          </a:p>
          <a:p>
            <a:pPr lvl="1">
              <a:defRPr sz="1200"/>
            </a:pPr>
            <a:r>
              <a:t>Testability Requirements</a:t>
            </a:r>
          </a:p>
          <a:p>
            <a:pPr lvl="1">
              <a:defRPr sz="1200"/>
            </a:pPr>
            <a:r>
              <a:t>External System Integration</a:t>
            </a:r>
          </a:p>
          <a:p>
            <a:pPr>
              <a:defRPr sz="1400" b="1"/>
            </a:pPr>
            <a:r>
              <a:t>Next:</a:t>
            </a:r>
          </a:p>
          <a:p>
            <a:br/>
            <a:r>
              <a:t>Next: Part 2 covers CQRS, Event Sourcing, and advanced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anillaCore" id="{A4188DAF-3037-9A46-8AA0-BDB523AB8B82}" vid="{1D57C864-6CD3-B749-8548-A8609C08E9A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</TotalTime>
  <Words>1527</Words>
  <Application>Microsoft Macintosh PowerPoint</Application>
  <PresentationFormat>Widescreen</PresentationFormat>
  <Paragraphs>338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Aptos</vt:lpstr>
      <vt:lpstr>Arial</vt:lpstr>
      <vt:lpstr>Open Sans</vt:lpstr>
      <vt:lpstr>Open Sans Light</vt:lpstr>
      <vt:lpstr>Source Code Pro</vt:lpstr>
      <vt:lpstr>Custom Design</vt:lpstr>
      <vt:lpstr>Architectural Patterns - Part 1</vt:lpstr>
      <vt:lpstr>Overview: Layer-Based Architectures</vt:lpstr>
      <vt:lpstr>1. Layered Architecture (Schichtarchitektur)</vt:lpstr>
      <vt:lpstr>1. Layered Architecture - Telekom Use Case</vt:lpstr>
      <vt:lpstr>1. Layered Architecture - Trade-offs</vt:lpstr>
      <vt:lpstr>1. Layered Architecture - When to Use</vt:lpstr>
      <vt:lpstr>2. Microservices Architecture</vt:lpstr>
      <vt:lpstr>2. Microservices - Telekom Use Case</vt:lpstr>
      <vt:lpstr>2. Microservices - Trade-offs</vt:lpstr>
      <vt:lpstr>2. Microservices - When to Use</vt:lpstr>
      <vt:lpstr>3. Event-Driven Architecture</vt:lpstr>
      <vt:lpstr>3. Event-Driven - Telekom Use Case</vt:lpstr>
      <vt:lpstr>3. Event-Driven - Trade-offs</vt:lpstr>
      <vt:lpstr>3. Event-Driven - When to Use</vt:lpstr>
      <vt:lpstr>4. Hexagonal Architecture (Ports &amp; Adapters)</vt:lpstr>
      <vt:lpstr>4. Hexagonal Architecture - Telekom Use Case</vt:lpstr>
      <vt:lpstr>4. Hexagonal Architecture - Trade-offs</vt:lpstr>
      <vt:lpstr>4. Hexagonal Architecture - When to Use</vt:lpstr>
      <vt:lpstr>Architecture Decision Matrix - Part 1</vt:lpstr>
      <vt:lpstr>Telekom-Specific Recommendations</vt:lpstr>
      <vt:lpstr>Summary - Part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Samaschke, Karsten</dc:creator>
  <cp:lastModifiedBy>Samaschke, Karsten</cp:lastModifiedBy>
  <cp:revision>9</cp:revision>
  <dcterms:created xsi:type="dcterms:W3CDTF">2025-09-10T03:57:45Z</dcterms:created>
  <dcterms:modified xsi:type="dcterms:W3CDTF">2025-09-10T13:46:40Z</dcterms:modified>
</cp:coreProperties>
</file>