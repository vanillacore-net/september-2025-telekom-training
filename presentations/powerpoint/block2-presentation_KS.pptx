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/>
    <p:restoredTop sz="94687"/>
  </p:normalViewPr>
  <p:slideViewPr>
    <p:cSldViewPr snapToGrid="0">
      <p:cViewPr varScale="1">
        <p:scale>
          <a:sx n="147" d="100"/>
          <a:sy n="147" d="100"/>
        </p:scale>
        <p:origin x="5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10E19-185B-1340-858A-340214A5C20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2CC35-1EDF-9846-9387-47BA451AC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1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Deutsche Telekom bietet verschiedenste Tarif-Optionen: Datenvolumen-Upgrades, Roaming-Pakete, Streaming-Services, Hotspot-Zugang. Der naive OOP-Ansatz führt zu exponentieller Klassenzahl.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 mathematische Problem: Bei nur 10 Tarif-Optionen entstehen 1.024 Klassen! Dies verletzt fundamental das Open/Closed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Decorator Pattern löst das Problem durch Komposition statt Vererbung. Ein Tarif-Objekt wird von "Decorator"-Objekten umschlossen, die jeweils eine zusätzliche Funktion bereitstellen.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Jeder Decorator implementiert dieselbe Schnittstelle wie das umhüllte Objekt - so können Decorators beliebig geschachtelt werden. Factory Pattern übernimmt die Objektkomposition und versteckt die Komplexität.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Telekom verkauft komplexe Familien-Strukturen mit verschachtelten Abhängigkeiten. Separate Klassen für jede Konstellation führen zu kombinatorischer Explosion.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 Komplexitäts-Dilemma: Wie behandeln wir Einzeltarife und Gruppen-Tarife einheitlich? Naive Ansätze scheitern an kombinatorischer Explosion.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Composite Pattern behandelt Einzelobjekte und Objektsammlungen einheitlich. Ein Familien-Tarif wird genauso behandelt wie ein Einzel-Tarif.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Transparente Rekursion: TariffGroup "weiß" nicht, ob Kinder Leafs oder Composites sind. Visitor Pattern kann für Performance-Optimierung bei tiefen Hierarchien eingesetzt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Eine einfache Tarif-Bestellung erfordert Koordination von 15+ Microservices. Client-Code wird unlesesbar und untestbar.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 Komplexitäts-Dilemma: Jede Service-Änderung bricht den Client. Deployment-Abhängigkeiten werden unbeherrschbar.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Facade Pattern erstellt eine "einfache" Schnittstelle vor einem "komplexen" Subsystem. Client-Sicht: 1 Methode statt 15 Service-Calls.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Facade vs. Microservice Gateway: Façade ist ein architektonisches Pattern, Gateway ist infrastrukturell. Circuit Breaker, Timeout Management und Parallelisierung können integriert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Legacy-Datenbanken sind oft der Flaschenhals moderner Systeme. Hochfrequente Zugriffe führen zu Cascading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Latenz-Spirale: 1000+ Customer-Abfragen pro Sekunde multipliziert mit 200ms = System-Kollaps.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Proxy Pattern stellt einen "Stellvertreter" vor ein teures Objekt. Der Proxy kann Caching, Lazy Loading, Security etc. transparent hinzufügen.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Cache-Hit-Rate von 99.5%+ ist realistisch = 2000x Performance-Verbesserung. Security Proxy kann Authorization und Audit-Logging transparent implementieren.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Mit 50+ Millionen Kunden entstehen massive Datenmengen. Redundante Tarif-Beschreibungen werden millionenfach dupliziert = Gigabytes verschwendeter Speicher.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Mathematisches Dilemma: 50 Millionen Kunden × 2KB = 100GB RAM nur für Customer-Objekte. Redundante Daten vervielfachen den Speicher-Bedarf exponentiell.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Flyweight Pattern trennt "geteilte" von "individuellen" Daten. Objekte mit identischen Properties werden nur einmal gespeichert.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Messbare Ergebnisse: 77% Memory-Ersparnis! Von 103GB auf 24GB RAM-Verbrauch. Nur 50 Flyweight-Objekte statt 50 Millionen redundante Tarif-Kopien.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Patterns ergänzen sich perfekt: Komplexe Business-Domänen werden durch Pattern-Kombination beherrschbar. Factory + Decorator lösen gemeinsam das Problem der flexiblen Objektzusammensetzung.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Enterprise-Tauglichkeit erfordert mehr als Design Patterns: Monitoring, Resilience, Distributed Systems Patterns und observability sind kritisch für Production-Einsatz.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Block 2 zeigt: Structural Patterns sind nicht nur akademische Konzepte, sondern lösen reale Enterprise-Performance und -Wartungsprobleme. Die Kombination mehrerer Patterns ist oft mächtiger als einzelne Pattern-Anwendung.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7193-AE5D-4968-BAF6-3656BE156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0169"/>
            <a:ext cx="9144000" cy="895972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86BB9-FD07-7E5E-44C6-0A574C54E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58216"/>
            <a:ext cx="9144000" cy="552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B45C3DAA-2C1B-4B03-DCD5-CEA9A48D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302560" y="2321640"/>
            <a:ext cx="1586880" cy="221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214E46-3795-F2C4-2D6A-4DF0C15ACEDA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9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D443-8D62-99E4-BE59-A33D1ABDD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80720"/>
            <a:ext cx="9144000" cy="68725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9BB70-AB0C-EB4F-73E7-686FB01CE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0045"/>
            <a:ext cx="9144000" cy="4332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C62A5225-6C59-0F22-28CB-A0E992676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498782" y="2595496"/>
            <a:ext cx="1194437" cy="16670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3CF7D-A3E7-417D-2594-BEB7DA122EAC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8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2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Bullet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9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3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FAE5E-51A7-801C-5D44-B6AB89FF0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1pPr>
            <a:lvl2pPr marL="457200" indent="0">
              <a:buNone/>
              <a:defRPr sz="20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2pPr>
            <a:lvl3pPr marL="914400" indent="0">
              <a:buNone/>
              <a:defRPr sz="18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3pPr>
            <a:lvl4pPr marL="13716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4pPr>
            <a:lvl5pPr marL="18288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3E47A-69A0-8F49-E63F-B87255EE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9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A35E-A630-2C0F-48C4-334D4CCF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7739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36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E0C0-D32D-13D4-8621-9FED9847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57200"/>
            <a:ext cx="4364521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F3171-700D-AC09-57D2-7CE376F6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525108" cy="54332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D5D4F-5251-A419-B3B6-3E776795B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2057400"/>
            <a:ext cx="4364521" cy="43632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C4C30-205A-2492-192B-B806843E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4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07504"/>
            <a:ext cx="7146235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12765" y="0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1816443"/>
            <a:ext cx="7146235" cy="4703627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5832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209" y="407504"/>
            <a:ext cx="5854148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942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1209" y="1816444"/>
            <a:ext cx="7026958" cy="4676432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93BDEA3-6F5B-33C7-1FE1-589B04B9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2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9312B-648F-07C4-1C1A-87F50DC9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B8739-0CD2-1439-97E1-AFE66884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2DFFE-3F1B-D665-A941-E6705F464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72EA-F3A5-C440-8FDE-A5EAD26928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36DDDAD4-6DBF-843D-79CB-7A2FBAC6A16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lum/>
            <a:alphaModFix/>
          </a:blip>
          <a:srcRect/>
          <a:stretch>
            <a:fillRect/>
          </a:stretch>
        </p:blipFill>
        <p:spPr>
          <a:xfrm>
            <a:off x="10619994" y="0"/>
            <a:ext cx="1101857" cy="153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99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3" r:id="rId3"/>
    <p:sldLayoutId id="2147483675" r:id="rId4"/>
    <p:sldLayoutId id="2147483665" r:id="rId5"/>
    <p:sldLayoutId id="2147483676" r:id="rId6"/>
    <p:sldLayoutId id="2147483666" r:id="rId7"/>
    <p:sldLayoutId id="2147483677" r:id="rId8"/>
    <p:sldLayoutId id="2147483667" r:id="rId9"/>
    <p:sldLayoutId id="2147483672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34343"/>
        </a:buClr>
        <a:buFont typeface="Arial" panose="020B0604020202020204" pitchFamily="34" charset="0"/>
        <a:buChar char="•"/>
        <a:defRPr sz="2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4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0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 2: Structural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Pattern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hier schlecht?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 err="1">
                <a:latin typeface="Consolas"/>
              </a:rPr>
              <a:t>BasicTariff</a:t>
            </a:r>
            <a:endParaRPr sz="2000" dirty="0">
              <a:latin typeface="Consolas"/>
            </a:endParaRPr>
          </a:p>
          <a:p>
            <a:r>
              <a:rPr sz="2000" dirty="0" err="1">
                <a:latin typeface="Consolas"/>
              </a:rPr>
              <a:t>BasicTariffWithData</a:t>
            </a:r>
            <a:endParaRPr sz="2000" dirty="0">
              <a:latin typeface="Consolas"/>
            </a:endParaRPr>
          </a:p>
          <a:p>
            <a:r>
              <a:rPr sz="2000" dirty="0" err="1">
                <a:latin typeface="Consolas"/>
              </a:rPr>
              <a:t>BasicTariffWithDataAndRoaming</a:t>
            </a:r>
            <a:r>
              <a:rPr sz="2000" dirty="0">
                <a:latin typeface="Consolas"/>
              </a:rPr>
              <a:t>  </a:t>
            </a:r>
          </a:p>
          <a:p>
            <a:endParaRPr lang="de-DE" sz="2000" dirty="0">
              <a:latin typeface="Consolas"/>
            </a:endParaRPr>
          </a:p>
          <a:p>
            <a:r>
              <a:rPr sz="2000" dirty="0">
                <a:latin typeface="Consolas"/>
              </a:rPr>
              <a:t>public class </a:t>
            </a:r>
            <a:r>
              <a:rPr sz="2000" dirty="0" err="1">
                <a:latin typeface="Consolas"/>
              </a:rPr>
              <a:t>BasicTariffWithDataAndRoamingAndHotspot</a:t>
            </a:r>
            <a:r>
              <a:rPr sz="2000" dirty="0">
                <a:latin typeface="Consolas"/>
              </a:rPr>
              <a:t> </a:t>
            </a:r>
          </a:p>
          <a:p>
            <a:r>
              <a:rPr sz="2000" dirty="0">
                <a:latin typeface="Consolas"/>
              </a:rPr>
              <a:t>    extends </a:t>
            </a:r>
            <a:r>
              <a:rPr sz="2000" dirty="0" err="1">
                <a:latin typeface="Consolas"/>
              </a:rPr>
              <a:t>BasicTariffWithDataAndRoaming</a:t>
            </a:r>
            <a:r>
              <a:rPr sz="2000" dirty="0">
                <a:latin typeface="Consolas"/>
              </a:rPr>
              <a:t> {</a:t>
            </a:r>
          </a:p>
          <a:p>
            <a:r>
              <a:rPr sz="2000" dirty="0">
                <a:latin typeface="Consolas"/>
              </a:rPr>
              <a:t>    // Bei </a:t>
            </a:r>
            <a:r>
              <a:rPr sz="2000" dirty="0" err="1">
                <a:latin typeface="Consolas"/>
              </a:rPr>
              <a:t>nur</a:t>
            </a:r>
            <a:r>
              <a:rPr sz="2000" dirty="0">
                <a:latin typeface="Consolas"/>
              </a:rPr>
              <a:t> 10 Tarif-</a:t>
            </a:r>
            <a:r>
              <a:rPr sz="2000" dirty="0" err="1">
                <a:latin typeface="Consolas"/>
              </a:rPr>
              <a:t>Optionen</a:t>
            </a:r>
            <a:r>
              <a:rPr sz="2000" dirty="0">
                <a:latin typeface="Consolas"/>
              </a:rPr>
              <a:t> </a:t>
            </a:r>
            <a:r>
              <a:rPr sz="2000" dirty="0" err="1">
                <a:latin typeface="Consolas"/>
              </a:rPr>
              <a:t>entstehen</a:t>
            </a:r>
            <a:r>
              <a:rPr sz="2000" dirty="0">
                <a:latin typeface="Consolas"/>
              </a:rPr>
              <a:t> 1.024 Klassen!</a:t>
            </a:r>
          </a:p>
          <a:p>
            <a:r>
              <a:rPr sz="20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Code Smells </a:t>
            </a:r>
            <a:r>
              <a:rPr dirty="0" err="1"/>
              <a:t>identifiziert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dirty="0"/>
              <a:t>Klassen-Explosion: Bei n Features </a:t>
            </a:r>
            <a:r>
              <a:rPr dirty="0" err="1"/>
              <a:t>entstehen</a:t>
            </a:r>
            <a:r>
              <a:rPr dirty="0"/>
              <a:t> 2^n Klassen</a:t>
            </a:r>
          </a:p>
          <a:p>
            <a:pPr>
              <a:lnSpc>
                <a:spcPct val="150000"/>
              </a:lnSpc>
            </a:pPr>
            <a:r>
              <a:rPr dirty="0"/>
              <a:t>Code-</a:t>
            </a:r>
            <a:r>
              <a:rPr dirty="0" err="1"/>
              <a:t>Duplikation</a:t>
            </a:r>
            <a:r>
              <a:rPr dirty="0"/>
              <a:t>: Bugfixes </a:t>
            </a:r>
            <a:r>
              <a:rPr dirty="0" err="1"/>
              <a:t>müssen</a:t>
            </a:r>
            <a:r>
              <a:rPr dirty="0"/>
              <a:t> in </a:t>
            </a:r>
            <a:r>
              <a:rPr dirty="0" err="1"/>
              <a:t>hunderten</a:t>
            </a:r>
            <a:r>
              <a:rPr dirty="0"/>
              <a:t> Klassen </a:t>
            </a:r>
            <a:r>
              <a:rPr dirty="0" err="1"/>
              <a:t>repliziert</a:t>
            </a:r>
            <a:r>
              <a:rPr dirty="0"/>
              <a:t> </a:t>
            </a:r>
            <a:r>
              <a:rPr dirty="0" err="1"/>
              <a:t>werden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Open/Closed </a:t>
            </a:r>
            <a:r>
              <a:rPr dirty="0" err="1"/>
              <a:t>Verletzung</a:t>
            </a:r>
            <a:r>
              <a:rPr dirty="0"/>
              <a:t>: </a:t>
            </a:r>
            <a:r>
              <a:rPr dirty="0" err="1"/>
              <a:t>Jede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Option </a:t>
            </a:r>
            <a:r>
              <a:rPr dirty="0" err="1"/>
              <a:t>erfordert</a:t>
            </a:r>
            <a:r>
              <a:rPr dirty="0"/>
              <a:t> </a:t>
            </a:r>
            <a:r>
              <a:rPr dirty="0" err="1"/>
              <a:t>Dutzende</a:t>
            </a:r>
            <a:r>
              <a:rPr dirty="0"/>
              <a:t> </a:t>
            </a:r>
            <a:r>
              <a:rPr dirty="0" err="1"/>
              <a:t>neuer</a:t>
            </a:r>
            <a:r>
              <a:rPr dirty="0"/>
              <a:t> Klassen</a:t>
            </a:r>
          </a:p>
          <a:p>
            <a:pPr>
              <a:lnSpc>
                <a:spcPct val="150000"/>
              </a:lnSpc>
            </a:pPr>
            <a:r>
              <a:rPr dirty="0" err="1"/>
              <a:t>Wartungs-Alptraum</a:t>
            </a:r>
            <a:r>
              <a:rPr dirty="0"/>
              <a:t>: </a:t>
            </a:r>
            <a:r>
              <a:rPr dirty="0" err="1"/>
              <a:t>Änderungen</a:t>
            </a:r>
            <a:r>
              <a:rPr dirty="0"/>
              <a:t> </a:t>
            </a:r>
            <a:r>
              <a:rPr dirty="0" err="1"/>
              <a:t>propagieren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die </a:t>
            </a:r>
            <a:r>
              <a:rPr dirty="0" err="1"/>
              <a:t>gesamte</a:t>
            </a:r>
            <a:r>
              <a:rPr dirty="0"/>
              <a:t> </a:t>
            </a:r>
            <a:r>
              <a:rPr dirty="0" err="1"/>
              <a:t>Hierarchie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Kombinatorisches</a:t>
            </a:r>
            <a:r>
              <a:rPr dirty="0"/>
              <a:t> Problem: </a:t>
            </a:r>
            <a:r>
              <a:rPr dirty="0" err="1"/>
              <a:t>Unmöglich</a:t>
            </a:r>
            <a:r>
              <a:rPr dirty="0"/>
              <a:t> alle Feature-</a:t>
            </a:r>
            <a:r>
              <a:rPr dirty="0" err="1"/>
              <a:t>Kombinationen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modellieren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Tight Coupling: Features </a:t>
            </a:r>
            <a:r>
              <a:rPr dirty="0" err="1"/>
              <a:t>sind</a:t>
            </a:r>
            <a:r>
              <a:rPr dirty="0"/>
              <a:t> fest </a:t>
            </a:r>
            <a:r>
              <a:rPr dirty="0" err="1"/>
              <a:t>mit</a:t>
            </a:r>
            <a:r>
              <a:rPr dirty="0"/>
              <a:t> Basis-</a:t>
            </a:r>
            <a:r>
              <a:rPr dirty="0" err="1"/>
              <a:t>Implementierung</a:t>
            </a:r>
            <a:r>
              <a:rPr dirty="0"/>
              <a:t> </a:t>
            </a:r>
            <a:r>
              <a:rPr dirty="0" err="1"/>
              <a:t>gekoppelt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Inflexibilität</a:t>
            </a:r>
            <a:r>
              <a:rPr dirty="0"/>
              <a:t>: Keine </a:t>
            </a:r>
            <a:r>
              <a:rPr dirty="0" err="1"/>
              <a:t>zur-Laufzeit-Konfiguration</a:t>
            </a:r>
            <a:r>
              <a:rPr dirty="0"/>
              <a:t> von Features </a:t>
            </a:r>
            <a:r>
              <a:rPr dirty="0" err="1"/>
              <a:t>möglich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Lösung</a:t>
            </a:r>
            <a:r>
              <a:rPr dirty="0"/>
              <a:t>: Decorator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 err="1"/>
              <a:t>Komposition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Vererbung</a:t>
            </a:r>
            <a:r>
              <a:rPr dirty="0"/>
              <a:t>: </a:t>
            </a:r>
            <a:r>
              <a:rPr dirty="0" err="1"/>
              <a:t>Objekte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Laufzeit</a:t>
            </a:r>
            <a:r>
              <a:rPr dirty="0"/>
              <a:t> "</a:t>
            </a:r>
            <a:r>
              <a:rPr dirty="0" err="1"/>
              <a:t>umhüllen</a:t>
            </a:r>
            <a:r>
              <a:rPr dirty="0"/>
              <a:t>"</a:t>
            </a:r>
          </a:p>
          <a:p>
            <a:pPr>
              <a:lnSpc>
                <a:spcPct val="150000"/>
              </a:lnSpc>
            </a:pPr>
            <a:r>
              <a:rPr dirty="0" err="1"/>
              <a:t>Gemeinsame</a:t>
            </a:r>
            <a:r>
              <a:rPr dirty="0"/>
              <a:t> </a:t>
            </a:r>
            <a:r>
              <a:rPr dirty="0" err="1"/>
              <a:t>Schnittstelle</a:t>
            </a:r>
            <a:r>
              <a:rPr dirty="0"/>
              <a:t>: Component-Interface für </a:t>
            </a:r>
            <a:r>
              <a:rPr dirty="0" err="1"/>
              <a:t>einheitliche</a:t>
            </a:r>
            <a:r>
              <a:rPr dirty="0"/>
              <a:t> </a:t>
            </a:r>
            <a:r>
              <a:rPr dirty="0" err="1"/>
              <a:t>Behandlung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Transparente</a:t>
            </a:r>
            <a:r>
              <a:rPr dirty="0"/>
              <a:t> </a:t>
            </a:r>
            <a:r>
              <a:rPr dirty="0" err="1"/>
              <a:t>Erweiterung</a:t>
            </a:r>
            <a:r>
              <a:rPr dirty="0"/>
              <a:t>: Decorators </a:t>
            </a:r>
            <a:r>
              <a:rPr dirty="0" err="1"/>
              <a:t>sind</a:t>
            </a:r>
            <a:r>
              <a:rPr dirty="0"/>
              <a:t> für Clients </a:t>
            </a:r>
            <a:r>
              <a:rPr dirty="0" err="1"/>
              <a:t>unsichtbar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Beliebige</a:t>
            </a:r>
            <a:r>
              <a:rPr dirty="0"/>
              <a:t> </a:t>
            </a:r>
            <a:r>
              <a:rPr dirty="0" err="1"/>
              <a:t>Kombinierbarkeit</a:t>
            </a:r>
            <a:r>
              <a:rPr dirty="0"/>
              <a:t>: Features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flexibel</a:t>
            </a:r>
            <a:r>
              <a:rPr dirty="0"/>
              <a:t> </a:t>
            </a:r>
            <a:r>
              <a:rPr dirty="0" err="1"/>
              <a:t>kombiniert</a:t>
            </a:r>
            <a:r>
              <a:rPr dirty="0"/>
              <a:t> </a:t>
            </a:r>
            <a:r>
              <a:rPr dirty="0" err="1"/>
              <a:t>werden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Einzelne</a:t>
            </a:r>
            <a:r>
              <a:rPr dirty="0"/>
              <a:t> </a:t>
            </a:r>
            <a:r>
              <a:rPr dirty="0" err="1"/>
              <a:t>Verantwortung</a:t>
            </a:r>
            <a:r>
              <a:rPr dirty="0"/>
              <a:t>: </a:t>
            </a:r>
            <a:r>
              <a:rPr dirty="0" err="1"/>
              <a:t>Jeder</a:t>
            </a:r>
            <a:r>
              <a:rPr dirty="0"/>
              <a:t> Decorator </a:t>
            </a:r>
            <a:r>
              <a:rPr dirty="0" err="1"/>
              <a:t>fügt</a:t>
            </a:r>
            <a:r>
              <a:rPr dirty="0"/>
              <a:t> </a:t>
            </a:r>
            <a:r>
              <a:rPr dirty="0" err="1"/>
              <a:t>genau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Feature </a:t>
            </a:r>
            <a:r>
              <a:rPr dirty="0" err="1"/>
              <a:t>hinzu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Zur-</a:t>
            </a:r>
            <a:r>
              <a:rPr dirty="0" err="1"/>
              <a:t>Laufzeit</a:t>
            </a:r>
            <a:r>
              <a:rPr dirty="0"/>
              <a:t>-</a:t>
            </a:r>
            <a:r>
              <a:rPr dirty="0" err="1"/>
              <a:t>Konfiguration</a:t>
            </a:r>
            <a:r>
              <a:rPr dirty="0"/>
              <a:t>: </a:t>
            </a:r>
            <a:r>
              <a:rPr dirty="0" err="1"/>
              <a:t>Dynamische</a:t>
            </a:r>
            <a:r>
              <a:rPr dirty="0"/>
              <a:t> </a:t>
            </a:r>
            <a:r>
              <a:rPr dirty="0" err="1"/>
              <a:t>Objekt-Zusammensetzung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Template Method Integration: </a:t>
            </a:r>
            <a:r>
              <a:rPr dirty="0" err="1"/>
              <a:t>Abstraktes</a:t>
            </a:r>
            <a:r>
              <a:rPr dirty="0"/>
              <a:t> Decorator-</a:t>
            </a:r>
            <a:r>
              <a:rPr dirty="0" err="1"/>
              <a:t>Rückgrat</a:t>
            </a:r>
            <a:r>
              <a:rPr dirty="0"/>
              <a:t> für Standards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Implementierung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// </a:t>
            </a:r>
            <a:r>
              <a:rPr sz="2000" dirty="0" err="1">
                <a:latin typeface="Consolas"/>
              </a:rPr>
              <a:t>Gemeinsame</a:t>
            </a:r>
            <a:r>
              <a:rPr sz="2000" dirty="0">
                <a:latin typeface="Consolas"/>
              </a:rPr>
              <a:t> </a:t>
            </a:r>
            <a:r>
              <a:rPr sz="2000" dirty="0" err="1">
                <a:latin typeface="Consolas"/>
              </a:rPr>
              <a:t>Schnittstelle</a:t>
            </a:r>
            <a:endParaRPr sz="2000" dirty="0">
              <a:latin typeface="Consolas"/>
            </a:endParaRP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public interface </a:t>
            </a:r>
            <a:r>
              <a:rPr sz="2000" dirty="0" err="1">
                <a:latin typeface="Consolas"/>
              </a:rPr>
              <a:t>TariffService</a:t>
            </a:r>
            <a:r>
              <a:rPr sz="2000" dirty="0">
                <a:latin typeface="Consolas"/>
              </a:rPr>
              <a:t> {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</a:t>
            </a:r>
            <a:r>
              <a:rPr sz="2000" dirty="0" err="1">
                <a:latin typeface="Consolas"/>
              </a:rPr>
              <a:t>BigDecimal</a:t>
            </a:r>
            <a:r>
              <a:rPr sz="2000" dirty="0">
                <a:latin typeface="Consolas"/>
              </a:rPr>
              <a:t> </a:t>
            </a:r>
            <a:r>
              <a:rPr sz="2000" dirty="0" err="1">
                <a:latin typeface="Consolas"/>
              </a:rPr>
              <a:t>calculatePrice</a:t>
            </a:r>
            <a:r>
              <a:rPr sz="2000" dirty="0">
                <a:latin typeface="Consolas"/>
              </a:rPr>
              <a:t>();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Set </a:t>
            </a:r>
            <a:r>
              <a:rPr sz="2000" dirty="0" err="1">
                <a:latin typeface="Consolas"/>
              </a:rPr>
              <a:t>getFeatures</a:t>
            </a:r>
            <a:r>
              <a:rPr sz="2000" dirty="0">
                <a:latin typeface="Consolas"/>
              </a:rPr>
              <a:t>(); 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// </a:t>
            </a:r>
            <a:r>
              <a:rPr sz="2000" dirty="0" err="1">
                <a:latin typeface="Consolas"/>
              </a:rPr>
              <a:t>Abstrakter</a:t>
            </a:r>
            <a:r>
              <a:rPr sz="2000" dirty="0">
                <a:latin typeface="Consolas"/>
              </a:rPr>
              <a:t> Decorator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public abstract class </a:t>
            </a:r>
            <a:r>
              <a:rPr sz="2000" dirty="0" err="1">
                <a:latin typeface="Consolas"/>
              </a:rPr>
              <a:t>TariffDecorator</a:t>
            </a:r>
            <a:r>
              <a:rPr sz="2000" dirty="0">
                <a:latin typeface="Consolas"/>
              </a:rPr>
              <a:t> implements </a:t>
            </a:r>
            <a:r>
              <a:rPr sz="2000" dirty="0" err="1">
                <a:latin typeface="Consolas"/>
              </a:rPr>
              <a:t>TariffService</a:t>
            </a:r>
            <a:r>
              <a:rPr sz="2000" dirty="0">
                <a:latin typeface="Consolas"/>
              </a:rPr>
              <a:t> {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protected final </a:t>
            </a:r>
            <a:r>
              <a:rPr sz="2000" dirty="0" err="1">
                <a:latin typeface="Consolas"/>
              </a:rPr>
              <a:t>TariffService</a:t>
            </a:r>
            <a:r>
              <a:rPr sz="2000" dirty="0">
                <a:latin typeface="Consolas"/>
              </a:rPr>
              <a:t> </a:t>
            </a:r>
            <a:r>
              <a:rPr sz="2000" dirty="0" err="1">
                <a:latin typeface="Consolas"/>
              </a:rPr>
              <a:t>decoratedTariff</a:t>
            </a:r>
            <a:r>
              <a:rPr sz="2000" dirty="0">
                <a:latin typeface="Consolas"/>
              </a:rPr>
              <a:t>;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public </a:t>
            </a:r>
            <a:r>
              <a:rPr sz="2000" dirty="0" err="1">
                <a:latin typeface="Consolas"/>
              </a:rPr>
              <a:t>BigDecimal</a:t>
            </a:r>
            <a:r>
              <a:rPr sz="2000" dirty="0">
                <a:latin typeface="Consolas"/>
              </a:rPr>
              <a:t> </a:t>
            </a:r>
            <a:r>
              <a:rPr sz="2000" dirty="0" err="1">
                <a:latin typeface="Consolas"/>
              </a:rPr>
              <a:t>calculatePrice</a:t>
            </a:r>
            <a:r>
              <a:rPr sz="2000" dirty="0">
                <a:latin typeface="Consolas"/>
              </a:rPr>
              <a:t>() {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    return </a:t>
            </a:r>
            <a:r>
              <a:rPr sz="2000" dirty="0" err="1">
                <a:latin typeface="Consolas"/>
              </a:rPr>
              <a:t>decoratedTariff.calculatePrice</a:t>
            </a:r>
            <a:r>
              <a:rPr sz="2000" dirty="0">
                <a:latin typeface="Consolas"/>
              </a:rPr>
              <a:t>(); // Delegation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}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// </a:t>
            </a:r>
            <a:r>
              <a:rPr sz="2000" dirty="0" err="1">
                <a:latin typeface="Consolas"/>
              </a:rPr>
              <a:t>Konkreter</a:t>
            </a:r>
            <a:r>
              <a:rPr sz="2000" dirty="0">
                <a:latin typeface="Consolas"/>
              </a:rPr>
              <a:t> Decorator  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public class </a:t>
            </a:r>
            <a:r>
              <a:rPr sz="2000" dirty="0" err="1">
                <a:latin typeface="Consolas"/>
              </a:rPr>
              <a:t>DataOptionDecorator</a:t>
            </a:r>
            <a:r>
              <a:rPr sz="2000" dirty="0">
                <a:latin typeface="Consolas"/>
              </a:rPr>
              <a:t> extends </a:t>
            </a:r>
            <a:r>
              <a:rPr sz="2000" dirty="0" err="1">
                <a:latin typeface="Consolas"/>
              </a:rPr>
              <a:t>TariffDecorator</a:t>
            </a:r>
            <a:r>
              <a:rPr sz="2000" dirty="0">
                <a:latin typeface="Consolas"/>
              </a:rPr>
              <a:t> {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private final </a:t>
            </a:r>
            <a:r>
              <a:rPr sz="2000" dirty="0" err="1">
                <a:latin typeface="Consolas"/>
              </a:rPr>
              <a:t>BigDecimal</a:t>
            </a:r>
            <a:r>
              <a:rPr sz="2000" dirty="0">
                <a:latin typeface="Consolas"/>
              </a:rPr>
              <a:t> </a:t>
            </a:r>
            <a:r>
              <a:rPr sz="2000" dirty="0" err="1">
                <a:latin typeface="Consolas"/>
              </a:rPr>
              <a:t>dataPrice</a:t>
            </a:r>
            <a:r>
              <a:rPr sz="2000" dirty="0">
                <a:latin typeface="Consolas"/>
              </a:rPr>
              <a:t>;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@Override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public </a:t>
            </a:r>
            <a:r>
              <a:rPr sz="2000" dirty="0" err="1">
                <a:latin typeface="Consolas"/>
              </a:rPr>
              <a:t>BigDecimal</a:t>
            </a:r>
            <a:r>
              <a:rPr sz="2000" dirty="0">
                <a:latin typeface="Consolas"/>
              </a:rPr>
              <a:t> </a:t>
            </a:r>
            <a:r>
              <a:rPr sz="2000" dirty="0" err="1">
                <a:latin typeface="Consolas"/>
              </a:rPr>
              <a:t>calculatePrice</a:t>
            </a:r>
            <a:r>
              <a:rPr sz="2000" dirty="0">
                <a:latin typeface="Consolas"/>
              </a:rPr>
              <a:t>() {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    return </a:t>
            </a:r>
            <a:r>
              <a:rPr sz="2000" dirty="0" err="1">
                <a:latin typeface="Consolas"/>
              </a:rPr>
              <a:t>super.calculatePrice</a:t>
            </a:r>
            <a:r>
              <a:rPr sz="2000" dirty="0">
                <a:latin typeface="Consolas"/>
              </a:rPr>
              <a:t>().add(</a:t>
            </a:r>
            <a:r>
              <a:rPr sz="2000" dirty="0" err="1">
                <a:latin typeface="Consolas"/>
              </a:rPr>
              <a:t>dataPrice</a:t>
            </a:r>
            <a:r>
              <a:rPr sz="2000" dirty="0">
                <a:latin typeface="Consolas"/>
              </a:rPr>
              <a:t>); // </a:t>
            </a:r>
            <a:r>
              <a:rPr sz="2000" dirty="0" err="1">
                <a:latin typeface="Consolas"/>
              </a:rPr>
              <a:t>Erweiterung</a:t>
            </a:r>
            <a:endParaRPr sz="2000" dirty="0">
              <a:latin typeface="Consolas"/>
            </a:endParaRP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}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hier schlecht?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public class </a:t>
            </a:r>
            <a:r>
              <a:rPr sz="2000" dirty="0" err="1">
                <a:latin typeface="Consolas"/>
              </a:rPr>
              <a:t>TariffService</a:t>
            </a:r>
            <a:r>
              <a:rPr sz="2000" dirty="0">
                <a:latin typeface="Consolas"/>
              </a:rPr>
              <a:t> {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public void </a:t>
            </a:r>
            <a:r>
              <a:rPr sz="2000" dirty="0" err="1">
                <a:latin typeface="Consolas"/>
              </a:rPr>
              <a:t>processOrder</a:t>
            </a:r>
            <a:r>
              <a:rPr sz="2000" dirty="0">
                <a:latin typeface="Consolas"/>
              </a:rPr>
              <a:t>(Object tariff) {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    if (tariff </a:t>
            </a:r>
            <a:r>
              <a:rPr sz="2000" dirty="0" err="1">
                <a:latin typeface="Consolas"/>
              </a:rPr>
              <a:t>instanceof</a:t>
            </a:r>
            <a:r>
              <a:rPr sz="2000" dirty="0">
                <a:latin typeface="Consolas"/>
              </a:rPr>
              <a:t> </a:t>
            </a:r>
            <a:r>
              <a:rPr sz="2000" dirty="0" err="1">
                <a:latin typeface="Consolas"/>
              </a:rPr>
              <a:t>IndividualTariff</a:t>
            </a:r>
            <a:r>
              <a:rPr sz="2000" dirty="0">
                <a:latin typeface="Consolas"/>
              </a:rPr>
              <a:t>) {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        </a:t>
            </a:r>
            <a:r>
              <a:rPr sz="2000" dirty="0" err="1">
                <a:latin typeface="Consolas"/>
              </a:rPr>
              <a:t>IndividualTariff</a:t>
            </a:r>
            <a:r>
              <a:rPr sz="2000" dirty="0">
                <a:latin typeface="Consolas"/>
              </a:rPr>
              <a:t> individual = (</a:t>
            </a:r>
            <a:r>
              <a:rPr sz="2000" dirty="0" err="1">
                <a:latin typeface="Consolas"/>
              </a:rPr>
              <a:t>IndividualTariff</a:t>
            </a:r>
            <a:r>
              <a:rPr sz="2000" dirty="0">
                <a:latin typeface="Consolas"/>
              </a:rPr>
              <a:t>) tariff;</a:t>
            </a:r>
          </a:p>
          <a:p>
            <a:pPr>
              <a:spcBef>
                <a:spcPts val="0"/>
              </a:spcBef>
            </a:pPr>
            <a:r>
              <a:rPr lang="de-DE" sz="2000" dirty="0">
                <a:latin typeface="Consolas"/>
              </a:rPr>
              <a:t>        </a:t>
            </a:r>
            <a:r>
              <a:rPr sz="2000" dirty="0">
                <a:latin typeface="Consolas"/>
              </a:rPr>
              <a:t>} else if (tariff </a:t>
            </a:r>
            <a:r>
              <a:rPr sz="2000" dirty="0" err="1">
                <a:latin typeface="Consolas"/>
              </a:rPr>
              <a:t>instanceof</a:t>
            </a:r>
            <a:r>
              <a:rPr sz="2000" dirty="0">
                <a:latin typeface="Consolas"/>
              </a:rPr>
              <a:t> </a:t>
            </a:r>
            <a:r>
              <a:rPr sz="2000" dirty="0" err="1">
                <a:latin typeface="Consolas"/>
              </a:rPr>
              <a:t>FamilyTariff</a:t>
            </a:r>
            <a:r>
              <a:rPr sz="2000" dirty="0">
                <a:latin typeface="Consolas"/>
              </a:rPr>
              <a:t>) {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        </a:t>
            </a:r>
            <a:r>
              <a:rPr sz="2000" dirty="0" err="1">
                <a:latin typeface="Consolas"/>
              </a:rPr>
              <a:t>FamilyTariff</a:t>
            </a:r>
            <a:r>
              <a:rPr sz="2000" dirty="0">
                <a:latin typeface="Consolas"/>
              </a:rPr>
              <a:t> family = (</a:t>
            </a:r>
            <a:r>
              <a:rPr sz="2000" dirty="0" err="1">
                <a:latin typeface="Consolas"/>
              </a:rPr>
              <a:t>FamilyTariff</a:t>
            </a:r>
            <a:r>
              <a:rPr sz="2000" dirty="0">
                <a:latin typeface="Consolas"/>
              </a:rPr>
              <a:t>) tariff;</a:t>
            </a:r>
          </a:p>
          <a:p>
            <a:pPr>
              <a:spcBef>
                <a:spcPts val="0"/>
              </a:spcBef>
            </a:pPr>
            <a:r>
              <a:rPr lang="de-DE" sz="2000" dirty="0">
                <a:latin typeface="Consolas"/>
              </a:rPr>
              <a:t>            </a:t>
            </a:r>
            <a:r>
              <a:rPr sz="2000" dirty="0">
                <a:latin typeface="Consolas"/>
              </a:rPr>
              <a:t>for (</a:t>
            </a:r>
            <a:r>
              <a:rPr sz="2000" dirty="0" err="1">
                <a:latin typeface="Consolas"/>
              </a:rPr>
              <a:t>IndividualTariff</a:t>
            </a:r>
            <a:r>
              <a:rPr sz="2000" dirty="0">
                <a:latin typeface="Consolas"/>
              </a:rPr>
              <a:t> member : </a:t>
            </a:r>
            <a:r>
              <a:rPr sz="2000" dirty="0" err="1">
                <a:latin typeface="Consolas"/>
              </a:rPr>
              <a:t>family.getMembers</a:t>
            </a:r>
            <a:r>
              <a:rPr sz="2000" dirty="0">
                <a:latin typeface="Consolas"/>
              </a:rPr>
              <a:t>()) {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            // </a:t>
            </a:r>
            <a:r>
              <a:rPr sz="2000" dirty="0" err="1">
                <a:latin typeface="Consolas"/>
              </a:rPr>
              <a:t>Rekursive</a:t>
            </a:r>
            <a:r>
              <a:rPr sz="2000" dirty="0">
                <a:latin typeface="Consolas"/>
              </a:rPr>
              <a:t> </a:t>
            </a:r>
            <a:r>
              <a:rPr sz="2000" dirty="0" err="1">
                <a:latin typeface="Consolas"/>
              </a:rPr>
              <a:t>Verarbeitung</a:t>
            </a:r>
            <a:r>
              <a:rPr sz="2000" dirty="0">
                <a:latin typeface="Consolas"/>
              </a:rPr>
              <a:t>...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        }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        }</a:t>
            </a:r>
            <a:br>
              <a:rPr lang="de-DE" sz="2000" dirty="0">
                <a:latin typeface="Consolas"/>
              </a:rPr>
            </a:br>
            <a:r>
              <a:rPr lang="de-DE" sz="2000" dirty="0">
                <a:latin typeface="Consolas"/>
              </a:rPr>
              <a:t>  </a:t>
            </a:r>
            <a:r>
              <a:rPr sz="2000" dirty="0">
                <a:latin typeface="Consolas"/>
              </a:rPr>
              <a:t> }</a:t>
            </a:r>
          </a:p>
          <a:p>
            <a:pPr>
              <a:spcBef>
                <a:spcPts val="0"/>
              </a:spcBef>
            </a:pPr>
            <a:r>
              <a:rPr sz="20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Code Smells </a:t>
            </a:r>
            <a:r>
              <a:rPr dirty="0" err="1"/>
              <a:t>identifiziert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/>
              <a:t>Type-Checking Nightmare: </a:t>
            </a:r>
            <a:r>
              <a:rPr dirty="0" err="1"/>
              <a:t>Instanceof</a:t>
            </a:r>
            <a:r>
              <a:rPr dirty="0"/>
              <a:t>-Checks </a:t>
            </a:r>
            <a:r>
              <a:rPr dirty="0" err="1"/>
              <a:t>überall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Code</a:t>
            </a:r>
          </a:p>
          <a:p>
            <a:pPr>
              <a:lnSpc>
                <a:spcPct val="150000"/>
              </a:lnSpc>
            </a:pPr>
            <a:r>
              <a:rPr dirty="0" err="1"/>
              <a:t>Rekursive</a:t>
            </a:r>
            <a:r>
              <a:rPr dirty="0"/>
              <a:t> Logik-</a:t>
            </a:r>
            <a:r>
              <a:rPr dirty="0" err="1"/>
              <a:t>Duplikation</a:t>
            </a:r>
            <a:r>
              <a:rPr dirty="0"/>
              <a:t>: </a:t>
            </a:r>
            <a:r>
              <a:rPr dirty="0" err="1"/>
              <a:t>Gleiche</a:t>
            </a:r>
            <a:r>
              <a:rPr dirty="0"/>
              <a:t> </a:t>
            </a:r>
            <a:r>
              <a:rPr dirty="0" err="1"/>
              <a:t>Traversierung</a:t>
            </a:r>
            <a:r>
              <a:rPr dirty="0"/>
              <a:t> in </a:t>
            </a:r>
            <a:r>
              <a:rPr dirty="0" err="1"/>
              <a:t>jeder</a:t>
            </a:r>
            <a:r>
              <a:rPr dirty="0"/>
              <a:t> Methode</a:t>
            </a:r>
          </a:p>
          <a:p>
            <a:pPr>
              <a:lnSpc>
                <a:spcPct val="150000"/>
              </a:lnSpc>
            </a:pPr>
            <a:r>
              <a:rPr dirty="0" err="1"/>
              <a:t>Kombinatorische</a:t>
            </a:r>
            <a:r>
              <a:rPr dirty="0"/>
              <a:t> Explosion: Neue Tarif-Typen = </a:t>
            </a:r>
            <a:r>
              <a:rPr dirty="0" err="1"/>
              <a:t>neue</a:t>
            </a:r>
            <a:r>
              <a:rPr dirty="0"/>
              <a:t> If-</a:t>
            </a:r>
            <a:r>
              <a:rPr dirty="0" err="1"/>
              <a:t>Zweige</a:t>
            </a:r>
            <a:r>
              <a:rPr dirty="0"/>
              <a:t> </a:t>
            </a:r>
            <a:r>
              <a:rPr dirty="0" err="1"/>
              <a:t>überall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Client-</a:t>
            </a:r>
            <a:r>
              <a:rPr dirty="0" err="1"/>
              <a:t>Komplexität</a:t>
            </a:r>
            <a:r>
              <a:rPr dirty="0"/>
              <a:t>: Clients </a:t>
            </a:r>
            <a:r>
              <a:rPr dirty="0" err="1"/>
              <a:t>müssen</a:t>
            </a:r>
            <a:r>
              <a:rPr dirty="0"/>
              <a:t> alle Tarif-Typen </a:t>
            </a:r>
            <a:r>
              <a:rPr dirty="0" err="1"/>
              <a:t>kennen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Tight Coupling: Client-Code </a:t>
            </a:r>
            <a:r>
              <a:rPr dirty="0" err="1"/>
              <a:t>gekoppelt</a:t>
            </a:r>
            <a:r>
              <a:rPr dirty="0"/>
              <a:t> an </a:t>
            </a:r>
            <a:r>
              <a:rPr dirty="0" err="1"/>
              <a:t>konkrete</a:t>
            </a:r>
            <a:r>
              <a:rPr dirty="0"/>
              <a:t> Tarif-Typen</a:t>
            </a:r>
          </a:p>
          <a:p>
            <a:pPr>
              <a:lnSpc>
                <a:spcPct val="150000"/>
              </a:lnSpc>
            </a:pPr>
            <a:r>
              <a:rPr dirty="0" err="1"/>
              <a:t>Inkonsistente</a:t>
            </a:r>
            <a:r>
              <a:rPr dirty="0"/>
              <a:t> </a:t>
            </a:r>
            <a:r>
              <a:rPr dirty="0" err="1"/>
              <a:t>Behandlung</a:t>
            </a:r>
            <a:r>
              <a:rPr dirty="0"/>
              <a:t>: </a:t>
            </a:r>
            <a:r>
              <a:rPr dirty="0" err="1"/>
              <a:t>Verschiedene</a:t>
            </a:r>
            <a:r>
              <a:rPr dirty="0"/>
              <a:t> Logik für </a:t>
            </a:r>
            <a:r>
              <a:rPr dirty="0" err="1"/>
              <a:t>ähnliche</a:t>
            </a:r>
            <a:r>
              <a:rPr dirty="0"/>
              <a:t> </a:t>
            </a:r>
            <a:r>
              <a:rPr dirty="0" err="1"/>
              <a:t>Operationen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Schwer </a:t>
            </a:r>
            <a:r>
              <a:rPr dirty="0" err="1"/>
              <a:t>erweiterbar</a:t>
            </a:r>
            <a:r>
              <a:rPr dirty="0"/>
              <a:t>: Neue </a:t>
            </a:r>
            <a:r>
              <a:rPr dirty="0" err="1"/>
              <a:t>Hierarchie-Ebenen</a:t>
            </a:r>
            <a:r>
              <a:rPr dirty="0"/>
              <a:t> = massive Code-</a:t>
            </a:r>
            <a:r>
              <a:rPr dirty="0" err="1"/>
              <a:t>Änderungen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Lösung</a:t>
            </a:r>
            <a:r>
              <a:rPr dirty="0"/>
              <a:t>: Composite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 err="1"/>
              <a:t>Einheitliche</a:t>
            </a:r>
            <a:r>
              <a:rPr dirty="0"/>
              <a:t> </a:t>
            </a:r>
            <a:r>
              <a:rPr dirty="0" err="1"/>
              <a:t>Behandlung</a:t>
            </a:r>
            <a:r>
              <a:rPr dirty="0"/>
              <a:t>: </a:t>
            </a:r>
            <a:r>
              <a:rPr dirty="0" err="1"/>
              <a:t>Einzelobjekte</a:t>
            </a:r>
            <a:r>
              <a:rPr dirty="0"/>
              <a:t> und </a:t>
            </a:r>
            <a:r>
              <a:rPr dirty="0" err="1"/>
              <a:t>Sammlungen</a:t>
            </a:r>
            <a:r>
              <a:rPr dirty="0"/>
              <a:t> </a:t>
            </a:r>
            <a:r>
              <a:rPr dirty="0" err="1"/>
              <a:t>identisch</a:t>
            </a:r>
            <a:r>
              <a:rPr dirty="0"/>
              <a:t> </a:t>
            </a:r>
            <a:r>
              <a:rPr dirty="0" err="1"/>
              <a:t>behandeln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Rekursive</a:t>
            </a:r>
            <a:r>
              <a:rPr dirty="0"/>
              <a:t> </a:t>
            </a:r>
            <a:r>
              <a:rPr dirty="0" err="1"/>
              <a:t>Struktur</a:t>
            </a:r>
            <a:r>
              <a:rPr dirty="0"/>
              <a:t>: Composites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andere</a:t>
            </a:r>
            <a:r>
              <a:rPr dirty="0"/>
              <a:t> Composites </a:t>
            </a:r>
            <a:r>
              <a:rPr dirty="0" err="1"/>
              <a:t>enthalten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Transparenz</a:t>
            </a:r>
            <a:r>
              <a:rPr dirty="0"/>
              <a:t> für Client: Client </a:t>
            </a:r>
            <a:r>
              <a:rPr dirty="0" err="1"/>
              <a:t>arbeitet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Component-Interface</a:t>
            </a:r>
          </a:p>
          <a:p>
            <a:pPr>
              <a:lnSpc>
                <a:spcPct val="150000"/>
              </a:lnSpc>
            </a:pPr>
            <a:r>
              <a:rPr dirty="0" err="1"/>
              <a:t>Natürliche</a:t>
            </a:r>
            <a:r>
              <a:rPr dirty="0"/>
              <a:t> </a:t>
            </a:r>
            <a:r>
              <a:rPr dirty="0" err="1"/>
              <a:t>Hierarchie-Abbildung</a:t>
            </a:r>
            <a:r>
              <a:rPr dirty="0"/>
              <a:t>: Teil-</a:t>
            </a:r>
            <a:r>
              <a:rPr dirty="0" err="1"/>
              <a:t>Ganzes</a:t>
            </a:r>
            <a:r>
              <a:rPr dirty="0"/>
              <a:t>-</a:t>
            </a:r>
            <a:r>
              <a:rPr dirty="0" err="1"/>
              <a:t>Beziehungen</a:t>
            </a:r>
            <a:r>
              <a:rPr dirty="0"/>
              <a:t> elegant </a:t>
            </a:r>
            <a:r>
              <a:rPr dirty="0" err="1"/>
              <a:t>modelliert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Liskov</a:t>
            </a:r>
            <a:r>
              <a:rPr dirty="0"/>
              <a:t> Substitution: Blätter und </a:t>
            </a:r>
            <a:r>
              <a:rPr dirty="0" err="1"/>
              <a:t>Äste</a:t>
            </a:r>
            <a:r>
              <a:rPr dirty="0"/>
              <a:t> </a:t>
            </a:r>
            <a:r>
              <a:rPr dirty="0" err="1"/>
              <a:t>vollständig</a:t>
            </a:r>
            <a:r>
              <a:rPr dirty="0"/>
              <a:t> </a:t>
            </a:r>
            <a:r>
              <a:rPr dirty="0" err="1"/>
              <a:t>austauschbar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Funktionale</a:t>
            </a:r>
            <a:r>
              <a:rPr dirty="0"/>
              <a:t> Aggregation: Stream-API </a:t>
            </a:r>
            <a:r>
              <a:rPr dirty="0" err="1"/>
              <a:t>macht</a:t>
            </a:r>
            <a:r>
              <a:rPr dirty="0"/>
              <a:t> </a:t>
            </a:r>
            <a:r>
              <a:rPr dirty="0" err="1"/>
              <a:t>Traversierung</a:t>
            </a:r>
            <a:r>
              <a:rPr dirty="0"/>
              <a:t> elegant</a:t>
            </a:r>
          </a:p>
          <a:p>
            <a:pPr>
              <a:lnSpc>
                <a:spcPct val="150000"/>
              </a:lnSpc>
            </a:pPr>
            <a:r>
              <a:rPr dirty="0"/>
              <a:t>Strategy Pattern Integration: Gruppen-</a:t>
            </a:r>
            <a:r>
              <a:rPr dirty="0" err="1"/>
              <a:t>Rabatte</a:t>
            </a:r>
            <a:r>
              <a:rPr dirty="0"/>
              <a:t> </a:t>
            </a:r>
            <a:r>
              <a:rPr dirty="0" err="1"/>
              <a:t>bleiben</a:t>
            </a:r>
            <a:r>
              <a:rPr dirty="0"/>
              <a:t> </a:t>
            </a:r>
            <a:r>
              <a:rPr dirty="0" err="1"/>
              <a:t>austauschbar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Implementierung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// Component-Interface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public interface </a:t>
            </a:r>
            <a:r>
              <a:rPr sz="1800" dirty="0" err="1">
                <a:latin typeface="Consolas"/>
              </a:rPr>
              <a:t>TariffComponent</a:t>
            </a:r>
            <a:r>
              <a:rPr sz="1800" dirty="0">
                <a:latin typeface="Consolas"/>
              </a:rPr>
              <a:t> {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</a:t>
            </a:r>
            <a:r>
              <a:rPr sz="1800" dirty="0" err="1">
                <a:latin typeface="Consolas"/>
              </a:rPr>
              <a:t>BigDecimal</a:t>
            </a:r>
            <a:r>
              <a:rPr sz="1800" dirty="0">
                <a:latin typeface="Consolas"/>
              </a:rPr>
              <a:t> </a:t>
            </a:r>
            <a:r>
              <a:rPr sz="1800" dirty="0" err="1">
                <a:latin typeface="Consolas"/>
              </a:rPr>
              <a:t>calculateTotalPrice</a:t>
            </a:r>
            <a:r>
              <a:rPr sz="1800" dirty="0">
                <a:latin typeface="Consolas"/>
              </a:rPr>
              <a:t>();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List </a:t>
            </a:r>
            <a:r>
              <a:rPr sz="1800" dirty="0" err="1">
                <a:latin typeface="Consolas"/>
              </a:rPr>
              <a:t>getAllFeatures</a:t>
            </a:r>
            <a:r>
              <a:rPr sz="1800" dirty="0">
                <a:latin typeface="Consolas"/>
              </a:rPr>
              <a:t>();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int </a:t>
            </a:r>
            <a:r>
              <a:rPr sz="1800" dirty="0" err="1">
                <a:latin typeface="Consolas"/>
              </a:rPr>
              <a:t>getContractCount</a:t>
            </a:r>
            <a:r>
              <a:rPr sz="1800" dirty="0">
                <a:latin typeface="Consolas"/>
              </a:rPr>
              <a:t>();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}</a:t>
            </a:r>
            <a:br>
              <a:rPr lang="de-DE" sz="1800" dirty="0">
                <a:latin typeface="Consolas"/>
              </a:rPr>
            </a:br>
            <a:endParaRPr sz="1800" dirty="0">
              <a:latin typeface="Consolas"/>
            </a:endParaRP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// Composite-</a:t>
            </a:r>
            <a:r>
              <a:rPr sz="1800" dirty="0" err="1">
                <a:latin typeface="Consolas"/>
              </a:rPr>
              <a:t>Implementierung</a:t>
            </a:r>
            <a:endParaRPr sz="1800" dirty="0">
              <a:latin typeface="Consolas"/>
            </a:endParaRP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public class </a:t>
            </a:r>
            <a:r>
              <a:rPr sz="1800" dirty="0" err="1">
                <a:latin typeface="Consolas"/>
              </a:rPr>
              <a:t>TariffGroup</a:t>
            </a:r>
            <a:r>
              <a:rPr sz="1800" dirty="0">
                <a:latin typeface="Consolas"/>
              </a:rPr>
              <a:t> implements </a:t>
            </a:r>
            <a:r>
              <a:rPr sz="1800" dirty="0" err="1">
                <a:latin typeface="Consolas"/>
              </a:rPr>
              <a:t>TariffComponent</a:t>
            </a:r>
            <a:r>
              <a:rPr sz="1800" dirty="0">
                <a:latin typeface="Consolas"/>
              </a:rPr>
              <a:t> {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private final List children = new </a:t>
            </a:r>
            <a:r>
              <a:rPr sz="1800" dirty="0" err="1">
                <a:latin typeface="Consolas"/>
              </a:rPr>
              <a:t>ArrayList</a:t>
            </a:r>
            <a:r>
              <a:rPr sz="1800" dirty="0">
                <a:latin typeface="Consolas"/>
              </a:rPr>
              <a:t>&lt;&gt;();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public </a:t>
            </a:r>
            <a:r>
              <a:rPr sz="1800" dirty="0" err="1">
                <a:latin typeface="Consolas"/>
              </a:rPr>
              <a:t>BigDecimal</a:t>
            </a:r>
            <a:r>
              <a:rPr sz="1800" dirty="0">
                <a:latin typeface="Consolas"/>
              </a:rPr>
              <a:t> </a:t>
            </a:r>
            <a:r>
              <a:rPr sz="1800" dirty="0" err="1">
                <a:latin typeface="Consolas"/>
              </a:rPr>
              <a:t>calculateTotalPrice</a:t>
            </a:r>
            <a:r>
              <a:rPr sz="1800" dirty="0">
                <a:latin typeface="Consolas"/>
              </a:rPr>
              <a:t>() {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    </a:t>
            </a:r>
            <a:r>
              <a:rPr sz="1800" dirty="0" err="1">
                <a:latin typeface="Consolas"/>
              </a:rPr>
              <a:t>BigDecimal</a:t>
            </a:r>
            <a:r>
              <a:rPr sz="1800" dirty="0">
                <a:latin typeface="Consolas"/>
              </a:rPr>
              <a:t> total = </a:t>
            </a:r>
            <a:r>
              <a:rPr sz="1800" dirty="0" err="1">
                <a:latin typeface="Consolas"/>
              </a:rPr>
              <a:t>children.stream</a:t>
            </a:r>
            <a:r>
              <a:rPr sz="1800" dirty="0">
                <a:latin typeface="Consolas"/>
              </a:rPr>
              <a:t>()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        .map(</a:t>
            </a:r>
            <a:r>
              <a:rPr sz="1800" dirty="0" err="1">
                <a:latin typeface="Consolas"/>
              </a:rPr>
              <a:t>TariffComponent</a:t>
            </a:r>
            <a:r>
              <a:rPr sz="1800" dirty="0">
                <a:latin typeface="Consolas"/>
              </a:rPr>
              <a:t>::</a:t>
            </a:r>
            <a:r>
              <a:rPr sz="1800" dirty="0" err="1">
                <a:latin typeface="Consolas"/>
              </a:rPr>
              <a:t>calculateTotalPrice</a:t>
            </a:r>
            <a:r>
              <a:rPr sz="1800" dirty="0">
                <a:latin typeface="Consolas"/>
              </a:rPr>
              <a:t>)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        .reduce(</a:t>
            </a:r>
            <a:r>
              <a:rPr sz="1800" dirty="0" err="1">
                <a:latin typeface="Consolas"/>
              </a:rPr>
              <a:t>BigDecimal.ZERO</a:t>
            </a:r>
            <a:r>
              <a:rPr sz="1800" dirty="0">
                <a:latin typeface="Consolas"/>
              </a:rPr>
              <a:t>, </a:t>
            </a:r>
            <a:r>
              <a:rPr sz="1800" dirty="0" err="1">
                <a:latin typeface="Consolas"/>
              </a:rPr>
              <a:t>BigDecimal</a:t>
            </a:r>
            <a:r>
              <a:rPr sz="1800" dirty="0">
                <a:latin typeface="Consolas"/>
              </a:rPr>
              <a:t>::add);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    return </a:t>
            </a:r>
            <a:r>
              <a:rPr sz="1800" dirty="0" err="1">
                <a:latin typeface="Consolas"/>
              </a:rPr>
              <a:t>discountStrategy.applyGroupDiscount</a:t>
            </a:r>
            <a:r>
              <a:rPr sz="1800" dirty="0">
                <a:latin typeface="Consolas"/>
              </a:rPr>
              <a:t>(total);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}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public int </a:t>
            </a:r>
            <a:r>
              <a:rPr sz="1800" dirty="0" err="1">
                <a:latin typeface="Consolas"/>
              </a:rPr>
              <a:t>getContractCount</a:t>
            </a:r>
            <a:r>
              <a:rPr sz="1800" dirty="0">
                <a:latin typeface="Consolas"/>
              </a:rPr>
              <a:t>() {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    return </a:t>
            </a:r>
            <a:r>
              <a:rPr sz="1800" dirty="0" err="1">
                <a:latin typeface="Consolas"/>
              </a:rPr>
              <a:t>children.stream</a:t>
            </a:r>
            <a:r>
              <a:rPr sz="1800" dirty="0">
                <a:latin typeface="Consolas"/>
              </a:rPr>
              <a:t>()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        .</a:t>
            </a:r>
            <a:r>
              <a:rPr sz="1800" dirty="0" err="1">
                <a:latin typeface="Consolas"/>
              </a:rPr>
              <a:t>mapToInt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TariffComponent</a:t>
            </a:r>
            <a:r>
              <a:rPr sz="1800" dirty="0">
                <a:latin typeface="Consolas"/>
              </a:rPr>
              <a:t>::</a:t>
            </a:r>
            <a:r>
              <a:rPr sz="1800" dirty="0" err="1">
                <a:latin typeface="Consolas"/>
              </a:rPr>
              <a:t>getContractCount</a:t>
            </a:r>
            <a:r>
              <a:rPr sz="1800" dirty="0">
                <a:latin typeface="Consolas"/>
              </a:rPr>
              <a:t>)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        .sum(); // </a:t>
            </a:r>
            <a:r>
              <a:rPr sz="1800" dirty="0" err="1">
                <a:latin typeface="Consolas"/>
              </a:rPr>
              <a:t>Rekursive</a:t>
            </a:r>
            <a:r>
              <a:rPr sz="1800" dirty="0">
                <a:latin typeface="Consolas"/>
              </a:rPr>
              <a:t> Aggregation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    }</a:t>
            </a:r>
          </a:p>
          <a:p>
            <a:pPr>
              <a:spcBef>
                <a:spcPts val="0"/>
              </a:spcBef>
            </a:pPr>
            <a:r>
              <a:rPr sz="18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Facade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1400">
                <a:latin typeface="Consolas"/>
              </a:rPr>
              <a:t>// Client-Albtraum: 15+ Service-Abhängigkeiten</a:t>
            </a:r>
          </a:p>
          <a:p>
            <a:r>
              <a:rPr sz="1400">
                <a:latin typeface="Consolas"/>
              </a:rPr>
              <a:t>public class TariffOrderClient {</a:t>
            </a:r>
          </a:p>
          <a:p>
            <a:r>
              <a:rPr sz="1400">
                <a:latin typeface="Consolas"/>
              </a:rPr>
              <a:t>    private TariffValidationService validation;</a:t>
            </a:r>
          </a:p>
          <a:p>
            <a:r>
              <a:rPr sz="1400">
                <a:latin typeface="Consolas"/>
              </a:rPr>
              <a:t>    private CustomerCreditCheckService creditCheck;</a:t>
            </a:r>
          </a:p>
          <a:p>
            <a:r>
              <a:rPr sz="1400">
                <a:latin typeface="Consolas"/>
              </a:rPr>
              <a:t>    private PricingService pricing;</a:t>
            </a:r>
          </a:p>
          <a:p>
            <a:r>
              <a:rPr sz="1400">
                <a:latin typeface="Consolas"/>
              </a:rPr>
              <a:t>    private InventoryService inventory;</a:t>
            </a:r>
          </a:p>
          <a:p>
            <a:r>
              <a:rPr sz="1400">
                <a:latin typeface="Consolas"/>
              </a:rPr>
              <a:t>    private NotificationService notification;</a:t>
            </a:r>
          </a:p>
          <a:p>
            <a:r>
              <a:rPr sz="1400">
                <a:latin typeface="Consolas"/>
              </a:rPr>
              <a:t>    // ... 10 weitere Services</a:t>
            </a:r>
          </a:p>
          <a:p>
            <a:r>
              <a:rPr sz="1400">
                <a:latin typeface="Consolas"/>
              </a:rPr>
              <a:t>    public void createOrder(TariffRequest request) {</a:t>
            </a:r>
          </a:p>
          <a:p>
            <a:r>
              <a:rPr sz="1400">
                <a:latin typeface="Consolas"/>
              </a:rPr>
              <a:t>        // 50+ Zeilen Orchestrierung</a:t>
            </a:r>
          </a:p>
          <a:p>
            <a:r>
              <a:rPr sz="1400">
                <a:latin typeface="Consolas"/>
              </a:rPr>
              <a:t>        if (validation.check() &amp;&amp; creditCheck.approve() &amp;&amp; </a:t>
            </a:r>
          </a:p>
          <a:p>
            <a:r>
              <a:rPr sz="1400">
                <a:latin typeface="Consolas"/>
              </a:rPr>
              <a:t>            pricing.calculate() &amp;&amp; inventory.reserve()) {</a:t>
            </a:r>
          </a:p>
          <a:p>
            <a:r>
              <a:rPr sz="1400">
                <a:latin typeface="Consolas"/>
              </a:rPr>
              <a:t>            // Komplexe If-Verschachtelung</a:t>
            </a:r>
          </a:p>
          <a:p>
            <a:r>
              <a:rPr sz="1400">
                <a:latin typeface="Consolas"/>
              </a:rPr>
              <a:t>        }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Abhängigkeits-Explosion**: Client kennt 15+ Services intimement</a:t>
            </a:r>
          </a:p>
          <a:p>
            <a:r>
              <a:t>Orchestrierungs-Komplexität**: 50+ Zeilen if/else-Logik pro Use Case</a:t>
            </a:r>
          </a:p>
          <a:p>
            <a:r>
              <a:t>Fehlerbehandlungs-Chaos**: Exponentiell wachsende Fehlerpfade</a:t>
            </a:r>
          </a:p>
          <a:p>
            <a:r>
              <a:t>Testing-Alptraum**: Mocking von 15+ Services pro Unit Test</a:t>
            </a:r>
          </a:p>
          <a:p>
            <a:r>
              <a:t>Deployment-Fragilität**: Client bricht bei jeder Service-Änderung</a:t>
            </a:r>
          </a:p>
          <a:p>
            <a:r>
              <a:t>Code-Duplikation**: Gleiche Orchestrierung in mehreren Clients</a:t>
            </a:r>
          </a:p>
          <a:p>
            <a:r>
              <a:t>Service-Interface-Leakage**: Interne Service-Details überall sichtbar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Lösung: Facade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Einheitliche Schnittstelle**: Eine einfache API vor komplexem Subsystem</a:t>
            </a:r>
          </a:p>
          <a:p>
            <a:r>
              <a:t>Komplexitäts-Kapselung**: Interne Orchestrierung für Clients unsichtbar</a:t>
            </a:r>
          </a:p>
          <a:p>
            <a:r>
              <a:t>Use-Case-spezifische APIs**: APIs sprechen die Sprache der Business-User</a:t>
            </a:r>
          </a:p>
          <a:p>
            <a:r>
              <a:t>Zentrale Fehlerbehandlung**: Standardisierte Error-Responses</a:t>
            </a:r>
          </a:p>
          <a:p>
            <a:r>
              <a:t>Versionierungs-Puffer**: API-Änderungen ohne Client-Brüche möglich</a:t>
            </a:r>
          </a:p>
          <a:p>
            <a:r>
              <a:t>Performance-Optimierung**: Parallelisierung und Caching zentral möglich</a:t>
            </a:r>
          </a:p>
          <a:p>
            <a:r>
              <a:t>Service-Abstraktion**: Services können ausgetauscht werden ohne Client-Impact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1400">
                <a:latin typeface="Consolas"/>
              </a:rPr>
              <a:t>@Service</a:t>
            </a:r>
          </a:p>
          <a:p>
            <a:r>
              <a:rPr sz="1400">
                <a:latin typeface="Consolas"/>
              </a:rPr>
              <a:t>public class TariffOrderFacade {</a:t>
            </a:r>
          </a:p>
          <a:p>
            <a:r>
              <a:rPr sz="1400">
                <a:latin typeface="Consolas"/>
              </a:rPr>
              <a:t>    // Alle komplexen Dependencies sind privat gekapselt</a:t>
            </a:r>
          </a:p>
          <a:p>
            <a:r>
              <a:rPr sz="1400">
                <a:latin typeface="Consolas"/>
              </a:rPr>
              <a:t>    private final TariffValidationService validation;</a:t>
            </a:r>
          </a:p>
          <a:p>
            <a:r>
              <a:rPr sz="1400">
                <a:latin typeface="Consolas"/>
              </a:rPr>
              <a:t>    private final CreditCheckService creditCheck;</a:t>
            </a:r>
          </a:p>
          <a:p>
            <a:r>
              <a:rPr sz="1400">
                <a:latin typeface="Consolas"/>
              </a:rPr>
              <a:t>    // ... weitere Services (privat!)</a:t>
            </a:r>
          </a:p>
          <a:p>
            <a:r>
              <a:rPr sz="1400">
                <a:latin typeface="Consolas"/>
              </a:rPr>
              <a:t>    public TariffOrderResult createTariffOrder(TariffOrderRequest request) {</a:t>
            </a:r>
          </a:p>
          <a:p>
            <a:r>
              <a:rPr sz="1400">
                <a:latin typeface="Consolas"/>
              </a:rPr>
              <a:t>        try {</a:t>
            </a:r>
          </a:p>
          <a:p>
            <a:r>
              <a:rPr sz="1400">
                <a:latin typeface="Consolas"/>
              </a:rPr>
              <a:t>            if (!validateOrder(request).isValid()) {</a:t>
            </a:r>
          </a:p>
          <a:p>
            <a:r>
              <a:rPr sz="1400">
                <a:latin typeface="Consolas"/>
              </a:rPr>
              <a:t>                return TariffOrderResult.failed("Validation failed");</a:t>
            </a:r>
          </a:p>
          <a:p>
            <a:r>
              <a:rPr sz="1400">
                <a:latin typeface="Consolas"/>
              </a:rPr>
              <a:t>            }</a:t>
            </a:r>
          </a:p>
          <a:p>
            <a:r>
              <a:rPr sz="1400">
                <a:latin typeface="Consolas"/>
              </a:rPr>
              <a:t>            return executeOrderProcess(request); // Details versteckt</a:t>
            </a:r>
          </a:p>
          <a:p>
            <a:r>
              <a:rPr sz="1400">
                <a:latin typeface="Consolas"/>
              </a:rPr>
              <a:t>        } catch (Exception e) {</a:t>
            </a:r>
          </a:p>
          <a:p>
            <a:r>
              <a:rPr sz="1400">
                <a:latin typeface="Consolas"/>
              </a:rPr>
              <a:t>            return TariffOrderResult.failed(e.getMessage());</a:t>
            </a:r>
          </a:p>
          <a:p>
            <a:r>
              <a:rPr sz="1400">
                <a:latin typeface="Consolas"/>
              </a:rPr>
              <a:t>        }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    // Parallele Validierungen für Performance</a:t>
            </a:r>
          </a:p>
          <a:p>
            <a:r>
              <a:rPr sz="1400">
                <a:latin typeface="Consolas"/>
              </a:rPr>
              <a:t>    private CompletableFuture validateOrderAsync(request) {</a:t>
            </a:r>
          </a:p>
          <a:p>
            <a:r>
              <a:rPr sz="1400">
                <a:latin typeface="Consolas"/>
              </a:rPr>
              <a:t>        // Unabhängige Service-Calls parallel ausführen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Synchrone, ungecachte DB-Zugriffe</a:t>
            </a:r>
          </a:p>
          <a:p>
            <a:r>
              <a:rPr sz="1400">
                <a:latin typeface="Consolas"/>
              </a:rPr>
              <a:t>public class CustomerService {</a:t>
            </a:r>
          </a:p>
          <a:p>
            <a:r>
              <a:rPr sz="1400">
                <a:latin typeface="Consolas"/>
              </a:rPr>
              <a:t>    public CustomerData getCustomer(String id) {</a:t>
            </a:r>
          </a:p>
          <a:p>
            <a:r>
              <a:rPr sz="1400">
                <a:latin typeface="Consolas"/>
              </a:rPr>
              <a:t>        // Legacy-DB: 200ms+ pro Query!</a:t>
            </a:r>
          </a:p>
          <a:p>
            <a:r>
              <a:rPr sz="1400">
                <a:latin typeface="Consolas"/>
              </a:rPr>
              <a:t>        return legacyDatabase.findById(id);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Bei 1000 Requests/sec:</a:t>
            </a:r>
          </a:p>
          <a:p>
            <a:r>
              <a:rPr sz="1400">
                <a:latin typeface="Consolas"/>
              </a:rPr>
              <a:t>// 1000 × 200ms = 200 Sekunden DB-Zeit pro Sekunde</a:t>
            </a:r>
          </a:p>
          <a:p>
            <a:r>
              <a:rPr sz="1400">
                <a:latin typeface="Consolas"/>
              </a:rPr>
              <a:t>// System bricht zusammen!</a:t>
            </a:r>
          </a:p>
          <a:p>
            <a:r>
              <a:rPr sz="1400">
                <a:latin typeface="Consolas"/>
              </a:rPr>
              <a:t>// Memory-Verschwendung: Jeder Customer 2KB</a:t>
            </a:r>
          </a:p>
          <a:p>
            <a:r>
              <a:rPr sz="1400">
                <a:latin typeface="Consolas"/>
              </a:rPr>
              <a:t>// 50 Million Kunden × 2KB = 100GB RAM nur für Basis-Kundendaten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Latenz-Explosion**: 200ms+ Response-Zeit pro DB-Query</a:t>
            </a:r>
          </a:p>
          <a:p>
            <a:r>
              <a:t>Memory-Verschwendung**: Redundante Daten millionenfach geladen</a:t>
            </a:r>
          </a:p>
          <a:p>
            <a:r>
              <a:t>Cascade-Failure-Risk**: Langsame Services blockieren nachgelagerte Systeme</a:t>
            </a:r>
          </a:p>
          <a:p>
            <a:r>
              <a:t>No Caching Strategy**: Identische Queries werden wiederholt ausgeführt</a:t>
            </a:r>
          </a:p>
          <a:p>
            <a:r>
              <a:t>Synchronous Blocking**: Alle Threads warten auf DB-Response</a:t>
            </a:r>
          </a:p>
          <a:p>
            <a:r>
              <a:t>Resource Exhaustion**: Connection Pools werden erschöpft</a:t>
            </a:r>
          </a:p>
          <a:p>
            <a:r>
              <a:t>Poor User Experience**: Web-Interfaces werden unbenutzbar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15: Lösung: Proxy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Intelligente Zugriffssteuerung**: Proxy kontrolliert Zugriff auf teure Objekte</a:t>
            </a:r>
          </a:p>
          <a:p>
            <a:r>
              <a:t>Transparente Optimierung**: Client merkt nichts von Performance-Verbesserungen</a:t>
            </a:r>
          </a:p>
          <a:p>
            <a:r>
              <a:t>Lazy Loading**: Objekte nur bei tatsächlichem Bedarf laden</a:t>
            </a:r>
          </a:p>
          <a:p>
            <a:r>
              <a:t>Caching-Integration**: Intelligente Zwischenspeicherung mit konfigurierbaren Policies</a:t>
            </a:r>
          </a:p>
          <a:p>
            <a:r>
              <a:t>Security-Layer**: Transparent implementierte Sicherheitsprüfungen</a:t>
            </a:r>
          </a:p>
          <a:p>
            <a:r>
              <a:t>Remote Proxy**: Netzwerk-Komplexität verstecken mit Resilience Patterns</a:t>
            </a:r>
          </a:p>
          <a:p>
            <a:r>
              <a:t>Monitoring-Integration**: Zentrale Metriken für alle Service-Calls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16: 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sz="1400">
                <a:latin typeface="Consolas"/>
              </a:rPr>
              <a:t>// Virtual Proxy für Lazy Loading</a:t>
            </a:r>
          </a:p>
          <a:p>
            <a:r>
              <a:rPr sz="1400">
                <a:latin typeface="Consolas"/>
              </a:rPr>
              <a:t>public class LazyCustomerServiceProxy implements CustomerService {</a:t>
            </a:r>
          </a:p>
          <a:p>
            <a:r>
              <a:rPr sz="1400">
                <a:latin typeface="Consolas"/>
              </a:rPr>
              <a:t>    private final CustomerService realService;</a:t>
            </a:r>
          </a:p>
          <a:p>
            <a:r>
              <a:rPr sz="1400">
                <a:latin typeface="Consolas"/>
              </a:rPr>
              <a:t>    private final Map loadedCustomers = new HashMap&lt;&gt;();</a:t>
            </a:r>
          </a:p>
          <a:p>
            <a:r>
              <a:rPr sz="1400">
                <a:latin typeface="Consolas"/>
              </a:rPr>
              <a:t>    public CustomerData getCustomer(String customerId) {</a:t>
            </a:r>
          </a:p>
          <a:p>
            <a:r>
              <a:rPr sz="1400">
                <a:latin typeface="Consolas"/>
              </a:rPr>
              <a:t>        return loadedCustomers.computeIfAbsent(customerId, </a:t>
            </a:r>
          </a:p>
          <a:p>
            <a:r>
              <a:rPr sz="1400">
                <a:latin typeface="Consolas"/>
              </a:rPr>
              <a:t>            id -&gt; realService.getCustomer(id)); // Lazy Loading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Caching Proxy für Performance</a:t>
            </a:r>
          </a:p>
          <a:p>
            <a:r>
              <a:rPr sz="1400">
                <a:latin typeface="Consolas"/>
              </a:rPr>
              <a:t>@Component</a:t>
            </a:r>
          </a:p>
          <a:p>
            <a:r>
              <a:rPr sz="1400">
                <a:latin typeface="Consolas"/>
              </a:rPr>
              <a:t>public class CachedCustomerServiceProxy implements CustomerService {</a:t>
            </a:r>
          </a:p>
          <a:p>
            <a:r>
              <a:rPr sz="1400">
                <a:latin typeface="Consolas"/>
              </a:rPr>
              <a:t>    private final Cache customerCache;</a:t>
            </a:r>
          </a:p>
          <a:p>
            <a:r>
              <a:rPr sz="1400">
                <a:latin typeface="Consolas"/>
              </a:rPr>
              <a:t>    public CustomerData getCustomer(String customerId) {</a:t>
            </a:r>
          </a:p>
          <a:p>
            <a:r>
              <a:rPr sz="1400">
                <a:latin typeface="Consolas"/>
              </a:rPr>
              <a:t>        return customerCache.get(customerId, id -&gt; {</a:t>
            </a:r>
          </a:p>
          <a:p>
            <a:r>
              <a:rPr sz="1400">
                <a:latin typeface="Consolas"/>
              </a:rPr>
              <a:t>            return realService.getCustomer(id); // Cache Miss</a:t>
            </a:r>
          </a:p>
          <a:p>
            <a:r>
              <a:rPr sz="1400">
                <a:latin typeface="Consolas"/>
              </a:rPr>
              <a:t>        });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Flyweight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REDUNDANT: Gleiche Tarif-Daten millionenfach dupliziert</a:t>
            </a:r>
          </a:p>
          <a:p>
            <a:r>
              <a:rPr sz="1400">
                <a:latin typeface="Consolas"/>
              </a:rPr>
              <a:t>public class CustomerData {</a:t>
            </a:r>
          </a:p>
          <a:p>
            <a:r>
              <a:rPr sz="1400">
                <a:latin typeface="Consolas"/>
              </a:rPr>
              <a:t>    private String customerId;          // INDIVIDUELL</a:t>
            </a:r>
          </a:p>
          <a:p>
            <a:r>
              <a:rPr sz="1400">
                <a:latin typeface="Consolas"/>
              </a:rPr>
              <a:t>    private String name;                // INDIVIDUELL</a:t>
            </a:r>
          </a:p>
          <a:p>
            <a:r>
              <a:rPr sz="1400">
                <a:latin typeface="Consolas"/>
              </a:rPr>
              <a:t>    // Nur ~50 verschiedene Werte für Millionen Kunden!</a:t>
            </a:r>
          </a:p>
          <a:p>
            <a:r>
              <a:rPr sz="1400">
                <a:latin typeface="Consolas"/>
              </a:rPr>
              <a:t>    private String tariffPlanName;      // "MagentaMobil L" - 1M× dupliziert!</a:t>
            </a:r>
          </a:p>
          <a:p>
            <a:r>
              <a:rPr sz="1400">
                <a:latin typeface="Consolas"/>
              </a:rPr>
              <a:t>    private String tariffDescription;   // Beschreibung - 1M× dupliziert!</a:t>
            </a:r>
          </a:p>
          <a:p>
            <a:r>
              <a:rPr sz="1400">
                <a:latin typeface="Consolas"/>
              </a:rPr>
              <a:t>    private BigDecimal tariffPrice;     // 49.99 - 1M× dupliziert!</a:t>
            </a:r>
          </a:p>
          <a:p>
            <a:r>
              <a:rPr sz="1400">
                <a:latin typeface="Consolas"/>
              </a:rPr>
              <a:t>    private Set tariffFeatures; // Feature-Liste - 1M× dupliziert!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Memory-Verschwendung: 500MB für identische Strings!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18: 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Memory-Explosion**: 50 verschiedene Tarife × 1M Kunden = 50M redundante Kopien</a:t>
            </a:r>
          </a:p>
          <a:p>
            <a:r>
              <a:t>Gigabyte-Verschwendung**: Identische Strings millionenfach im Memory</a:t>
            </a:r>
          </a:p>
          <a:p>
            <a:r>
              <a:t>Skalierungs-Problem**: Memory-Verbrauch explodiert mit Kundenzahl</a:t>
            </a:r>
          </a:p>
          <a:p>
            <a:r>
              <a:t>Cloud-Kosten-Explosion**: Ineffiziente Memory-Nutzung = hohe Infrastruktur-Kosten</a:t>
            </a:r>
          </a:p>
          <a:p>
            <a:r>
              <a:t>Cache-Ineffizienz**: Redundante Daten verdrängen wichtige Daten aus Caches</a:t>
            </a:r>
          </a:p>
          <a:p>
            <a:r>
              <a:t>GC-Pressure**: Garbage Collector überlastet durch redundante Objekte</a:t>
            </a:r>
          </a:p>
          <a:p>
            <a:r>
              <a:t>Network-Overhead**: Redundante Daten werden über Netzwerk übertragen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19: Lösung: Flyweight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Intrinsic vs. Extrinsic State**: Geteilte von individuellen Daten trennen</a:t>
            </a:r>
          </a:p>
          <a:p>
            <a:r>
              <a:t>Memory-Sharing**: Identische Objekte nur einmal im Memory speichern</a:t>
            </a:r>
          </a:p>
          <a:p>
            <a:r>
              <a:t>Factory-Management**: Zentrale Verwaltung garantiert Singleton-Eigenschaften</a:t>
            </a:r>
          </a:p>
          <a:p>
            <a:r>
              <a:t>Immutable Flyweights**: Thread-Safety durch Unveränderlichkeit</a:t>
            </a:r>
          </a:p>
          <a:p>
            <a:r>
              <a:t>Context Pattern**: Individuelle Daten als Parameter-Objekte</a:t>
            </a:r>
          </a:p>
          <a:p>
            <a:r>
              <a:t>70%+ Memory-Ersparnis**: Dramatische Reduktion des Speicherverbrauchs</a:t>
            </a:r>
          </a:p>
          <a:p>
            <a:r>
              <a:t>Lineare Skalierung**: Memory-Verbrauch wächst linear mit Kundenzahl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20: 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sz="1400">
                <a:latin typeface="Consolas"/>
              </a:rPr>
              <a:t>// Flyweight: Nur intrinsic (geteilte) Properties</a:t>
            </a:r>
          </a:p>
          <a:p>
            <a:r>
              <a:rPr sz="1400">
                <a:latin typeface="Consolas"/>
              </a:rPr>
              <a:t>public class TariffPlanFlyweight {</a:t>
            </a:r>
          </a:p>
          <a:p>
            <a:r>
              <a:rPr sz="1400">
                <a:latin typeface="Consolas"/>
              </a:rPr>
              <a:t>    private final String planName;          // Intrinsic - geteilt</a:t>
            </a:r>
          </a:p>
          <a:p>
            <a:r>
              <a:rPr sz="1400">
                <a:latin typeface="Consolas"/>
              </a:rPr>
              <a:t>    private final String description;       // Intrinsic - geteilt  </a:t>
            </a:r>
          </a:p>
          <a:p>
            <a:r>
              <a:rPr sz="1400">
                <a:latin typeface="Consolas"/>
              </a:rPr>
              <a:t>    private final BigDecimal basePrice;     // Intrinsic - geteilt</a:t>
            </a:r>
          </a:p>
          <a:p>
            <a:r>
              <a:rPr sz="1400">
                <a:latin typeface="Consolas"/>
              </a:rPr>
              <a:t>    private final Set features;     // Intrinsic - geteilt</a:t>
            </a:r>
          </a:p>
          <a:p>
            <a:r>
              <a:rPr sz="1400">
                <a:latin typeface="Consolas"/>
              </a:rPr>
              <a:t>    // Business-Operation mit extrinsic context</a:t>
            </a:r>
          </a:p>
          <a:p>
            <a:r>
              <a:rPr sz="1400">
                <a:latin typeface="Consolas"/>
              </a:rPr>
              <a:t>    public CustomerBill calculateBill(CustomerContext context) {</a:t>
            </a:r>
          </a:p>
          <a:p>
            <a:r>
              <a:rPr sz="1400">
                <a:latin typeface="Consolas"/>
              </a:rPr>
              <a:t>        BigDecimal finalPrice = basePrice;</a:t>
            </a:r>
          </a:p>
          <a:p>
            <a:r>
              <a:rPr sz="1400">
                <a:latin typeface="Consolas"/>
              </a:rPr>
              <a:t>        if (context.hasLoyaltyDiscount()) {</a:t>
            </a:r>
          </a:p>
          <a:p>
            <a:r>
              <a:rPr sz="1400">
                <a:latin typeface="Consolas"/>
              </a:rPr>
              <a:t>            finalPrice = finalPrice.multiply(BigDecimal.valueOf(0.9));</a:t>
            </a:r>
          </a:p>
          <a:p>
            <a:r>
              <a:rPr sz="1400">
                <a:latin typeface="Consolas"/>
              </a:rPr>
              <a:t>        }</a:t>
            </a:r>
          </a:p>
          <a:p>
            <a:r>
              <a:rPr sz="1400">
                <a:latin typeface="Consolas"/>
              </a:rPr>
              <a:t>        return new CustomerBill(context.getCustomerId(), planName, finalPrice);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Factory für Flyweight-Management</a:t>
            </a:r>
          </a:p>
          <a:p>
            <a:r>
              <a:rPr sz="1400">
                <a:latin typeface="Consolas"/>
              </a:rPr>
              <a:t>@Component</a:t>
            </a:r>
          </a:p>
          <a:p>
            <a:r>
              <a:rPr sz="1400">
                <a:latin typeface="Consolas"/>
              </a:rPr>
              <a:t>public class TariffPlanFlyweightFactory {</a:t>
            </a:r>
          </a:p>
          <a:p>
            <a:r>
              <a:rPr sz="1400">
                <a:latin typeface="Consolas"/>
              </a:rPr>
              <a:t>    private final Map flyweights = new ConcurrentHashMap&lt;&gt;();</a:t>
            </a:r>
          </a:p>
          <a:p>
            <a:r>
              <a:rPr sz="1400">
                <a:latin typeface="Consolas"/>
              </a:rPr>
              <a:t>    public TariffPlanFlyweight getTariffPlan(String planName) {</a:t>
            </a:r>
          </a:p>
          <a:p>
            <a:r>
              <a:rPr sz="1400">
                <a:latin typeface="Consolas"/>
              </a:rPr>
              <a:t>        return flyweights.computeIfAbsent(planName, this::createTariffPlan);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Pattern-Integration &amp; Enterprise-Readiness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Decorator + Strategy**: Optionale, austauschbare Algorithmen kombinieren</a:t>
            </a:r>
          </a:p>
          <a:p>
            <a:r>
              <a:t>Composite + Visitor**: Performance-optimierte Hierarchie-Traversierung</a:t>
            </a:r>
          </a:p>
          <a:p>
            <a:r>
              <a:t>Facade + Circuit Breaker**: Resiliente Service-Orchestrierung</a:t>
            </a:r>
          </a:p>
          <a:p>
            <a:r>
              <a:t>Proxy + Flyweight**: Memory-effiziente Performance-Optimierung</a:t>
            </a:r>
          </a:p>
          <a:p>
            <a:r>
              <a:t>Bridge + Factory**: Dynamische Provider-Auswahl mit Abstraktion</a:t>
            </a:r>
          </a:p>
          <a:p>
            <a:r>
              <a:t>Template Method Integration**: Konsistente Flows über alle Patterns</a:t>
            </a:r>
          </a:p>
          <a:p>
            <a:r>
              <a:t>Event-Driven Enhancement**: Eventual Consistency für komplexe Systeme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22: Production-Ready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Caching**: Redis für Multi-Instance Cache-Konsistenz</a:t>
            </a:r>
          </a:p>
          <a:p>
            <a:r>
              <a:t>Circuit Breaker**: Resilience bei Provider-Integration</a:t>
            </a:r>
          </a:p>
          <a:p>
            <a:r>
              <a:t>Health Monitoring**: Proaktive Performance- und Verfügbarkeits-Überwachung</a:t>
            </a:r>
          </a:p>
          <a:p>
            <a:r>
              <a:t>Cache Warming**: Predictive Loading für kritische Daten</a:t>
            </a:r>
          </a:p>
          <a:p>
            <a:r>
              <a:t>Graceful Degradation**: Fallback-Strategien für Provider-Ausfälle</a:t>
            </a:r>
          </a:p>
          <a:p>
            <a:r>
              <a:t>Memory Monitoring**: JVM-Metriken und Alerting für Memory-Patterns</a:t>
            </a:r>
          </a:p>
          <a:p>
            <a:r>
              <a:t>Event Sourcing**: Audit-Trail und System-Konsistenz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Zusammenfassung: Block 2 Erkenntnisse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✅ </a:t>
            </a:r>
            <a:r>
              <a:rPr b="1"/>
              <a:t>Strukturelle Probleme elegant lösen</a:t>
            </a:r>
            <a:r>
              <a:t>: Patterns adressieren fundamentale Kompositions-Herausforderungen</a:t>
            </a:r>
          </a:p>
          <a:p>
            <a:r>
              <a:t>✅ </a:t>
            </a:r>
            <a:r>
              <a:rPr b="1"/>
              <a:t>Performance durch Design</a:t>
            </a:r>
            <a:r>
              <a:t>: Memory-Optimierung und Latenz-Reduktion als architektonische Entscheidung</a:t>
            </a:r>
          </a:p>
          <a:p>
            <a:r>
              <a:t>✅ </a:t>
            </a:r>
            <a:r>
              <a:rPr b="1"/>
              <a:t>Enterprise-Skalierung</a:t>
            </a:r>
            <a:r>
              <a:t>: Patterns skalieren mit bewusster Implementierung bis zu 50M+ Kunden</a:t>
            </a:r>
          </a:p>
          <a:p>
            <a:r>
              <a:t>✅ </a:t>
            </a:r>
            <a:r>
              <a:rPr b="1"/>
              <a:t>Microservice-Integration</a:t>
            </a:r>
            <a:r>
              <a:t>: Loose Coupling und Provider-Abstraktion für resiliente Systeme</a:t>
            </a:r>
          </a:p>
          <a:p>
            <a:r>
              <a:t>✅ </a:t>
            </a:r>
            <a:r>
              <a:rPr b="1"/>
              <a:t>Pattern-Kombination</a:t>
            </a:r>
            <a:r>
              <a:t>: Synergien zwischen Patterns multiplizieren architektonischen Wert</a:t>
            </a:r>
          </a:p>
          <a:p>
            <a:r>
              <a:t>✅ </a:t>
            </a:r>
            <a:r>
              <a:rPr b="1"/>
              <a:t>Production-Readiness</a:t>
            </a:r>
            <a:r>
              <a:t>: Mit Monitoring, Caching und Resilience enterprise-tauglich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anillaCore" id="{A4188DAF-3037-9A46-8AA0-BDB523AB8B82}" vid="{1D57C864-6CD3-B749-8548-A8609C08E9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2252</Words>
  <Application>Microsoft Macintosh PowerPoint</Application>
  <PresentationFormat>Widescreen</PresentationFormat>
  <Paragraphs>300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Consolas</vt:lpstr>
      <vt:lpstr>Open Sans</vt:lpstr>
      <vt:lpstr>Open Sans Light</vt:lpstr>
      <vt:lpstr>Source Code Pro</vt:lpstr>
      <vt:lpstr>Custom Design</vt:lpstr>
      <vt:lpstr>Block 2: Structural Patterns</vt:lpstr>
      <vt:lpstr>Was ist hier schlecht?</vt:lpstr>
      <vt:lpstr>Code Smells identifiziert</vt:lpstr>
      <vt:lpstr>Lösung: Decorator Pattern</vt:lpstr>
      <vt:lpstr>Implementierung</vt:lpstr>
      <vt:lpstr>Was ist hier schlecht?</vt:lpstr>
      <vt:lpstr>Code Smells identifiziert</vt:lpstr>
      <vt:lpstr>Lösung: Composite Pattern</vt:lpstr>
      <vt:lpstr>Implementierung</vt:lpstr>
      <vt:lpstr>Facade Pattern</vt:lpstr>
      <vt:lpstr>Slide 10: Code Smells identifiziert</vt:lpstr>
      <vt:lpstr>Slide 11: Lösung: Facade Pattern</vt:lpstr>
      <vt:lpstr>Slide 12: Implementierung</vt:lpstr>
      <vt:lpstr>Proxy Pattern</vt:lpstr>
      <vt:lpstr>Slide 14: Code Smells identifiziert</vt:lpstr>
      <vt:lpstr>Slide 15: Lösung: Proxy Pattern</vt:lpstr>
      <vt:lpstr>Slide 16: Implementierung</vt:lpstr>
      <vt:lpstr>Flyweight Pattern</vt:lpstr>
      <vt:lpstr>Slide 18: Code Smells identifiziert</vt:lpstr>
      <vt:lpstr>Slide 19: Lösung: Flyweight Pattern</vt:lpstr>
      <vt:lpstr>Slide 20: Implementierung</vt:lpstr>
      <vt:lpstr>Pattern-Integration &amp; Enterprise-Readiness</vt:lpstr>
      <vt:lpstr>Slide 22: Production-Ready Considerations</vt:lpstr>
      <vt:lpstr>Zusammenfassung: Block 2 Erkenntnisse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Samaschke, Karsten</dc:creator>
  <cp:lastModifiedBy>Samaschke, Karsten</cp:lastModifiedBy>
  <cp:revision>14</cp:revision>
  <dcterms:created xsi:type="dcterms:W3CDTF">2025-09-10T03:57:45Z</dcterms:created>
  <dcterms:modified xsi:type="dcterms:W3CDTF">2025-09-10T12:14:35Z</dcterms:modified>
</cp:coreProperties>
</file>