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9" d="100"/>
          <a:sy n="129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7193-AE5D-4968-BAF6-3656BE156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0169"/>
            <a:ext cx="9144000" cy="895972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86BB9-FD07-7E5E-44C6-0A574C54E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58216"/>
            <a:ext cx="9144000" cy="552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B45C3DAA-2C1B-4B03-DCD5-CEA9A48D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302560" y="2321640"/>
            <a:ext cx="1586880" cy="221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214E46-3795-F2C4-2D6A-4DF0C15ACEDA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9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D443-8D62-99E4-BE59-A33D1ABDD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80720"/>
            <a:ext cx="9144000" cy="68725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9BB70-AB0C-EB4F-73E7-686FB01CE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0045"/>
            <a:ext cx="9144000" cy="4332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C62A5225-6C59-0F22-28CB-A0E992676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498782" y="2595496"/>
            <a:ext cx="1194437" cy="16670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3CF7D-A3E7-417D-2594-BEB7DA122EAC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8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2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Bullet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9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3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FAE5E-51A7-801C-5D44-B6AB89FF0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1pPr>
            <a:lvl2pPr marL="457200" indent="0">
              <a:buNone/>
              <a:defRPr sz="20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2pPr>
            <a:lvl3pPr marL="914400" indent="0">
              <a:buNone/>
              <a:defRPr sz="18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3pPr>
            <a:lvl4pPr marL="13716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4pPr>
            <a:lvl5pPr marL="18288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3E47A-69A0-8F49-E63F-B87255EE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9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A35E-A630-2C0F-48C4-334D4CCF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7739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36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E0C0-D32D-13D4-8621-9FED9847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57200"/>
            <a:ext cx="4364521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F3171-700D-AC09-57D2-7CE376F6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525108" cy="54332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D5D4F-5251-A419-B3B6-3E776795B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2057400"/>
            <a:ext cx="4364521" cy="43632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C4C30-205A-2492-192B-B806843E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4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07504"/>
            <a:ext cx="7146235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12765" y="0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1816443"/>
            <a:ext cx="7146235" cy="4703627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5832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209" y="407504"/>
            <a:ext cx="5854148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942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1209" y="1816444"/>
            <a:ext cx="7026958" cy="4676432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93BDEA3-6F5B-33C7-1FE1-589B04B9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282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9312B-648F-07C4-1C1A-87F50DC9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B8739-0CD2-1439-97E1-AFE66884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2DFFE-3F1B-D665-A941-E6705F464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72EA-F3A5-C440-8FDE-A5EAD26928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36DDDAD4-6DBF-843D-79CB-7A2FBAC6A16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lum/>
            <a:alphaModFix/>
          </a:blip>
          <a:srcRect/>
          <a:stretch>
            <a:fillRect/>
          </a:stretch>
        </p:blipFill>
        <p:spPr>
          <a:xfrm>
            <a:off x="10619994" y="0"/>
            <a:ext cx="1101857" cy="153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99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3" r:id="rId3"/>
    <p:sldLayoutId id="2147483675" r:id="rId4"/>
    <p:sldLayoutId id="2147483665" r:id="rId5"/>
    <p:sldLayoutId id="2147483676" r:id="rId6"/>
    <p:sldLayoutId id="2147483666" r:id="rId7"/>
    <p:sldLayoutId id="2147483677" r:id="rId8"/>
    <p:sldLayoutId id="2147483667" r:id="rId9"/>
    <p:sldLayoutId id="2147483672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34343"/>
        </a:buClr>
        <a:buFont typeface="Arial" panose="020B0604020202020204" pitchFamily="34" charset="0"/>
        <a:buChar char="•"/>
        <a:defRPr sz="2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4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0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Architectural Patterns - Part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 Patterns Workshop - Telekom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Overview: Layer-Based Architectures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Types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Layered Architecture        N-Tier Architecture        Clean Architecture</a:t>
            </a:r>
            <a:br/>
            <a:r>
              <a:rPr sz="900">
                <a:latin typeface="Consolas"/>
              </a:rPr>
              <a:t>┌─────────────────┐        ┌─────────────────┐        ┌─────────────────┐</a:t>
            </a:r>
            <a:br/>
            <a:r>
              <a:rPr sz="900">
                <a:latin typeface="Consolas"/>
              </a:rPr>
              <a:t>│   Presentation  │        │   Client Tier   │        │   Frameworks    │</a:t>
            </a:r>
            <a:br/>
            <a:r>
              <a:rPr sz="900">
                <a:latin typeface="Consolas"/>
              </a:rPr>
              <a:t>├─────────────────┤        ├─────────────────┤        ├─────────────────┤</a:t>
            </a:r>
            <a:br/>
            <a:r>
              <a:rPr sz="900">
                <a:latin typeface="Consolas"/>
              </a:rPr>
              <a:t>│    Business     │        │ Application     │        │   Interface     │</a:t>
            </a:r>
            <a:br/>
            <a:r>
              <a:rPr sz="900">
                <a:latin typeface="Consolas"/>
              </a:rPr>
              <a:t>├─────────────────┤  &lt;--&gt;  │      Tier       │  &lt;--&gt;  │   Adapters      │</a:t>
            </a:r>
            <a:br/>
            <a:r>
              <a:rPr sz="900">
                <a:latin typeface="Consolas"/>
              </a:rPr>
              <a:t>│  Persistence    │        ├─────────────────┤        ├─────────────────┤</a:t>
            </a:r>
            <a:br/>
            <a:r>
              <a:rPr sz="900">
                <a:latin typeface="Consolas"/>
              </a:rPr>
              <a:t>├─────────────────┤        │   Data Tier     │        │  Use Cases      │</a:t>
            </a:r>
            <a:br/>
            <a:r>
              <a:rPr sz="900">
                <a:latin typeface="Consolas"/>
              </a:rPr>
              <a:t>│    Database     │        └─────────────────┘        ├─────────────────┤</a:t>
            </a:r>
            <a:br/>
            <a:r>
              <a:rPr sz="900">
                <a:latin typeface="Consolas"/>
              </a:rPr>
              <a:t>└─────────────────┘                                   │   Entities      │</a:t>
            </a:r>
            <a:br/>
            <a:r>
              <a:rPr sz="900">
                <a:latin typeface="Consolas"/>
              </a:rPr>
              <a:t>                                                       └─────────────────┘</a:t>
            </a:r>
            <a:br/>
            <a:r>
              <a:rPr sz="900">
                <a:latin typeface="Consolas"/>
              </a:rPr>
              <a:t>Classic Layering           Enterprise N-Tier          Domain-Centric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Layered Architecture (Schichtarchitektur)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Architecture -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┌─────────────────────────────────────────────────┐</a:t>
            </a:r>
            <a:br/>
            <a:r>
              <a:rPr sz="900">
                <a:latin typeface="Consolas"/>
              </a:rPr>
              <a:t>│                Presentation Layer               │ &lt;- Web UI, REST APIs</a:t>
            </a:r>
            <a:br/>
            <a:r>
              <a:rPr sz="900">
                <a:latin typeface="Consolas"/>
              </a:rPr>
              <a:t>├─────────────────────────────────────────────────┤</a:t>
            </a:r>
            <a:br/>
            <a:r>
              <a:rPr sz="900">
                <a:latin typeface="Consolas"/>
              </a:rPr>
              <a:t>│                 Business Layer                  │ &lt;- Domain Logic</a:t>
            </a:r>
            <a:br/>
            <a:r>
              <a:rPr sz="900">
                <a:latin typeface="Consolas"/>
              </a:rPr>
              <a:t>├─────────────────────────────────────────────────┤</a:t>
            </a:r>
            <a:br/>
            <a:r>
              <a:rPr sz="900">
                <a:latin typeface="Consolas"/>
              </a:rPr>
              <a:t>│                Persistence Layer                │ &lt;- Data Access</a:t>
            </a:r>
            <a:br/>
            <a:r>
              <a:rPr sz="900">
                <a:latin typeface="Consolas"/>
              </a:rPr>
              <a:t>├─────────────────────────────────────────────────┤</a:t>
            </a:r>
            <a:br/>
            <a:r>
              <a:rPr sz="900">
                <a:latin typeface="Consolas"/>
              </a:rPr>
              <a:t>│                 Database Layer                  │ &lt;- Data Storage</a:t>
            </a:r>
            <a:br/>
            <a:r>
              <a:rPr sz="900">
                <a:latin typeface="Consolas"/>
              </a:rPr>
              <a:t>└─────────────────────────────────────────────────┘</a:t>
            </a:r>
            <a:br/>
            <a:br/>
            <a:r>
              <a:rPr sz="900">
                <a:latin typeface="Consolas"/>
              </a:rPr>
              <a:t>Dependency Flow: Top -&gt; Down (Higher layers depend on lower layers)</a:t>
            </a:r>
            <a:br/>
            <a:r>
              <a:rPr sz="900">
                <a:latin typeface="Consolas"/>
              </a:rPr>
              <a:t>Data Flow: Bidirectional through defined interfaces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Architecture - Telekom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**Network Configuration Management System**</a:t>
            </a:r>
          </a:p>
          <a:p>
            <a:pPr/>
            <a:r>
              <a:t>**Layer Implementation:**</a:t>
            </a:r>
          </a:p>
          <a:p>
            <a:pPr lvl="1"/>
            <a:r>
              <a:t>• Presentation: Web Dashboard für Network Engineers</a:t>
            </a:r>
          </a:p>
          <a:p>
            <a:pPr lvl="1"/>
            <a:r>
              <a:t>• Business: Configuration Validation, Change Management</a:t>
            </a:r>
          </a:p>
          <a:p>
            <a:pPr lvl="1"/>
            <a:r>
              <a:t>• Persistence: Configuration Repository, Audit Logging</a:t>
            </a:r>
          </a:p>
          <a:p>
            <a:pPr lvl="1"/>
            <a:r>
              <a:t>• Database: PostgreSQL für Config Data, MongoDB für Audit Logs</a:t>
            </a:r>
          </a:p>
          <a:p>
            <a:pPr/>
            <a:r>
              <a:t>**Real-world Application:**</a:t>
            </a:r>
          </a:p>
          <a:p>
            <a:pPr lvl="1"/>
            <a:r>
              <a:t>• SNMP configuration management</a:t>
            </a:r>
          </a:p>
          <a:p>
            <a:pPr lvl="1"/>
            <a:r>
              <a:t>• Network device inventory</a:t>
            </a:r>
          </a:p>
          <a:p>
            <a:pPr lvl="1"/>
            <a:r>
              <a:t>• Change approval workflows</a:t>
            </a:r>
          </a:p>
          <a:p>
            <a:pPr lvl="1"/>
            <a:r>
              <a:t>• Configuration backup and restore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Architecture -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 sz="1600"/>
            </a:pPr>
            <a:r>
              <a:t>Vorteile ✅</a:t>
            </a:r>
          </a:p>
          <a:p>
            <a:pPr>
              <a:spcAft>
                <a:spcPts val="600"/>
              </a:spcAft>
            </a:pPr>
            <a:r>
              <a:t>• Klare Trennung der Verantwortlichkeiten</a:t>
            </a:r>
          </a:p>
          <a:p>
            <a:pPr>
              <a:spcAft>
                <a:spcPts val="600"/>
              </a:spcAft>
            </a:pPr>
            <a:r>
              <a:t>• Einfache Testbarkeit jeder Schicht</a:t>
            </a:r>
          </a:p>
          <a:p>
            <a:pPr>
              <a:spcAft>
                <a:spcPts val="600"/>
              </a:spcAft>
            </a:pPr>
            <a:r>
              <a:t>• Bewährtes Pattern mit hoher Entwickler-Akzeptanz</a:t>
            </a:r>
          </a:p>
          <a:p>
            <a:pPr>
              <a:spcAft>
                <a:spcPts val="600"/>
              </a:spcAft>
            </a:pPr>
            <a:r>
              <a:t>• Gute Performance bei einfachen CRUD-Operationen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 sz="1600"/>
            </a:pPr>
            <a:r>
              <a:t>Nachteile ❌</a:t>
            </a:r>
          </a:p>
          <a:p>
            <a:pPr>
              <a:spcAft>
                <a:spcPts val="600"/>
              </a:spcAft>
            </a:pPr>
            <a:r>
              <a:t>• Monolithischer Charakter erschwert Skalierung</a:t>
            </a:r>
          </a:p>
          <a:p>
            <a:pPr>
              <a:spcAft>
                <a:spcPts val="600"/>
              </a:spcAft>
            </a:pPr>
            <a:r>
              <a:t>• Änderungen propagieren durch alle Schichten</a:t>
            </a:r>
          </a:p>
          <a:p>
            <a:pPr>
              <a:spcAft>
                <a:spcPts val="600"/>
              </a:spcAft>
            </a:pPr>
            <a:r>
              <a:t>• Datenbankschema-Changes beeinflussen alle Layer</a:t>
            </a:r>
          </a:p>
          <a:p>
            <a:pPr>
              <a:spcAft>
                <a:spcPts val="600"/>
              </a:spcAft>
            </a:pPr>
            <a:r>
              <a:t>• Schwierig für komplexe Domain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Microservices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Architecture -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Service Landscape:</a:t>
            </a:r>
            <a:br/>
            <a:r>
              <a:rPr sz="900">
                <a:latin typeface="Consolas"/>
              </a:rPr>
              <a:t>┌───────────────┐  ┌───────────────┐  ┌───────────────┐</a:t>
            </a:r>
            <a:br/>
            <a:r>
              <a:rPr sz="900">
                <a:latin typeface="Consolas"/>
              </a:rPr>
              <a:t>│  Device Mgmt  │  │   Monitoring  │  │  Configuration │</a:t>
            </a:r>
            <a:br/>
            <a:r>
              <a:rPr sz="900">
                <a:latin typeface="Consolas"/>
              </a:rPr>
              <a:t>│   Service     │  │    Service    │  │    Service    │</a:t>
            </a:r>
            <a:br/>
            <a:r>
              <a:rPr sz="900">
                <a:latin typeface="Consolas"/>
              </a:rPr>
              <a:t>├───────────────┤  ├───────────────┤  ├───────────────┤</a:t>
            </a:r>
            <a:br/>
            <a:r>
              <a:rPr sz="900">
                <a:latin typeface="Consolas"/>
              </a:rPr>
              <a:t>│  PostgreSQL   │  │  InfluxDB     │  │   MongoDB     │</a:t>
            </a:r>
            <a:br/>
            <a:r>
              <a:rPr sz="900">
                <a:latin typeface="Consolas"/>
              </a:rPr>
              <a:t>└───────────────┘  └───────────────┘  └───────────────┘</a:t>
            </a:r>
            <a:br/>
            <a:r>
              <a:rPr sz="900">
                <a:latin typeface="Consolas"/>
              </a:rPr>
              <a:t>         │                  │                  │</a:t>
            </a:r>
            <a:br/>
            <a:r>
              <a:rPr sz="900">
                <a:latin typeface="Consolas"/>
              </a:rPr>
              <a:t>         └──────────────────┼──────────────────┘</a:t>
            </a:r>
            <a:br/>
            <a:r>
              <a:rPr sz="900">
                <a:latin typeface="Consolas"/>
              </a:rPr>
              <a:t>                            │</a:t>
            </a:r>
            <a:br/>
            <a:r>
              <a:rPr sz="900">
                <a:latin typeface="Consolas"/>
              </a:rPr>
              <a:t>                   ┌─────────────────┐</a:t>
            </a:r>
            <a:br/>
            <a:r>
              <a:rPr sz="900">
                <a:latin typeface="Consolas"/>
              </a:rPr>
              <a:t>                   │   API Gateway   │</a:t>
            </a:r>
            <a:br/>
            <a:r>
              <a:rPr sz="900">
                <a:latin typeface="Consolas"/>
              </a:rPr>
              <a:t>                   ├─────────────────┤</a:t>
            </a:r>
            <a:br/>
            <a:r>
              <a:rPr sz="900">
                <a:latin typeface="Consolas"/>
              </a:rPr>
              <a:t>                   │ Load Balancer   │</a:t>
            </a:r>
            <a:br/>
            <a:r>
              <a:rPr sz="900">
                <a:latin typeface="Consolas"/>
              </a:rPr>
              <a:t>                   ├─────────────────┤</a:t>
            </a:r>
            <a:br/>
            <a:r>
              <a:rPr sz="900">
                <a:latin typeface="Consolas"/>
              </a:rPr>
              <a:t>                   │ Service Mesh    │</a:t>
            </a:r>
            <a:br/>
            <a:r>
              <a:rPr sz="900">
                <a:latin typeface="Consolas"/>
              </a:rPr>
              <a:t>                   └─────────────────┘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-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 sz="1600"/>
            </a:pPr>
            <a:r>
              <a:t>Vorteile ✅</a:t>
            </a:r>
          </a:p>
          <a:p>
            <a:pPr>
              <a:spcAft>
                <a:spcPts val="600"/>
              </a:spcAft>
            </a:pPr>
            <a:r>
              <a:t>• Unabhängige Skalierung pro Service</a:t>
            </a:r>
          </a:p>
          <a:p>
            <a:pPr>
              <a:spcAft>
                <a:spcPts val="600"/>
              </a:spcAft>
            </a:pPr>
            <a:r>
              <a:t>• Technology Stack Diversität möglich</a:t>
            </a:r>
          </a:p>
          <a:p>
            <a:pPr>
              <a:spcAft>
                <a:spcPts val="600"/>
              </a:spcAft>
            </a:pPr>
            <a:r>
              <a:t>• Fehler-Isolierung zwischen Services</a:t>
            </a:r>
          </a:p>
          <a:p>
            <a:pPr>
              <a:spcAft>
                <a:spcPts val="600"/>
              </a:spcAft>
            </a:pPr>
            <a:r>
              <a:t>• Parallele Entwicklung durch verschiedene Teams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 sz="1600"/>
            </a:pPr>
            <a:r>
              <a:t>Nachteile ❌</a:t>
            </a:r>
          </a:p>
          <a:p>
            <a:pPr>
              <a:spcAft>
                <a:spcPts val="600"/>
              </a:spcAft>
            </a:pPr>
            <a:r>
              <a:t>• Hohe operationale Komplexität</a:t>
            </a:r>
          </a:p>
          <a:p>
            <a:pPr>
              <a:spcAft>
                <a:spcPts val="600"/>
              </a:spcAft>
            </a:pPr>
            <a:r>
              <a:t>• Distributed System Challenges (Latency, Partial Failures)</a:t>
            </a:r>
          </a:p>
          <a:p>
            <a:pPr>
              <a:spcAft>
                <a:spcPts val="600"/>
              </a:spcAft>
            </a:pPr>
            <a:r>
              <a:t>• Data Consistency zwischen Services schwierig</a:t>
            </a:r>
          </a:p>
          <a:p>
            <a:pPr>
              <a:spcAft>
                <a:spcPts val="600"/>
              </a:spcAft>
            </a:pPr>
            <a:r>
              <a:t>• Service Discovery und Load Balancing erforderlich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Event-Driven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Event-Driven Architecture -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Event Flow:</a:t>
            </a:r>
            <a:br/>
            <a:r>
              <a:rPr sz="900">
                <a:latin typeface="Consolas"/>
              </a:rPr>
              <a:t>┌─────────────┐    Events     ┌─────────────┐    Events     ┌─────────────┐</a:t>
            </a:r>
            <a:br/>
            <a:r>
              <a:rPr sz="900">
                <a:latin typeface="Consolas"/>
              </a:rPr>
              <a:t>│  Producers  │ ─────────────&gt; │  Event Bus  │ ─────────────&gt; │  Consumers  │</a:t>
            </a:r>
            <a:br/>
            <a:r>
              <a:rPr sz="900">
                <a:latin typeface="Consolas"/>
              </a:rPr>
              <a:t>│             │               │             │               │             │</a:t>
            </a:r>
            <a:br/>
            <a:r>
              <a:rPr sz="900">
                <a:latin typeface="Consolas"/>
              </a:rPr>
              <a:t>│ Device      │               │  Apache     │               │ Alerting    │</a:t>
            </a:r>
            <a:br/>
            <a:r>
              <a:rPr sz="900">
                <a:latin typeface="Consolas"/>
              </a:rPr>
              <a:t>│ Sensors     │               │  Kafka      │               │ System      │</a:t>
            </a:r>
            <a:br/>
            <a:r>
              <a:rPr sz="900">
                <a:latin typeface="Consolas"/>
              </a:rPr>
              <a:t>│             │               │             │               │             │</a:t>
            </a:r>
            <a:br/>
            <a:r>
              <a:rPr sz="900">
                <a:latin typeface="Consolas"/>
              </a:rPr>
              <a:t>│ User        │               │ Topics:     │               │ Analytics   │</a:t>
            </a:r>
            <a:br/>
            <a:r>
              <a:rPr sz="900">
                <a:latin typeface="Consolas"/>
              </a:rPr>
              <a:t>│ Actions     │               │ - alerts    │               │ Engine      │</a:t>
            </a:r>
            <a:br/>
            <a:r>
              <a:rPr sz="900">
                <a:latin typeface="Consolas"/>
              </a:rPr>
              <a:t>│             │               │ - metrics   │               │             │</a:t>
            </a:r>
            <a:br/>
            <a:r>
              <a:rPr sz="900">
                <a:latin typeface="Consolas"/>
              </a:rPr>
              <a:t>│ System      │               │ - configs   │               │ Dashboard   │</a:t>
            </a:r>
            <a:br/>
            <a:r>
              <a:rPr sz="900">
                <a:latin typeface="Consolas"/>
              </a:rPr>
              <a:t>│ Events      │               │ - audit     │               │ Updates     │</a:t>
            </a:r>
            <a:br/>
            <a:r>
              <a:rPr sz="900">
                <a:latin typeface="Consolas"/>
              </a:rPr>
              <a:t>└─────────────┘               └─────────────┘               └─────────────┘</a:t>
            </a:r>
            <a:br/>
            <a:br/>
            <a:r>
              <a:rPr sz="900">
                <a:latin typeface="Consolas"/>
              </a:rPr>
              <a:t>    │                             │                             │</a:t>
            </a:r>
            <a:br/>
            <a:r>
              <a:rPr sz="900">
                <a:latin typeface="Consolas"/>
              </a:rPr>
              <a:t>    └─── Async Pub/Sub ────────────┼─── Message Queues ────────┘</a:t>
            </a:r>
            <a:br/>
            <a:r>
              <a:rPr sz="900">
                <a:latin typeface="Consolas"/>
              </a:rPr>
              <a:t>                                   │</a:t>
            </a:r>
            <a:br/>
            <a:r>
              <a:rPr sz="900">
                <a:latin typeface="Consolas"/>
              </a:rPr>
              <a:t>                          ┌─────────────┐</a:t>
            </a:r>
            <a:br/>
            <a:r>
              <a:rPr sz="900">
                <a:latin typeface="Consolas"/>
              </a:rPr>
              <a:t>                          │ Event Store │</a:t>
            </a:r>
            <a:br/>
            <a:r>
              <a:rPr sz="900">
                <a:latin typeface="Consolas"/>
              </a:rPr>
              <a:t>                          │ (History)   │</a:t>
            </a:r>
            <a:br/>
            <a:r>
              <a:rPr sz="900">
                <a:latin typeface="Consolas"/>
              </a:rPr>
              <a:t>                          └─────────────┘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Hexagonal Architecture (Ports &amp; Adapters)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Hexagonal Architecture -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Hexagonal Architecture</a:t>
            </a:r>
            <a:br/>
            <a:r>
              <a:rPr sz="900">
                <a:latin typeface="Consolas"/>
              </a:rPr>
              <a:t>                           (Ports &amp; Adapters)</a:t>
            </a:r>
            <a:br/>
            <a:br/>
            <a:r>
              <a:rPr sz="900">
                <a:latin typeface="Consolas"/>
              </a:rPr>
              <a:t>    ┌─────────────────┐                    ┌─────────────────┐</a:t>
            </a:r>
            <a:br/>
            <a:r>
              <a:rPr sz="900">
                <a:latin typeface="Consolas"/>
              </a:rPr>
              <a:t>    │   Web UI        │                    │   Database      │</a:t>
            </a:r>
            <a:br/>
            <a:r>
              <a:rPr sz="900">
                <a:latin typeface="Consolas"/>
              </a:rPr>
              <a:t>    │   Adapter       │                    │   Adapter       │</a:t>
            </a:r>
            <a:br/>
            <a:r>
              <a:rPr sz="900">
                <a:latin typeface="Consolas"/>
              </a:rPr>
              <a:t>    └─────┬───────────┘                    └─────┬───────────┘</a:t>
            </a:r>
            <a:br/>
            <a:r>
              <a:rPr sz="900">
                <a:latin typeface="Consolas"/>
              </a:rPr>
              <a:t>          │                                      │</a:t>
            </a:r>
            <a:br/>
            <a:r>
              <a:rPr sz="900">
                <a:latin typeface="Consolas"/>
              </a:rPr>
              <a:t>    ┌─────┴───────────┐                    ┌─────┴───────────┐</a:t>
            </a:r>
            <a:br/>
            <a:r>
              <a:rPr sz="900">
                <a:latin typeface="Consolas"/>
              </a:rPr>
              <a:t>    │   HTTP Port     │                    │ Persistence Port│</a:t>
            </a:r>
            <a:br/>
            <a:r>
              <a:rPr sz="900">
                <a:latin typeface="Consolas"/>
              </a:rPr>
              <a:t>    └─────┬───────────┘                    └─────┬───────────┘</a:t>
            </a:r>
            <a:br/>
            <a:r>
              <a:rPr sz="900">
                <a:latin typeface="Consolas"/>
              </a:rPr>
              <a:t>          │                                      │</a:t>
            </a:r>
            <a:br/>
            <a:r>
              <a:rPr sz="900">
                <a:latin typeface="Consolas"/>
              </a:rPr>
              <a:t>          │     ┌─────────────────────────┐      │</a:t>
            </a:r>
            <a:br/>
            <a:r>
              <a:rPr sz="900">
                <a:latin typeface="Consolas"/>
              </a:rPr>
              <a:t>          └─────│                         │──────┘</a:t>
            </a:r>
            <a:br/>
            <a:r>
              <a:rPr sz="900">
                <a:latin typeface="Consolas"/>
              </a:rPr>
              <a:t>                │     Domain Core         │</a:t>
            </a:r>
            <a:br/>
            <a:r>
              <a:rPr sz="900">
                <a:latin typeface="Consolas"/>
              </a:rPr>
              <a:t>                │                         │</a:t>
            </a:r>
            <a:br/>
            <a:r>
              <a:rPr sz="900">
                <a:latin typeface="Consolas"/>
              </a:rPr>
              <a:t>    ┌───────────│   Business Logic        │──────────┐</a:t>
            </a:r>
            <a:br/>
            <a:r>
              <a:rPr sz="900">
                <a:latin typeface="Consolas"/>
              </a:rPr>
              <a:t>    │           │                         │          │</a:t>
            </a:r>
            <a:br/>
            <a:r>
              <a:rPr sz="900">
                <a:latin typeface="Consolas"/>
              </a:rPr>
              <a:t>    │           └─────────────────────────┘          │</a:t>
            </a:r>
            <a:br/>
            <a:r>
              <a:rPr sz="900">
                <a:latin typeface="Consolas"/>
              </a:rPr>
              <a:t>    │                                                │</a:t>
            </a:r>
            <a:br/>
            <a:r>
              <a:rPr sz="900">
                <a:latin typeface="Consolas"/>
              </a:rPr>
              <a:t>┌───┴───────────┐                            ┌─────┴───────────┐</a:t>
            </a:r>
            <a:br/>
            <a:r>
              <a:rPr sz="900">
                <a:latin typeface="Consolas"/>
              </a:rPr>
              <a:t>│  API Port     │                            │   Event Port    │</a:t>
            </a:r>
            <a:br/>
            <a:r>
              <a:rPr sz="900">
                <a:latin typeface="Consolas"/>
              </a:rPr>
              <a:t>└───┬───────────┘                            └─────┬───────────┘</a:t>
            </a:r>
            <a:br/>
            <a:r>
              <a:rPr sz="900">
                <a:latin typeface="Consolas"/>
              </a:rPr>
              <a:t>    │                                              │</a:t>
            </a:r>
            <a:br/>
            <a:r>
              <a:rPr sz="900">
                <a:latin typeface="Consolas"/>
              </a:rPr>
              <a:t>┌───┴───────────┐                            ┌─────┴───────────┐</a:t>
            </a:r>
            <a:br/>
            <a:r>
              <a:rPr sz="900">
                <a:latin typeface="Consolas"/>
              </a:rPr>
              <a:t>│   REST API    │                            │   Message       │</a:t>
            </a:r>
            <a:br/>
            <a:r>
              <a:rPr sz="900">
                <a:latin typeface="Consolas"/>
              </a:rPr>
              <a:t>│   Adapter     │                            │   Queue Adapter │</a:t>
            </a:r>
            <a:br/>
            <a:r>
              <a:rPr sz="900">
                <a:latin typeface="Consolas"/>
              </a:rPr>
              <a:t>└───────────────┘                            └─────────────────┘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**Pattern Selection Guide:**</a:t>
            </a:r>
          </a:p>
          <a:p>
            <a:pPr/>
            <a:r>
              <a:t>**Start Simple (Layered):**</a:t>
            </a:r>
          </a:p>
          <a:p>
            <a:pPr lvl="1"/>
            <a:r>
              <a:t>• Prototypen und Proof-of-Concepts</a:t>
            </a:r>
          </a:p>
          <a:p>
            <a:pPr lvl="1"/>
            <a:r>
              <a:t>• Kleine Teams (&lt;5 Entwickler)</a:t>
            </a:r>
          </a:p>
          <a:p>
            <a:pPr lvl="1"/>
            <a:r>
              <a:t>• Einfache CRUD-Operationen</a:t>
            </a:r>
          </a:p>
          <a:p>
            <a:pPr/>
            <a:r>
              <a:t>**Scale Smart (Microservices):**</a:t>
            </a:r>
          </a:p>
          <a:p>
            <a:pPr lvl="1"/>
            <a:r>
              <a:t>• Große verteilte Teams</a:t>
            </a:r>
          </a:p>
          <a:p>
            <a:pPr lvl="1"/>
            <a:r>
              <a:t>• Independent Service Scaling</a:t>
            </a:r>
          </a:p>
          <a:p>
            <a:pPr lvl="1"/>
            <a:r>
              <a:t>• High Availability Requirements</a:t>
            </a:r>
          </a:p>
          <a:p>
            <a:pPr/>
            <a:r>
              <a:t>**Integrate Efficiently (Event-Driven):**</a:t>
            </a:r>
          </a:p>
          <a:p>
            <a:pPr lvl="1"/>
            <a:r>
              <a:t>• Real-time Processing</a:t>
            </a:r>
          </a:p>
          <a:p>
            <a:pPr lvl="1"/>
            <a:r>
              <a:t>• System Integration</a:t>
            </a:r>
          </a:p>
          <a:p>
            <a:pPr/>
            <a:r>
              <a:t>**Design for Change (Hexagonal):**</a:t>
            </a:r>
          </a:p>
          <a:p>
            <a:pPr lvl="1"/>
            <a:r>
              <a:t>• Complex Domain Logic</a:t>
            </a:r>
          </a:p>
          <a:p>
            <a:pPr lvl="1"/>
            <a:r>
              <a:t>• Testability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anillaCore" id="{A4188DAF-3037-9A46-8AA0-BDB523AB8B82}" vid="{1D57C864-6CD3-B749-8548-A8609C08E9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Arial</vt:lpstr>
      <vt:lpstr>Open Sans</vt:lpstr>
      <vt:lpstr>Open Sans Light</vt:lpstr>
      <vt:lpstr>Source Code Pro</vt:lpstr>
      <vt:lpstr>Custom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Samaschke, Karsten</dc:creator>
  <cp:lastModifiedBy>Samaschke, Karsten</cp:lastModifiedBy>
  <cp:revision>8</cp:revision>
  <dcterms:created xsi:type="dcterms:W3CDTF">2025-09-10T03:57:45Z</dcterms:created>
  <dcterms:modified xsi:type="dcterms:W3CDTF">2025-09-10T05:07:05Z</dcterms:modified>
</cp:coreProperties>
</file>