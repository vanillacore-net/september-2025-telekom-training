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1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9"/>
    <p:sldId id="264" r:id="rId10"/>
    <p:sldId id="266" r:id="rId12"/>
    <p:sldId id="267" r:id="rId13"/>
    <p:sldId id="268" r:id="rId14"/>
    <p:sldId id="269" r:id="rId15"/>
    <p:sldId id="270" r:id="rId16"/>
    <p:sldId id="275" r:id="rId26"/>
    <p:sldId id="276" r:id="rId27"/>
    <p:sldId id="277" r:id="rId28"/>
    <p:sldId id="278" r:id="rId29"/>
    <p:sldId id="279" r:id="rId30"/>
    <p:sldId id="280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43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87"/>
  </p:normalViewPr>
  <p:slideViewPr>
    <p:cSldViewPr snapToGrid="0">
      <p:cViewPr varScale="1">
        <p:scale>
          <a:sx n="156" d="100"/>
          <a:sy n="156" d="100"/>
        </p:scale>
        <p:origin x="216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4" Type="http://schemas.openxmlformats.org/officeDocument/2006/relationships/notesMaster" Target="notesMasters/notesMaster1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Architectural Patterns - Part 1:</a:t>
            </a:r>
          </a:p>
          <a:p/>
          <a:p>
            <a:r>
              <a:t>CONTENT OVERVIEW:</a:t>
            </a:r>
          </a:p>
          <a:p>
            <a:r>
              <a:t>- Hauptpunkte dieser Folie systematisch durchgehen</a:t>
            </a:r>
          </a:p>
          <a:p>
            <a:r>
              <a:t>- Verbindung zu vorherigen Folien aufzeigen</a:t>
            </a:r>
          </a:p>
          <a:p>
            <a:r>
              <a:t>- Context für kommende Folien setzen</a:t>
            </a:r>
          </a:p>
          <a:p/>
          <a:p>
            <a:r>
              <a:t>TELEKOM RELEVANZ:</a:t>
            </a:r>
          </a:p>
          <a:p>
            <a:r>
              <a:t>- Wie ist das für Telekom-Projekte relevant?</a:t>
            </a:r>
          </a:p>
          <a:p>
            <a:r>
              <a:t>- Konkrete Beispiele aus unserem Umfeld</a:t>
            </a:r>
          </a:p>
          <a:p>
            <a:r>
              <a:t>- Erfahrungen aus ähnlichen Implementierungen</a:t>
            </a:r>
          </a:p>
          <a:p/>
          <a:p>
            <a:r>
              <a:t>INTERAKTION:</a:t>
            </a:r>
          </a:p>
          <a:p>
            <a:r>
              <a:t>- Fragen an die Teilnehmer stellen</a:t>
            </a:r>
          </a:p>
          <a:p>
            <a:r>
              <a:t>- Erfahrungsaustausch fördern</a:t>
            </a:r>
          </a:p>
          <a:p>
            <a:r>
              <a:t>- Verständnis sicherstellen</a:t>
            </a:r>
          </a:p>
          <a:p/>
          <a:p>
            <a:r>
              <a:t>TECHNICAL DETAILS:</a:t>
            </a:r>
          </a:p>
          <a:p>
            <a:r>
              <a:t>- Wichtige technische Aspekte hervorheben</a:t>
            </a:r>
          </a:p>
          <a:p>
            <a:r>
              <a:t>- Best Practices erwähnen</a:t>
            </a:r>
          </a:p>
          <a:p>
            <a:r>
              <a:t>- Common Pitfalls vermeiden</a:t>
            </a:r>
          </a:p>
          <a:p/>
          <a:p>
            <a:r>
              <a:t>ÜBERLEITUNG:</a:t>
            </a:r>
          </a:p>
          <a:p>
            <a:r>
              <a:t>- Vorbereitung auf nächste Folie</a:t>
            </a:r>
          </a:p>
          <a:p>
            <a:r>
              <a:t>- Logischen Flow aufrechterhalten</a:t>
            </a:r>
          </a:p>
          <a:p>
            <a:r>
              <a:t>- Spannung für kommende Topics</a:t>
            </a:r>
          </a:p>
          <a:p/>
          <a:p>
            <a:r>
              <a:t>TIMING:</a:t>
            </a:r>
          </a:p>
          <a:p>
            <a:r>
              <a:t>- Passende Geschwindigkeit für Inhalt</a:t>
            </a:r>
          </a:p>
          <a:p>
            <a:r>
              <a:t>- Nicht zu schnell durch komplexe Themen</a:t>
            </a:r>
          </a:p>
          <a:p>
            <a:r>
              <a:t>- Zeit für Fragen einplanen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Overview: Layer-Based Architectures:</a:t>
            </a:r>
          </a:p>
          <a:p/>
          <a:p>
            <a:r>
              <a:t>AGENDA SETTING:</a:t>
            </a:r>
          </a:p>
          <a:p>
            <a:r>
              <a:t>- Diese Folie gibt den Überblick über kommende Patterns</a:t>
            </a:r>
          </a:p>
          <a:p>
            <a:r>
              <a:t>- Zeigt thematische Zusammenhänge auf</a:t>
            </a:r>
          </a:p>
          <a:p>
            <a:r>
              <a:t>- Hilft bei der Orientierung im Workshop</a:t>
            </a:r>
          </a:p>
          <a:p/>
          <a:p>
            <a:r>
              <a:t>VISUAL ELEMENTS:</a:t>
            </a:r>
          </a:p>
          <a:p>
            <a:r>
              <a:t>- Diagramme langsam durchgehen</a:t>
            </a:r>
          </a:p>
          <a:p>
            <a:r>
              <a:t>- Gemeinsamkeiten und Unterschiede hervorheben</a:t>
            </a:r>
          </a:p>
          <a:p>
            <a:r>
              <a:t>- Aufbau von einfach zu komplex erklären</a:t>
            </a:r>
          </a:p>
          <a:p/>
          <a:p>
            <a:r>
              <a:t>INTERAKTION:</a:t>
            </a:r>
          </a:p>
          <a:p>
            <a:r>
              <a:t>- Fragen: "Wer hat schon mit diesen Patterns gearbeitet?"</a:t>
            </a:r>
          </a:p>
          <a:p>
            <a:r>
              <a:t>- Erfahrungsaustausch fördern</a:t>
            </a:r>
          </a:p>
          <a:p>
            <a:r>
              <a:t>- Erwartungen für diesen Block abfragen</a:t>
            </a:r>
          </a:p>
          <a:p/>
          <a:p>
            <a:r>
              <a:t>TELEKOM CONTEXT:</a:t>
            </a:r>
          </a:p>
          <a:p>
            <a:r>
              <a:t>- Welche Patterns sind bereits in Telekom-Projekten im Einsatz?</a:t>
            </a:r>
          </a:p>
          <a:p>
            <a:r>
              <a:t>- Wo sehen wir die größten Potentiale?</a:t>
            </a:r>
          </a:p>
          <a:p/>
          <a:p>
            <a:r>
              <a:t>ÜBERLEITUNG:</a:t>
            </a:r>
          </a:p>
          <a:p>
            <a:r>
              <a:t>- "Wir starten mit dem einfachsten Pattern..."</a:t>
            </a:r>
          </a:p>
          <a:p>
            <a:r>
              <a:t>- Lernkurve von grundlegend zu advanced erklären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Architecture Types Comparison:</a:t>
            </a:r>
          </a:p>
          <a:p/>
          <a:p>
            <a:r>
              <a:t>VISUAL WALKTHROUGH:</a:t>
            </a:r>
          </a:p>
          <a:p>
            <a:r>
              <a:t>- Diagramm systematisch von links nach rechts durchgehen</a:t>
            </a:r>
          </a:p>
          <a:p>
            <a:r>
              <a:t>- Komponenten und deren Verantwortlichkeiten erklären</a:t>
            </a:r>
          </a:p>
          <a:p>
            <a:r>
              <a:t>- Data Flow und Control Flow unterscheiden</a:t>
            </a:r>
          </a:p>
          <a:p/>
          <a:p>
            <a:r>
              <a:t>TECHNICAL DEPTH:</a:t>
            </a:r>
          </a:p>
          <a:p>
            <a:r>
              <a:t>- Interfaces zwischen Komponenten detailliert erklären</a:t>
            </a:r>
          </a:p>
          <a:p>
            <a:r>
              <a:t>- Warum diese Struktur gewählt?</a:t>
            </a:r>
          </a:p>
          <a:p>
            <a:r>
              <a:t>- Alternative Architekturen kurz diskutieren</a:t>
            </a:r>
          </a:p>
          <a:p/>
          <a:p>
            <a:r>
              <a:t>SCALABILITY ASPECTS:</a:t>
            </a:r>
          </a:p>
          <a:p>
            <a:r>
              <a:t>- Wo sind die Bottlenecks in dieser Architektur?</a:t>
            </a:r>
          </a:p>
          <a:p>
            <a:r>
              <a:t>- Wie skaliert jede Komponente?</a:t>
            </a:r>
          </a:p>
          <a:p>
            <a:r>
              <a:t>- Horizontal vs. Vertical Scaling</a:t>
            </a:r>
          </a:p>
          <a:p/>
          <a:p>
            <a:r>
              <a:t>FAILURE SCENARIOS:</a:t>
            </a:r>
          </a:p>
          <a:p>
            <a:r>
              <a:t>- Was passiert wenn Komponente X ausfällt?</a:t>
            </a:r>
          </a:p>
          <a:p>
            <a:r>
              <a:t>- Resilience Patterns eingebaut?</a:t>
            </a:r>
          </a:p>
          <a:p>
            <a:r>
              <a:t>- Recovery Strategien</a:t>
            </a:r>
          </a:p>
          <a:p/>
          <a:p>
            <a:r>
              <a:t>IMPLEMENTATION HINTS:</a:t>
            </a:r>
          </a:p>
          <a:p>
            <a:r>
              <a:t>- Technology Mapping für jede Komponente</a:t>
            </a:r>
          </a:p>
          <a:p>
            <a:r>
              <a:t>- Deployment Considerations</a:t>
            </a:r>
          </a:p>
          <a:p>
            <a:r>
              <a:t>- Monitoring und Observability</a:t>
            </a:r>
          </a:p>
          <a:p/>
          <a:p>
            <a:r>
              <a:t>INTERACTIVE ELEMENT:</a:t>
            </a:r>
          </a:p>
          <a:p>
            <a:r>
              <a:t>- Fragen zur Architektur stellen</a:t>
            </a:r>
          </a:p>
          <a:p>
            <a:r>
              <a:t>- Erfahrungen der Teilnehmer abfragen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1. Layered Architecture (Schichtarchitektur):</a:t>
            </a:r>
          </a:p>
          <a:p/>
          <a:p>
            <a:r>
              <a:t>VISUAL WALKTHROUGH:</a:t>
            </a:r>
          </a:p>
          <a:p>
            <a:r>
              <a:t>- Diagramm systematisch von links nach rechts durchgehen</a:t>
            </a:r>
          </a:p>
          <a:p>
            <a:r>
              <a:t>- Komponenten und deren Verantwortlichkeiten erklären</a:t>
            </a:r>
          </a:p>
          <a:p>
            <a:r>
              <a:t>- Data Flow und Control Flow unterscheiden</a:t>
            </a:r>
          </a:p>
          <a:p/>
          <a:p>
            <a:r>
              <a:t>TECHNICAL DEPTH:</a:t>
            </a:r>
          </a:p>
          <a:p>
            <a:r>
              <a:t>- Interfaces zwischen Komponenten detailliert erklären</a:t>
            </a:r>
          </a:p>
          <a:p>
            <a:r>
              <a:t>- Warum diese Struktur gewählt?</a:t>
            </a:r>
          </a:p>
          <a:p>
            <a:r>
              <a:t>- Alternative Architekturen kurz diskutieren</a:t>
            </a:r>
          </a:p>
          <a:p/>
          <a:p>
            <a:r>
              <a:t>SCALABILITY ASPECTS:</a:t>
            </a:r>
          </a:p>
          <a:p>
            <a:r>
              <a:t>- Wo sind die Bottlenecks in dieser Architektur?</a:t>
            </a:r>
          </a:p>
          <a:p>
            <a:r>
              <a:t>- Wie skaliert jede Komponente?</a:t>
            </a:r>
          </a:p>
          <a:p>
            <a:r>
              <a:t>- Horizontal vs. Vertical Scaling</a:t>
            </a:r>
          </a:p>
          <a:p/>
          <a:p>
            <a:r>
              <a:t>FAILURE SCENARIOS:</a:t>
            </a:r>
          </a:p>
          <a:p>
            <a:r>
              <a:t>- Was passiert wenn Komponente X ausfällt?</a:t>
            </a:r>
          </a:p>
          <a:p>
            <a:r>
              <a:t>- Resilience Patterns eingebaut?</a:t>
            </a:r>
          </a:p>
          <a:p>
            <a:r>
              <a:t>- Recovery Strategien</a:t>
            </a:r>
          </a:p>
          <a:p/>
          <a:p>
            <a:r>
              <a:t>IMPLEMENTATION HINTS:</a:t>
            </a:r>
          </a:p>
          <a:p>
            <a:r>
              <a:t>- Technology Mapping für jede Komponente</a:t>
            </a:r>
          </a:p>
          <a:p>
            <a:r>
              <a:t>- Deployment Considerations</a:t>
            </a:r>
          </a:p>
          <a:p>
            <a:r>
              <a:t>- Monitoring und Observability</a:t>
            </a:r>
          </a:p>
          <a:p/>
          <a:p>
            <a:r>
              <a:t>INTERACTIVE ELEMENT:</a:t>
            </a:r>
          </a:p>
          <a:p>
            <a:r>
              <a:t>- Fragen zur Architektur stellen</a:t>
            </a:r>
          </a:p>
          <a:p>
            <a:r>
              <a:t>- Erfahrungen der Teilnehmer abfragen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Layered Architecture - Schema:</a:t>
            </a:r>
          </a:p>
          <a:p/>
          <a:p>
            <a:r>
              <a:t>VISUAL WALKTHROUGH:</a:t>
            </a:r>
          </a:p>
          <a:p>
            <a:r>
              <a:t>- Diagramm systematisch von links nach rechts durchgehen</a:t>
            </a:r>
          </a:p>
          <a:p>
            <a:r>
              <a:t>- Komponenten und deren Verantwortlichkeiten erklären</a:t>
            </a:r>
          </a:p>
          <a:p>
            <a:r>
              <a:t>- Data Flow und Control Flow unterscheiden</a:t>
            </a:r>
          </a:p>
          <a:p/>
          <a:p>
            <a:r>
              <a:t>TECHNICAL DEPTH:</a:t>
            </a:r>
          </a:p>
          <a:p>
            <a:r>
              <a:t>- Interfaces zwischen Komponenten detailliert erklären</a:t>
            </a:r>
          </a:p>
          <a:p>
            <a:r>
              <a:t>- Warum diese Struktur gewählt?</a:t>
            </a:r>
          </a:p>
          <a:p>
            <a:r>
              <a:t>- Alternative Architekturen kurz diskutieren</a:t>
            </a:r>
          </a:p>
          <a:p/>
          <a:p>
            <a:r>
              <a:t>SCALABILITY ASPECTS:</a:t>
            </a:r>
          </a:p>
          <a:p>
            <a:r>
              <a:t>- Wo sind die Bottlenecks in dieser Architektur?</a:t>
            </a:r>
          </a:p>
          <a:p>
            <a:r>
              <a:t>- Wie skaliert jede Komponente?</a:t>
            </a:r>
          </a:p>
          <a:p>
            <a:r>
              <a:t>- Horizontal vs. Vertical Scaling</a:t>
            </a:r>
          </a:p>
          <a:p/>
          <a:p>
            <a:r>
              <a:t>FAILURE SCENARIOS:</a:t>
            </a:r>
          </a:p>
          <a:p>
            <a:r>
              <a:t>- Was passiert wenn Komponente X ausfällt?</a:t>
            </a:r>
          </a:p>
          <a:p>
            <a:r>
              <a:t>- Resilience Patterns eingebaut?</a:t>
            </a:r>
          </a:p>
          <a:p>
            <a:r>
              <a:t>- Recovery Strategien</a:t>
            </a:r>
          </a:p>
          <a:p/>
          <a:p>
            <a:r>
              <a:t>IMPLEMENTATION HINTS:</a:t>
            </a:r>
          </a:p>
          <a:p>
            <a:r>
              <a:t>- Technology Mapping für jede Komponente</a:t>
            </a:r>
          </a:p>
          <a:p>
            <a:r>
              <a:t>- Deployment Considerations</a:t>
            </a:r>
          </a:p>
          <a:p>
            <a:r>
              <a:t>- Monitoring und Observability</a:t>
            </a:r>
          </a:p>
          <a:p/>
          <a:p>
            <a:r>
              <a:t>INTERACTIVE ELEMENT:</a:t>
            </a:r>
          </a:p>
          <a:p>
            <a:r>
              <a:t>- Fragen zur Architektur stellen</a:t>
            </a:r>
          </a:p>
          <a:p>
            <a:r>
              <a:t>- Erfahrungen der Teilnehmer abfragen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Layered Architecture - Network Config Management System:</a:t>
            </a:r>
          </a:p>
          <a:p/>
          <a:p>
            <a:r>
              <a:t>VISUAL WALKTHROUGH:</a:t>
            </a:r>
          </a:p>
          <a:p>
            <a:r>
              <a:t>- Diagramm systematisch von links nach rechts durchgehen</a:t>
            </a:r>
          </a:p>
          <a:p>
            <a:r>
              <a:t>- Komponenten und deren Verantwortlichkeiten erklären</a:t>
            </a:r>
          </a:p>
          <a:p>
            <a:r>
              <a:t>- Data Flow und Control Flow unterscheiden</a:t>
            </a:r>
          </a:p>
          <a:p/>
          <a:p>
            <a:r>
              <a:t>TECHNICAL DEPTH:</a:t>
            </a:r>
          </a:p>
          <a:p>
            <a:r>
              <a:t>- Interfaces zwischen Komponenten detailliert erklären</a:t>
            </a:r>
          </a:p>
          <a:p>
            <a:r>
              <a:t>- Warum diese Struktur gewählt?</a:t>
            </a:r>
          </a:p>
          <a:p>
            <a:r>
              <a:t>- Alternative Architekturen kurz diskutieren</a:t>
            </a:r>
          </a:p>
          <a:p/>
          <a:p>
            <a:r>
              <a:t>SCALABILITY ASPECTS:</a:t>
            </a:r>
          </a:p>
          <a:p>
            <a:r>
              <a:t>- Wo sind die Bottlenecks in dieser Architektur?</a:t>
            </a:r>
          </a:p>
          <a:p>
            <a:r>
              <a:t>- Wie skaliert jede Komponente?</a:t>
            </a:r>
          </a:p>
          <a:p>
            <a:r>
              <a:t>- Horizontal vs. Vertical Scaling</a:t>
            </a:r>
          </a:p>
          <a:p/>
          <a:p>
            <a:r>
              <a:t>FAILURE SCENARIOS:</a:t>
            </a:r>
          </a:p>
          <a:p>
            <a:r>
              <a:t>- Was passiert wenn Komponente X ausfällt?</a:t>
            </a:r>
          </a:p>
          <a:p>
            <a:r>
              <a:t>- Resilience Patterns eingebaut?</a:t>
            </a:r>
          </a:p>
          <a:p>
            <a:r>
              <a:t>- Recovery Strategien</a:t>
            </a:r>
          </a:p>
          <a:p/>
          <a:p>
            <a:r>
              <a:t>IMPLEMENTATION HINTS:</a:t>
            </a:r>
          </a:p>
          <a:p>
            <a:r>
              <a:t>- Technology Mapping für jede Komponente</a:t>
            </a:r>
          </a:p>
          <a:p>
            <a:r>
              <a:t>- Deployment Considerations</a:t>
            </a:r>
          </a:p>
          <a:p>
            <a:r>
              <a:t>- Monitoring und Observability</a:t>
            </a:r>
          </a:p>
          <a:p/>
          <a:p>
            <a:r>
              <a:t>INTERACTIVE ELEMENT:</a:t>
            </a:r>
          </a:p>
          <a:p>
            <a:r>
              <a:t>- Fragen zur Architektur stellen</a:t>
            </a:r>
          </a:p>
          <a:p>
            <a:r>
              <a:t>- Erfahrungen der Teilnehmer abfragen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2. Microservices Architecture:</a:t>
            </a:r>
          </a:p>
          <a:p/>
          <a:p>
            <a:r>
              <a:t>VISUAL WALKTHROUGH:</a:t>
            </a:r>
          </a:p>
          <a:p>
            <a:r>
              <a:t>- Diagramm systematisch von links nach rechts durchgehen</a:t>
            </a:r>
          </a:p>
          <a:p>
            <a:r>
              <a:t>- Komponenten und deren Verantwortlichkeiten erklären</a:t>
            </a:r>
          </a:p>
          <a:p>
            <a:r>
              <a:t>- Data Flow und Control Flow unterscheiden</a:t>
            </a:r>
          </a:p>
          <a:p/>
          <a:p>
            <a:r>
              <a:t>TECHNICAL DEPTH:</a:t>
            </a:r>
          </a:p>
          <a:p>
            <a:r>
              <a:t>- Interfaces zwischen Komponenten detailliert erklären</a:t>
            </a:r>
          </a:p>
          <a:p>
            <a:r>
              <a:t>- Warum diese Struktur gewählt?</a:t>
            </a:r>
          </a:p>
          <a:p>
            <a:r>
              <a:t>- Alternative Architekturen kurz diskutieren</a:t>
            </a:r>
          </a:p>
          <a:p/>
          <a:p>
            <a:r>
              <a:t>SCALABILITY ASPECTS:</a:t>
            </a:r>
          </a:p>
          <a:p>
            <a:r>
              <a:t>- Wo sind die Bottlenecks in dieser Architektur?</a:t>
            </a:r>
          </a:p>
          <a:p>
            <a:r>
              <a:t>- Wie skaliert jede Komponente?</a:t>
            </a:r>
          </a:p>
          <a:p>
            <a:r>
              <a:t>- Horizontal vs. Vertical Scaling</a:t>
            </a:r>
          </a:p>
          <a:p/>
          <a:p>
            <a:r>
              <a:t>FAILURE SCENARIOS:</a:t>
            </a:r>
          </a:p>
          <a:p>
            <a:r>
              <a:t>- Was passiert wenn Komponente X ausfällt?</a:t>
            </a:r>
          </a:p>
          <a:p>
            <a:r>
              <a:t>- Resilience Patterns eingebaut?</a:t>
            </a:r>
          </a:p>
          <a:p>
            <a:r>
              <a:t>- Recovery Strategien</a:t>
            </a:r>
          </a:p>
          <a:p/>
          <a:p>
            <a:r>
              <a:t>IMPLEMENTATION HINTS:</a:t>
            </a:r>
          </a:p>
          <a:p>
            <a:r>
              <a:t>- Technology Mapping für jede Komponente</a:t>
            </a:r>
          </a:p>
          <a:p>
            <a:r>
              <a:t>- Deployment Considerations</a:t>
            </a:r>
          </a:p>
          <a:p>
            <a:r>
              <a:t>- Monitoring und Observability</a:t>
            </a:r>
          </a:p>
          <a:p/>
          <a:p>
            <a:r>
              <a:t>INTERACTIVE ELEMENT:</a:t>
            </a:r>
          </a:p>
          <a:p>
            <a:r>
              <a:t>- Fragen zur Architektur stellen</a:t>
            </a:r>
          </a:p>
          <a:p>
            <a:r>
              <a:t>- Erfahrungen der Teilnehmer abfragen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Microservices Architecture - Schema:</a:t>
            </a:r>
          </a:p>
          <a:p/>
          <a:p>
            <a:r>
              <a:t>VISUAL WALKTHROUGH:</a:t>
            </a:r>
          </a:p>
          <a:p>
            <a:r>
              <a:t>- Diagramm systematisch von links nach rechts durchgehen</a:t>
            </a:r>
          </a:p>
          <a:p>
            <a:r>
              <a:t>- Komponenten und deren Verantwortlichkeiten erklären</a:t>
            </a:r>
          </a:p>
          <a:p>
            <a:r>
              <a:t>- Data Flow und Control Flow unterscheiden</a:t>
            </a:r>
          </a:p>
          <a:p/>
          <a:p>
            <a:r>
              <a:t>TECHNICAL DEPTH:</a:t>
            </a:r>
          </a:p>
          <a:p>
            <a:r>
              <a:t>- Interfaces zwischen Komponenten detailliert erklären</a:t>
            </a:r>
          </a:p>
          <a:p>
            <a:r>
              <a:t>- Warum diese Struktur gewählt?</a:t>
            </a:r>
          </a:p>
          <a:p>
            <a:r>
              <a:t>- Alternative Architekturen kurz diskutieren</a:t>
            </a:r>
          </a:p>
          <a:p/>
          <a:p>
            <a:r>
              <a:t>SCALABILITY ASPECTS:</a:t>
            </a:r>
          </a:p>
          <a:p>
            <a:r>
              <a:t>- Wo sind die Bottlenecks in dieser Architektur?</a:t>
            </a:r>
          </a:p>
          <a:p>
            <a:r>
              <a:t>- Wie skaliert jede Komponente?</a:t>
            </a:r>
          </a:p>
          <a:p>
            <a:r>
              <a:t>- Horizontal vs. Vertical Scaling</a:t>
            </a:r>
          </a:p>
          <a:p/>
          <a:p>
            <a:r>
              <a:t>FAILURE SCENARIOS:</a:t>
            </a:r>
          </a:p>
          <a:p>
            <a:r>
              <a:t>- Was passiert wenn Komponente X ausfällt?</a:t>
            </a:r>
          </a:p>
          <a:p>
            <a:r>
              <a:t>- Resilience Patterns eingebaut?</a:t>
            </a:r>
          </a:p>
          <a:p>
            <a:r>
              <a:t>- Recovery Strategien</a:t>
            </a:r>
          </a:p>
          <a:p/>
          <a:p>
            <a:r>
              <a:t>IMPLEMENTATION HINTS:</a:t>
            </a:r>
          </a:p>
          <a:p>
            <a:r>
              <a:t>- Technology Mapping für jede Komponente</a:t>
            </a:r>
          </a:p>
          <a:p>
            <a:r>
              <a:t>- Deployment Considerations</a:t>
            </a:r>
          </a:p>
          <a:p>
            <a:r>
              <a:t>- Monitoring und Observability</a:t>
            </a:r>
          </a:p>
          <a:p/>
          <a:p>
            <a:r>
              <a:t>INTERACTIVE ELEMENT:</a:t>
            </a:r>
          </a:p>
          <a:p>
            <a:r>
              <a:t>- Fragen zur Architektur stellen</a:t>
            </a:r>
          </a:p>
          <a:p>
            <a:r>
              <a:t>- Erfahrungen der Teilnehmer abfragen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3. Event-Driven Architecture:</a:t>
            </a:r>
          </a:p>
          <a:p/>
          <a:p>
            <a:r>
              <a:t>VISUAL WALKTHROUGH:</a:t>
            </a:r>
          </a:p>
          <a:p>
            <a:r>
              <a:t>- Diagramm systematisch von links nach rechts durchgehen</a:t>
            </a:r>
          </a:p>
          <a:p>
            <a:r>
              <a:t>- Komponenten und deren Verantwortlichkeiten erklären</a:t>
            </a:r>
          </a:p>
          <a:p>
            <a:r>
              <a:t>- Data Flow und Control Flow unterscheiden</a:t>
            </a:r>
          </a:p>
          <a:p/>
          <a:p>
            <a:r>
              <a:t>TECHNICAL DEPTH:</a:t>
            </a:r>
          </a:p>
          <a:p>
            <a:r>
              <a:t>- Interfaces zwischen Komponenten detailliert erklären</a:t>
            </a:r>
          </a:p>
          <a:p>
            <a:r>
              <a:t>- Warum diese Struktur gewählt?</a:t>
            </a:r>
          </a:p>
          <a:p>
            <a:r>
              <a:t>- Alternative Architekturen kurz diskutieren</a:t>
            </a:r>
          </a:p>
          <a:p/>
          <a:p>
            <a:r>
              <a:t>SCALABILITY ASPECTS:</a:t>
            </a:r>
          </a:p>
          <a:p>
            <a:r>
              <a:t>- Wo sind die Bottlenecks in dieser Architektur?</a:t>
            </a:r>
          </a:p>
          <a:p>
            <a:r>
              <a:t>- Wie skaliert jede Komponente?</a:t>
            </a:r>
          </a:p>
          <a:p>
            <a:r>
              <a:t>- Horizontal vs. Vertical Scaling</a:t>
            </a:r>
          </a:p>
          <a:p/>
          <a:p>
            <a:r>
              <a:t>FAILURE SCENARIOS:</a:t>
            </a:r>
          </a:p>
          <a:p>
            <a:r>
              <a:t>- Was passiert wenn Komponente X ausfällt?</a:t>
            </a:r>
          </a:p>
          <a:p>
            <a:r>
              <a:t>- Resilience Patterns eingebaut?</a:t>
            </a:r>
          </a:p>
          <a:p>
            <a:r>
              <a:t>- Recovery Strategien</a:t>
            </a:r>
          </a:p>
          <a:p/>
          <a:p>
            <a:r>
              <a:t>IMPLEMENTATION HINTS:</a:t>
            </a:r>
          </a:p>
          <a:p>
            <a:r>
              <a:t>- Technology Mapping für jede Komponente</a:t>
            </a:r>
          </a:p>
          <a:p>
            <a:r>
              <a:t>- Deployment Considerations</a:t>
            </a:r>
          </a:p>
          <a:p>
            <a:r>
              <a:t>- Monitoring und Observability</a:t>
            </a:r>
          </a:p>
          <a:p/>
          <a:p>
            <a:r>
              <a:t>INTERACTIVE ELEMENT:</a:t>
            </a:r>
          </a:p>
          <a:p>
            <a:r>
              <a:t>- Fragen zur Architektur stellen</a:t>
            </a:r>
          </a:p>
          <a:p>
            <a:r>
              <a:t>- Erfahrungen der Teilnehmer abfragen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Event-Driven Architecture - Schema:</a:t>
            </a:r>
          </a:p>
          <a:p/>
          <a:p>
            <a:r>
              <a:t>VISUAL WALKTHROUGH:</a:t>
            </a:r>
          </a:p>
          <a:p>
            <a:r>
              <a:t>- Diagramm systematisch von links nach rechts durchgehen</a:t>
            </a:r>
          </a:p>
          <a:p>
            <a:r>
              <a:t>- Komponenten und deren Verantwortlichkeiten erklären</a:t>
            </a:r>
          </a:p>
          <a:p>
            <a:r>
              <a:t>- Data Flow und Control Flow unterscheiden</a:t>
            </a:r>
          </a:p>
          <a:p/>
          <a:p>
            <a:r>
              <a:t>TECHNICAL DEPTH:</a:t>
            </a:r>
          </a:p>
          <a:p>
            <a:r>
              <a:t>- Interfaces zwischen Komponenten detailliert erklären</a:t>
            </a:r>
          </a:p>
          <a:p>
            <a:r>
              <a:t>- Warum diese Struktur gewählt?</a:t>
            </a:r>
          </a:p>
          <a:p>
            <a:r>
              <a:t>- Alternative Architekturen kurz diskutieren</a:t>
            </a:r>
          </a:p>
          <a:p/>
          <a:p>
            <a:r>
              <a:t>SCALABILITY ASPECTS:</a:t>
            </a:r>
          </a:p>
          <a:p>
            <a:r>
              <a:t>- Wo sind die Bottlenecks in dieser Architektur?</a:t>
            </a:r>
          </a:p>
          <a:p>
            <a:r>
              <a:t>- Wie skaliert jede Komponente?</a:t>
            </a:r>
          </a:p>
          <a:p>
            <a:r>
              <a:t>- Horizontal vs. Vertical Scaling</a:t>
            </a:r>
          </a:p>
          <a:p/>
          <a:p>
            <a:r>
              <a:t>FAILURE SCENARIOS:</a:t>
            </a:r>
          </a:p>
          <a:p>
            <a:r>
              <a:t>- Was passiert wenn Komponente X ausfällt?</a:t>
            </a:r>
          </a:p>
          <a:p>
            <a:r>
              <a:t>- Resilience Patterns eingebaut?</a:t>
            </a:r>
          </a:p>
          <a:p>
            <a:r>
              <a:t>- Recovery Strategien</a:t>
            </a:r>
          </a:p>
          <a:p/>
          <a:p>
            <a:r>
              <a:t>IMPLEMENTATION HINTS:</a:t>
            </a:r>
          </a:p>
          <a:p>
            <a:r>
              <a:t>- Technology Mapping für jede Komponente</a:t>
            </a:r>
          </a:p>
          <a:p>
            <a:r>
              <a:t>- Deployment Considerations</a:t>
            </a:r>
          </a:p>
          <a:p>
            <a:r>
              <a:t>- Monitoring und Observability</a:t>
            </a:r>
          </a:p>
          <a:p/>
          <a:p>
            <a:r>
              <a:t>INTERACTIVE ELEMENT:</a:t>
            </a:r>
          </a:p>
          <a:p>
            <a:r>
              <a:t>- Fragen zur Architektur stellen</a:t>
            </a:r>
          </a:p>
          <a:p>
            <a:r>
              <a:t>- Erfahrungen der Teilnehmer abfragen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4. Hexagonal Architecture (Ports &amp; Adapters):</a:t>
            </a:r>
          </a:p>
          <a:p/>
          <a:p>
            <a:r>
              <a:t>VISUAL WALKTHROUGH:</a:t>
            </a:r>
          </a:p>
          <a:p>
            <a:r>
              <a:t>- Diagramm systematisch von links nach rechts durchgehen</a:t>
            </a:r>
          </a:p>
          <a:p>
            <a:r>
              <a:t>- Komponenten und deren Verantwortlichkeiten erklären</a:t>
            </a:r>
          </a:p>
          <a:p>
            <a:r>
              <a:t>- Data Flow und Control Flow unterscheiden</a:t>
            </a:r>
          </a:p>
          <a:p/>
          <a:p>
            <a:r>
              <a:t>TECHNICAL DEPTH:</a:t>
            </a:r>
          </a:p>
          <a:p>
            <a:r>
              <a:t>- Interfaces zwischen Komponenten detailliert erklären</a:t>
            </a:r>
          </a:p>
          <a:p>
            <a:r>
              <a:t>- Warum diese Struktur gewählt?</a:t>
            </a:r>
          </a:p>
          <a:p>
            <a:r>
              <a:t>- Alternative Architekturen kurz diskutieren</a:t>
            </a:r>
          </a:p>
          <a:p/>
          <a:p>
            <a:r>
              <a:t>SCALABILITY ASPECTS:</a:t>
            </a:r>
          </a:p>
          <a:p>
            <a:r>
              <a:t>- Wo sind die Bottlenecks in dieser Architektur?</a:t>
            </a:r>
          </a:p>
          <a:p>
            <a:r>
              <a:t>- Wie skaliert jede Komponente?</a:t>
            </a:r>
          </a:p>
          <a:p>
            <a:r>
              <a:t>- Horizontal vs. Vertical Scaling</a:t>
            </a:r>
          </a:p>
          <a:p/>
          <a:p>
            <a:r>
              <a:t>FAILURE SCENARIOS:</a:t>
            </a:r>
          </a:p>
          <a:p>
            <a:r>
              <a:t>- Was passiert wenn Komponente X ausfällt?</a:t>
            </a:r>
          </a:p>
          <a:p>
            <a:r>
              <a:t>- Resilience Patterns eingebaut?</a:t>
            </a:r>
          </a:p>
          <a:p>
            <a:r>
              <a:t>- Recovery Strategien</a:t>
            </a:r>
          </a:p>
          <a:p/>
          <a:p>
            <a:r>
              <a:t>IMPLEMENTATION HINTS:</a:t>
            </a:r>
          </a:p>
          <a:p>
            <a:r>
              <a:t>- Technology Mapping für jede Komponente</a:t>
            </a:r>
          </a:p>
          <a:p>
            <a:r>
              <a:t>- Deployment Considerations</a:t>
            </a:r>
          </a:p>
          <a:p>
            <a:r>
              <a:t>- Monitoring und Observability</a:t>
            </a:r>
          </a:p>
          <a:p/>
          <a:p>
            <a:r>
              <a:t>INTERACTIVE ELEMENT:</a:t>
            </a:r>
          </a:p>
          <a:p>
            <a:r>
              <a:t>- Fragen zur Architektur stellen</a:t>
            </a:r>
          </a:p>
          <a:p>
            <a:r>
              <a:t>- Erfahrungen der Teilnehmer abfragen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Hexagonal Architecture – Ports &amp; Adapters:</a:t>
            </a:r>
          </a:p>
          <a:p/>
          <a:p>
            <a:r>
              <a:t>VISUAL WALKTHROUGH:</a:t>
            </a:r>
          </a:p>
          <a:p>
            <a:r>
              <a:t>- Diagramm systematisch von links nach rechts durchgehen</a:t>
            </a:r>
          </a:p>
          <a:p>
            <a:r>
              <a:t>- Komponenten und deren Verantwortlichkeiten erklären</a:t>
            </a:r>
          </a:p>
          <a:p>
            <a:r>
              <a:t>- Data Flow und Control Flow unterscheiden</a:t>
            </a:r>
          </a:p>
          <a:p/>
          <a:p>
            <a:r>
              <a:t>TECHNICAL DEPTH:</a:t>
            </a:r>
          </a:p>
          <a:p>
            <a:r>
              <a:t>- Interfaces zwischen Komponenten detailliert erklären</a:t>
            </a:r>
          </a:p>
          <a:p>
            <a:r>
              <a:t>- Warum diese Struktur gewählt?</a:t>
            </a:r>
          </a:p>
          <a:p>
            <a:r>
              <a:t>- Alternative Architekturen kurz diskutieren</a:t>
            </a:r>
          </a:p>
          <a:p/>
          <a:p>
            <a:r>
              <a:t>SCALABILITY ASPECTS:</a:t>
            </a:r>
          </a:p>
          <a:p>
            <a:r>
              <a:t>- Wo sind die Bottlenecks in dieser Architektur?</a:t>
            </a:r>
          </a:p>
          <a:p>
            <a:r>
              <a:t>- Wie skaliert jede Komponente?</a:t>
            </a:r>
          </a:p>
          <a:p>
            <a:r>
              <a:t>- Horizontal vs. Vertical Scaling</a:t>
            </a:r>
          </a:p>
          <a:p/>
          <a:p>
            <a:r>
              <a:t>FAILURE SCENARIOS:</a:t>
            </a:r>
          </a:p>
          <a:p>
            <a:r>
              <a:t>- Was passiert wenn Komponente X ausfällt?</a:t>
            </a:r>
          </a:p>
          <a:p>
            <a:r>
              <a:t>- Resilience Patterns eingebaut?</a:t>
            </a:r>
          </a:p>
          <a:p>
            <a:r>
              <a:t>- Recovery Strategien</a:t>
            </a:r>
          </a:p>
          <a:p/>
          <a:p>
            <a:r>
              <a:t>IMPLEMENTATION HINTS:</a:t>
            </a:r>
          </a:p>
          <a:p>
            <a:r>
              <a:t>- Technology Mapping für jede Komponente</a:t>
            </a:r>
          </a:p>
          <a:p>
            <a:r>
              <a:t>- Deployment Considerations</a:t>
            </a:r>
          </a:p>
          <a:p>
            <a:r>
              <a:t>- Monitoring und Observability</a:t>
            </a:r>
          </a:p>
          <a:p/>
          <a:p>
            <a:r>
              <a:t>INTERACTIVE ELEMENT:</a:t>
            </a:r>
          </a:p>
          <a:p>
            <a:r>
              <a:t>- Fragen zur Architektur stellen</a:t>
            </a:r>
          </a:p>
          <a:p>
            <a:r>
              <a:t>- Erfahrungen der Teilnehmer abfragen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Layered Architecture Trade-offs:</a:t>
            </a:r>
          </a:p>
          <a:p/>
          <a:p>
            <a:r>
              <a:t>EINFÜHRUNG:</a:t>
            </a:r>
          </a:p>
          <a:p>
            <a:r>
              <a:t>- Kurz den Kontext des Patterns wiederholen</a:t>
            </a:r>
          </a:p>
          <a:p>
            <a:r>
              <a:t>- Betonen: Jede Architekturentscheidung hat Vor- und Nachteile</a:t>
            </a:r>
          </a:p>
          <a:p/>
          <a:p>
            <a:r>
              <a:t>VORTEILE (0 Punkte):</a:t>
            </a:r>
          </a:p>
          <a:p>
            <a:r>
              <a:t>- Jeden Vorteil mit konkreten Telekom-Beispielen untermauern</a:t>
            </a:r>
          </a:p>
          <a:p>
            <a:r>
              <a:t>- Bei Performance-Vorteilen: Zahlen und Metriken erwähnen</a:t>
            </a:r>
          </a:p>
          <a:p>
            <a:r>
              <a:t>- Bei Team-Vorteilen: Auswirkungen auf Entwicklungsprozesse erklären</a:t>
            </a:r>
          </a:p>
          <a:p/>
          <a:p>
            <a:r>
              <a:t>NACHTEILE (0 Punkte):</a:t>
            </a:r>
          </a:p>
          <a:p>
            <a:r>
              <a:t>- Ehrlich über Herausforderungen sprechen</a:t>
            </a:r>
          </a:p>
          <a:p>
            <a:r>
              <a:t>- Mitigation-Strategien für kritische Nachteile erwähnen</a:t>
            </a:r>
          </a:p>
          <a:p>
            <a:r>
              <a:t>- Kosten-Nutzen-Abwägung diskutieren</a:t>
            </a:r>
          </a:p>
          <a:p/>
          <a:p>
            <a:r>
              <a:t>TELEKOM-SPEZIFISCH:</a:t>
            </a:r>
          </a:p>
          <a:p>
            <a:r>
              <a:t>- Welche Nachteile sind für Telekom besonders relevant?</a:t>
            </a:r>
          </a:p>
          <a:p>
            <a:r>
              <a:t>- Gibt es interne Tools/Prozesse, die Nachteile abmildern?</a:t>
            </a:r>
          </a:p>
          <a:p>
            <a:r>
              <a:t>- Lessons learned aus ähnlichen Projekten erwähnen</a:t>
            </a:r>
          </a:p>
          <a:p/>
          <a:p>
            <a:r>
              <a:t>ÜBERLEITUNG:</a:t>
            </a:r>
          </a:p>
          <a:p>
            <a:r>
              <a:t>- Vorbereitung auf 'When to Use' Slide</a:t>
            </a:r>
          </a:p>
          <a:p>
            <a:r>
              <a:t>- Hint: Context ist entscheidend für Entscheidung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Microservices Trade-offs:</a:t>
            </a:r>
          </a:p>
          <a:p/>
          <a:p>
            <a:r>
              <a:t>EINFÜHRUNG:</a:t>
            </a:r>
          </a:p>
          <a:p>
            <a:r>
              <a:t>- Kurz den Kontext des Patterns wiederholen</a:t>
            </a:r>
          </a:p>
          <a:p>
            <a:r>
              <a:t>- Betonen: Jede Architekturentscheidung hat Vor- und Nachteile</a:t>
            </a:r>
          </a:p>
          <a:p/>
          <a:p>
            <a:r>
              <a:t>VORTEILE (0 Punkte):</a:t>
            </a:r>
          </a:p>
          <a:p>
            <a:r>
              <a:t>- Jeden Vorteil mit konkreten Telekom-Beispielen untermauern</a:t>
            </a:r>
          </a:p>
          <a:p>
            <a:r>
              <a:t>- Bei Performance-Vorteilen: Zahlen und Metriken erwähnen</a:t>
            </a:r>
          </a:p>
          <a:p>
            <a:r>
              <a:t>- Bei Team-Vorteilen: Auswirkungen auf Entwicklungsprozesse erklären</a:t>
            </a:r>
          </a:p>
          <a:p/>
          <a:p>
            <a:r>
              <a:t>NACHTEILE (0 Punkte):</a:t>
            </a:r>
          </a:p>
          <a:p>
            <a:r>
              <a:t>- Ehrlich über Herausforderungen sprechen</a:t>
            </a:r>
          </a:p>
          <a:p>
            <a:r>
              <a:t>- Mitigation-Strategien für kritische Nachteile erwähnen</a:t>
            </a:r>
          </a:p>
          <a:p>
            <a:r>
              <a:t>- Kosten-Nutzen-Abwägung diskutieren</a:t>
            </a:r>
          </a:p>
          <a:p/>
          <a:p>
            <a:r>
              <a:t>TELEKOM-SPEZIFISCH:</a:t>
            </a:r>
          </a:p>
          <a:p>
            <a:r>
              <a:t>- Welche Nachteile sind für Telekom besonders relevant?</a:t>
            </a:r>
          </a:p>
          <a:p>
            <a:r>
              <a:t>- Gibt es interne Tools/Prozesse, die Nachteile abmildern?</a:t>
            </a:r>
          </a:p>
          <a:p>
            <a:r>
              <a:t>- Lessons learned aus ähnlichen Projekten erwähnen</a:t>
            </a:r>
          </a:p>
          <a:p/>
          <a:p>
            <a:r>
              <a:t>ÜBERLEITUNG:</a:t>
            </a:r>
          </a:p>
          <a:p>
            <a:r>
              <a:t>- Vorbereitung auf 'When to Use' Slide</a:t>
            </a:r>
          </a:p>
          <a:p>
            <a:r>
              <a:t>- Hint: Context ist entscheidend für Entscheidung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Architectural Evolvement:</a:t>
            </a:r>
          </a:p>
          <a:p/>
          <a:p>
            <a:r>
              <a:t>CONTENT OVERVIEW:</a:t>
            </a:r>
          </a:p>
          <a:p>
            <a:r>
              <a:t>- Hauptpunkte dieser Folie systematisch durchgehen</a:t>
            </a:r>
          </a:p>
          <a:p>
            <a:r>
              <a:t>- Verbindung zu vorherigen Folien aufzeigen</a:t>
            </a:r>
          </a:p>
          <a:p>
            <a:r>
              <a:t>- Context für kommende Folien setzen</a:t>
            </a:r>
          </a:p>
          <a:p/>
          <a:p>
            <a:r>
              <a:t>TELEKOM RELEVANZ:</a:t>
            </a:r>
          </a:p>
          <a:p>
            <a:r>
              <a:t>- Wie ist das für Telekom-Projekte relevant?</a:t>
            </a:r>
          </a:p>
          <a:p>
            <a:r>
              <a:t>- Konkrete Beispiele aus unserem Umfeld</a:t>
            </a:r>
          </a:p>
          <a:p>
            <a:r>
              <a:t>- Erfahrungen aus ähnlichen Implementierungen</a:t>
            </a:r>
          </a:p>
          <a:p/>
          <a:p>
            <a:r>
              <a:t>INTERAKTION:</a:t>
            </a:r>
          </a:p>
          <a:p>
            <a:r>
              <a:t>- Fragen an die Teilnehmer stellen</a:t>
            </a:r>
          </a:p>
          <a:p>
            <a:r>
              <a:t>- Erfahrungsaustausch fördern</a:t>
            </a:r>
          </a:p>
          <a:p>
            <a:r>
              <a:t>- Verständnis sicherstellen</a:t>
            </a:r>
          </a:p>
          <a:p/>
          <a:p>
            <a:r>
              <a:t>TECHNICAL DETAILS:</a:t>
            </a:r>
          </a:p>
          <a:p>
            <a:r>
              <a:t>- Wichtige technische Aspekte hervorheben</a:t>
            </a:r>
          </a:p>
          <a:p>
            <a:r>
              <a:t>- Best Practices erwähnen</a:t>
            </a:r>
          </a:p>
          <a:p>
            <a:r>
              <a:t>- Common Pitfalls vermeiden</a:t>
            </a:r>
          </a:p>
          <a:p/>
          <a:p>
            <a:r>
              <a:t>ÜBERLEITUNG:</a:t>
            </a:r>
          </a:p>
          <a:p>
            <a:r>
              <a:t>- Vorbereitung auf nächste Folie</a:t>
            </a:r>
          </a:p>
          <a:p>
            <a:r>
              <a:t>- Logischen Flow aufrechterhalten</a:t>
            </a:r>
          </a:p>
          <a:p>
            <a:r>
              <a:t>- Spannung für kommende Topics</a:t>
            </a:r>
          </a:p>
          <a:p/>
          <a:p>
            <a:r>
              <a:t>TIMING:</a:t>
            </a:r>
          </a:p>
          <a:p>
            <a:r>
              <a:t>- Passende Geschwindigkeit für Inhalt</a:t>
            </a:r>
          </a:p>
          <a:p>
            <a:r>
              <a:t>- Nicht zu schnell durch komplexe Themen</a:t>
            </a:r>
          </a:p>
          <a:p>
            <a:r>
              <a:t>- Zeit für Fragen einplanen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Layered Architecture (Schichtarchitektur) Trade-offs:</a:t>
            </a:r>
          </a:p>
          <a:p/>
          <a:p>
            <a:r>
              <a:t>EINFÜHRUNG:</a:t>
            </a:r>
          </a:p>
          <a:p>
            <a:r>
              <a:t>- Kurz den Kontext des Patterns wiederholen</a:t>
            </a:r>
          </a:p>
          <a:p>
            <a:r>
              <a:t>- Betonen: Jede Architekturentscheidung hat Vor- und Nachteile</a:t>
            </a:r>
          </a:p>
          <a:p/>
          <a:p>
            <a:r>
              <a:t>VORTEILE (0 Punkte):</a:t>
            </a:r>
          </a:p>
          <a:p>
            <a:r>
              <a:t>- Jeden Vorteil mit konkreten Telekom-Beispielen untermauern</a:t>
            </a:r>
          </a:p>
          <a:p>
            <a:r>
              <a:t>- Bei Performance-Vorteilen: Zahlen und Metriken erwähnen</a:t>
            </a:r>
          </a:p>
          <a:p>
            <a:r>
              <a:t>- Bei Team-Vorteilen: Auswirkungen auf Entwicklungsprozesse erklären</a:t>
            </a:r>
          </a:p>
          <a:p/>
          <a:p>
            <a:r>
              <a:t>NACHTEILE (0 Punkte):</a:t>
            </a:r>
          </a:p>
          <a:p>
            <a:r>
              <a:t>- Ehrlich über Herausforderungen sprechen</a:t>
            </a:r>
          </a:p>
          <a:p>
            <a:r>
              <a:t>- Mitigation-Strategien für kritische Nachteile erwähnen</a:t>
            </a:r>
          </a:p>
          <a:p>
            <a:r>
              <a:t>- Kosten-Nutzen-Abwägung diskutieren</a:t>
            </a:r>
          </a:p>
          <a:p/>
          <a:p>
            <a:r>
              <a:t>TELEKOM-SPEZIFISCH:</a:t>
            </a:r>
          </a:p>
          <a:p>
            <a:r>
              <a:t>- Welche Nachteile sind für Telekom besonders relevant?</a:t>
            </a:r>
          </a:p>
          <a:p>
            <a:r>
              <a:t>- Gibt es interne Tools/Prozesse, die Nachteile abmildern?</a:t>
            </a:r>
          </a:p>
          <a:p>
            <a:r>
              <a:t>- Lessons learned aus ähnlichen Projekten erwähnen</a:t>
            </a:r>
          </a:p>
          <a:p/>
          <a:p>
            <a:r>
              <a:t>ÜBERLEITUNG:</a:t>
            </a:r>
          </a:p>
          <a:p>
            <a:r>
              <a:t>- Vorbereitung auf 'When to Use' Slide</a:t>
            </a:r>
          </a:p>
          <a:p>
            <a:r>
              <a:t>- Hint: Context ist entscheidend für Entscheidung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Microservices Architecture Trade-offs:</a:t>
            </a:r>
          </a:p>
          <a:p/>
          <a:p>
            <a:r>
              <a:t>EINFÜHRUNG:</a:t>
            </a:r>
          </a:p>
          <a:p>
            <a:r>
              <a:t>- Kurz den Kontext des Patterns wiederholen</a:t>
            </a:r>
          </a:p>
          <a:p>
            <a:r>
              <a:t>- Betonen: Jede Architekturentscheidung hat Vor- und Nachteile</a:t>
            </a:r>
          </a:p>
          <a:p/>
          <a:p>
            <a:r>
              <a:t>VORTEILE (0 Punkte):</a:t>
            </a:r>
          </a:p>
          <a:p>
            <a:r>
              <a:t>- Jeden Vorteil mit konkreten Telekom-Beispielen untermauern</a:t>
            </a:r>
          </a:p>
          <a:p>
            <a:r>
              <a:t>- Bei Performance-Vorteilen: Zahlen und Metriken erwähnen</a:t>
            </a:r>
          </a:p>
          <a:p>
            <a:r>
              <a:t>- Bei Team-Vorteilen: Auswirkungen auf Entwicklungsprozesse erklären</a:t>
            </a:r>
          </a:p>
          <a:p/>
          <a:p>
            <a:r>
              <a:t>NACHTEILE (0 Punkte):</a:t>
            </a:r>
          </a:p>
          <a:p>
            <a:r>
              <a:t>- Ehrlich über Herausforderungen sprechen</a:t>
            </a:r>
          </a:p>
          <a:p>
            <a:r>
              <a:t>- Mitigation-Strategien für kritische Nachteile erwähnen</a:t>
            </a:r>
          </a:p>
          <a:p>
            <a:r>
              <a:t>- Kosten-Nutzen-Abwägung diskutieren</a:t>
            </a:r>
          </a:p>
          <a:p/>
          <a:p>
            <a:r>
              <a:t>TELEKOM-SPEZIFISCH:</a:t>
            </a:r>
          </a:p>
          <a:p>
            <a:r>
              <a:t>- Welche Nachteile sind für Telekom besonders relevant?</a:t>
            </a:r>
          </a:p>
          <a:p>
            <a:r>
              <a:t>- Gibt es interne Tools/Prozesse, die Nachteile abmildern?</a:t>
            </a:r>
          </a:p>
          <a:p>
            <a:r>
              <a:t>- Lessons learned aus ähnlichen Projekten erwähnen</a:t>
            </a:r>
          </a:p>
          <a:p/>
          <a:p>
            <a:r>
              <a:t>ÜBERLEITUNG:</a:t>
            </a:r>
          </a:p>
          <a:p>
            <a:r>
              <a:t>- Vorbereitung auf 'When to Use' Slide</a:t>
            </a:r>
          </a:p>
          <a:p>
            <a:r>
              <a:t>- Hint: Context ist entscheidend für Entscheidung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Hexagonal Architecture (Ports &amp; Adapters) Trade-offs:</a:t>
            </a:r>
          </a:p>
          <a:p/>
          <a:p>
            <a:r>
              <a:t>EINFÜHRUNG:</a:t>
            </a:r>
          </a:p>
          <a:p>
            <a:r>
              <a:t>- Kurz den Kontext des Patterns wiederholen</a:t>
            </a:r>
          </a:p>
          <a:p>
            <a:r>
              <a:t>- Betonen: Jede Architekturentscheidung hat Vor- und Nachteile</a:t>
            </a:r>
          </a:p>
          <a:p/>
          <a:p>
            <a:r>
              <a:t>VORTEILE (0 Punkte):</a:t>
            </a:r>
          </a:p>
          <a:p>
            <a:r>
              <a:t>- Jeden Vorteil mit konkreten Telekom-Beispielen untermauern</a:t>
            </a:r>
          </a:p>
          <a:p>
            <a:r>
              <a:t>- Bei Performance-Vorteilen: Zahlen und Metriken erwähnen</a:t>
            </a:r>
          </a:p>
          <a:p>
            <a:r>
              <a:t>- Bei Team-Vorteilen: Auswirkungen auf Entwicklungsprozesse erklären</a:t>
            </a:r>
          </a:p>
          <a:p/>
          <a:p>
            <a:r>
              <a:t>NACHTEILE (0 Punkte):</a:t>
            </a:r>
          </a:p>
          <a:p>
            <a:r>
              <a:t>- Ehrlich über Herausforderungen sprechen</a:t>
            </a:r>
          </a:p>
          <a:p>
            <a:r>
              <a:t>- Mitigation-Strategien für kritische Nachteile erwähnen</a:t>
            </a:r>
          </a:p>
          <a:p>
            <a:r>
              <a:t>- Kosten-Nutzen-Abwägung diskutieren</a:t>
            </a:r>
          </a:p>
          <a:p/>
          <a:p>
            <a:r>
              <a:t>TELEKOM-SPEZIFISCH:</a:t>
            </a:r>
          </a:p>
          <a:p>
            <a:r>
              <a:t>- Welche Nachteile sind für Telekom besonders relevant?</a:t>
            </a:r>
          </a:p>
          <a:p>
            <a:r>
              <a:t>- Gibt es interne Tools/Prozesse, die Nachteile abmildern?</a:t>
            </a:r>
          </a:p>
          <a:p>
            <a:r>
              <a:t>- Lessons learned aus ähnlichen Projekten erwähnen</a:t>
            </a:r>
          </a:p>
          <a:p/>
          <a:p>
            <a:r>
              <a:t>ÜBERLEITUNG:</a:t>
            </a:r>
          </a:p>
          <a:p>
            <a:r>
              <a:t>- Vorbereitung auf 'When to Use' Slide</a:t>
            </a:r>
          </a:p>
          <a:p>
            <a:r>
              <a:t>- Hint: Context ist entscheidend für Entscheidung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Event-Driven Architecture Trade-offs:</a:t>
            </a:r>
          </a:p>
          <a:p/>
          <a:p>
            <a:r>
              <a:t>EINFÜHRUNG:</a:t>
            </a:r>
          </a:p>
          <a:p>
            <a:r>
              <a:t>- Kurz den Kontext des Patterns wiederholen</a:t>
            </a:r>
          </a:p>
          <a:p>
            <a:r>
              <a:t>- Betonen: Jede Architekturentscheidung hat Vor- und Nachteile</a:t>
            </a:r>
          </a:p>
          <a:p/>
          <a:p>
            <a:r>
              <a:t>VORTEILE (0 Punkte):</a:t>
            </a:r>
          </a:p>
          <a:p>
            <a:r>
              <a:t>- Jeden Vorteil mit konkreten Telekom-Beispielen untermauern</a:t>
            </a:r>
          </a:p>
          <a:p>
            <a:r>
              <a:t>- Bei Performance-Vorteilen: Zahlen und Metriken erwähnen</a:t>
            </a:r>
          </a:p>
          <a:p>
            <a:r>
              <a:t>- Bei Team-Vorteilen: Auswirkungen auf Entwicklungsprozesse erklären</a:t>
            </a:r>
          </a:p>
          <a:p/>
          <a:p>
            <a:r>
              <a:t>NACHTEILE (0 Punkte):</a:t>
            </a:r>
          </a:p>
          <a:p>
            <a:r>
              <a:t>- Ehrlich über Herausforderungen sprechen</a:t>
            </a:r>
          </a:p>
          <a:p>
            <a:r>
              <a:t>- Mitigation-Strategien für kritische Nachteile erwähnen</a:t>
            </a:r>
          </a:p>
          <a:p>
            <a:r>
              <a:t>- Kosten-Nutzen-Abwägung diskutieren</a:t>
            </a:r>
          </a:p>
          <a:p/>
          <a:p>
            <a:r>
              <a:t>TELEKOM-SPEZIFISCH:</a:t>
            </a:r>
          </a:p>
          <a:p>
            <a:r>
              <a:t>- Welche Nachteile sind für Telekom besonders relevant?</a:t>
            </a:r>
          </a:p>
          <a:p>
            <a:r>
              <a:t>- Gibt es interne Tools/Prozesse, die Nachteile abmildern?</a:t>
            </a:r>
          </a:p>
          <a:p>
            <a:r>
              <a:t>- Lessons learned aus ähnlichen Projekten erwähnen</a:t>
            </a:r>
          </a:p>
          <a:p/>
          <a:p>
            <a:r>
              <a:t>ÜBERLEITUNG:</a:t>
            </a:r>
          </a:p>
          <a:p>
            <a:r>
              <a:t>- Vorbereitung auf 'When to Use' Slide</a:t>
            </a:r>
          </a:p>
          <a:p>
            <a:r>
              <a:t>- Hint: Context ist entscheidend für Entscheidung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07193-AE5D-4968-BAF6-3656BE156B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870169"/>
            <a:ext cx="9144000" cy="895972"/>
          </a:xfrm>
          <a:prstGeom prst="rect">
            <a:avLst/>
          </a:prstGeom>
        </p:spPr>
        <p:txBody>
          <a:bodyPr anchor="b"/>
          <a:lstStyle>
            <a:lvl1pPr algn="ctr">
              <a:defRPr sz="48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186BB9-FD07-7E5E-44C6-0A574C54EA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858216"/>
            <a:ext cx="9144000" cy="55251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B45C3DAA-2C1B-4B03-DCD5-CEA9A48DC32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5302560" y="2321640"/>
            <a:ext cx="1586880" cy="22147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4214E46-3795-F2C4-2D6A-4DF0C15ACEDA}"/>
              </a:ext>
            </a:extLst>
          </p:cNvPr>
          <p:cNvSpPr/>
          <p:nvPr userDrawn="1"/>
        </p:nvSpPr>
        <p:spPr>
          <a:xfrm>
            <a:off x="10416209" y="-1"/>
            <a:ext cx="1610139" cy="19182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399243"/>
      </p:ext>
    </p:extLst>
  </p:cSld>
  <p:clrMapOvr>
    <a:masterClrMapping/>
  </p:clrMapOvr>
</p:sldLayout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07193-AE5D-4968-BAF6-3656BE156B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870169"/>
            <a:ext cx="9144000" cy="895972"/>
          </a:xfrm>
          <a:prstGeom prst="rect">
            <a:avLst/>
          </a:prstGeom>
        </p:spPr>
        <p:txBody>
          <a:bodyPr anchor="b"/>
          <a:lstStyle>
            <a:lvl1pPr algn="ctr">
              <a:defRPr sz="48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186BB9-FD07-7E5E-44C6-0A574C54EA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858216"/>
            <a:ext cx="9144000" cy="55251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B45C3DAA-2C1B-4B03-DCD5-CEA9A48DC32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5302560" y="2321640"/>
            <a:ext cx="1586880" cy="22147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4214E46-3795-F2C4-2D6A-4DF0C15ACEDA}"/>
              </a:ext>
            </a:extLst>
          </p:cNvPr>
          <p:cNvSpPr/>
          <p:nvPr userDrawn="1"/>
        </p:nvSpPr>
        <p:spPr>
          <a:xfrm>
            <a:off x="10416209" y="-1"/>
            <a:ext cx="1610139" cy="19182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3992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3FD443-8D62-99E4-BE59-A33D1ABDD9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780720"/>
            <a:ext cx="9144000" cy="687250"/>
          </a:xfrm>
          <a:prstGeom prst="rect">
            <a:avLst/>
          </a:prstGeom>
        </p:spPr>
        <p:txBody>
          <a:bodyPr anchor="b"/>
          <a:lstStyle>
            <a:lvl1pPr algn="ctr">
              <a:defRPr sz="36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29BB70-AB0C-EB4F-73E7-686FB01CED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560045"/>
            <a:ext cx="9144000" cy="43324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C62A5225-6C59-0F22-28CB-A0E99267643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5498782" y="2595496"/>
            <a:ext cx="1194437" cy="166700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7E3CF7D-A3E7-417D-2594-BEB7DA122EAC}"/>
              </a:ext>
            </a:extLst>
          </p:cNvPr>
          <p:cNvSpPr/>
          <p:nvPr userDrawn="1"/>
        </p:nvSpPr>
        <p:spPr>
          <a:xfrm>
            <a:off x="10416209" y="-1"/>
            <a:ext cx="1610139" cy="19182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4130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3FD443-8D62-99E4-BE59-A33D1ABDD9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780720"/>
            <a:ext cx="9144000" cy="687250"/>
          </a:xfrm>
          <a:prstGeom prst="rect">
            <a:avLst/>
          </a:prstGeom>
        </p:spPr>
        <p:txBody>
          <a:bodyPr anchor="b"/>
          <a:lstStyle>
            <a:lvl1pPr algn="ctr">
              <a:defRPr sz="36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29BB70-AB0C-EB4F-73E7-686FB01CED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560045"/>
            <a:ext cx="9144000" cy="43324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C62A5225-6C59-0F22-28CB-A0E99267643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5498782" y="2595496"/>
            <a:ext cx="1194437" cy="166700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7E3CF7D-A3E7-417D-2594-BEB7DA122EAC}"/>
              </a:ext>
            </a:extLst>
          </p:cNvPr>
          <p:cNvSpPr/>
          <p:nvPr userDrawn="1"/>
        </p:nvSpPr>
        <p:spPr>
          <a:xfrm>
            <a:off x="10416209" y="-1"/>
            <a:ext cx="1610139" cy="19182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4130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with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50DB9-59A8-CF17-BB9B-F72B0FABF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139" y="365125"/>
            <a:ext cx="10088220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8D29E-375A-0909-2E62-2F6CBC442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706B1-97FA-B22F-65EC-94B636BCD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2865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with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50DB9-59A8-CF17-BB9B-F72B0FABF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139" y="365125"/>
            <a:ext cx="10088220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8D29E-375A-0909-2E62-2F6CBC442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706B1-97FA-B22F-65EC-94B636BCD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2865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50DB9-59A8-CF17-BB9B-F72B0FABF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139" y="365125"/>
            <a:ext cx="10088220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8D29E-375A-0909-2E62-2F6CBC442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706B1-97FA-B22F-65EC-94B636BCD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727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50DB9-59A8-CF17-BB9B-F72B0FABF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139" y="365125"/>
            <a:ext cx="10088220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8D29E-375A-0909-2E62-2F6CBC442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706B1-97FA-B22F-65EC-94B636BCD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7271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 Bullet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3F90-FBB0-1588-E79D-EB61EC04B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91647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056B7-03C2-B71C-2EDA-0359D94159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7322" y="1825625"/>
            <a:ext cx="5582478" cy="4667250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F5A315-0D02-B709-C30A-483144A24C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536096" cy="4667250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9FACF-99F9-6EC6-9746-B8C7A0FB1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5096" y="6492874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8847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 Bullet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3F90-FBB0-1588-E79D-EB61EC04B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91647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056B7-03C2-B71C-2EDA-0359D94159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7322" y="1825625"/>
            <a:ext cx="5582478" cy="4667250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F5A315-0D02-B709-C30A-483144A24C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536096" cy="4667250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9FACF-99F9-6EC6-9746-B8C7A0FB1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5096" y="6492874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8847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3F90-FBB0-1588-E79D-EB61EC04B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91647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056B7-03C2-B71C-2EDA-0359D94159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7322" y="1825625"/>
            <a:ext cx="5582478" cy="466725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Font typeface="Arial" panose="020B0604020202020204" pitchFamily="34" charset="0"/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Font typeface="Arial" panose="020B0604020202020204" pitchFamily="34" charset="0"/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Font typeface="Arial" panose="020B0604020202020204" pitchFamily="34" charset="0"/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F5A315-0D02-B709-C30A-483144A24C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536096" cy="4667250"/>
          </a:xfrm>
        </p:spPr>
        <p:txBody>
          <a:bodyPr/>
          <a:lstStyle>
            <a:lvl1pPr marL="0" indent="0"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9FACF-99F9-6EC6-9746-B8C7A0FB1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5096" y="6492874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4980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3F90-FBB0-1588-E79D-EB61EC04B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91647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056B7-03C2-B71C-2EDA-0359D94159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7322" y="1825625"/>
            <a:ext cx="5582478" cy="466725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Font typeface="Arial" panose="020B0604020202020204" pitchFamily="34" charset="0"/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Font typeface="Arial" panose="020B0604020202020204" pitchFamily="34" charset="0"/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Font typeface="Arial" panose="020B0604020202020204" pitchFamily="34" charset="0"/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F5A315-0D02-B709-C30A-483144A24C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536096" cy="4667250"/>
          </a:xfrm>
        </p:spPr>
        <p:txBody>
          <a:bodyPr/>
          <a:lstStyle>
            <a:lvl1pPr marL="0" indent="0"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9FACF-99F9-6EC6-9746-B8C7A0FB1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5096" y="6492874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4980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 Bullet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6D0D7-65B1-D72F-0D21-4B04BD3FD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888" y="365125"/>
            <a:ext cx="1011140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F97DE5-2F32-14FA-E76B-D744B262A9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3888" y="1681163"/>
            <a:ext cx="55436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F8CDEA-3150-6B79-5CAA-316A2BEDE4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3888" y="2505074"/>
            <a:ext cx="5543687" cy="3987799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035CEA-A4A2-208B-B279-70AC76B65D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565912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D0417B-357A-1441-1081-878E1A3E93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505075"/>
            <a:ext cx="5565913" cy="3987800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4AAD1C-C9FB-8ECD-9D67-E4F2C5692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94913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573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 Bullet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6D0D7-65B1-D72F-0D21-4B04BD3FD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888" y="365125"/>
            <a:ext cx="1011140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F97DE5-2F32-14FA-E76B-D744B262A9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3888" y="1681163"/>
            <a:ext cx="55436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F8CDEA-3150-6B79-5CAA-316A2BEDE4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3888" y="2505074"/>
            <a:ext cx="5543687" cy="3987799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035CEA-A4A2-208B-B279-70AC76B65D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565912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D0417B-357A-1441-1081-878E1A3E93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505075"/>
            <a:ext cx="5565913" cy="3987800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4AAD1C-C9FB-8ECD-9D67-E4F2C5692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94913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573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6D0D7-65B1-D72F-0D21-4B04BD3FD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888" y="365125"/>
            <a:ext cx="1011140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F97DE5-2F32-14FA-E76B-D744B262A9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3888" y="1681163"/>
            <a:ext cx="55436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F8CDEA-3150-6B79-5CAA-316A2BEDE4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3888" y="2505074"/>
            <a:ext cx="5543687" cy="3987799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035CEA-A4A2-208B-B279-70AC76B65D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565912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D0417B-357A-1441-1081-878E1A3E93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505075"/>
            <a:ext cx="5565913" cy="3987800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4AAD1C-C9FB-8ECD-9D67-E4F2C5692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94913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845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6D0D7-65B1-D72F-0D21-4B04BD3FD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888" y="365125"/>
            <a:ext cx="1011140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F97DE5-2F32-14FA-E76B-D744B262A9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3888" y="1681163"/>
            <a:ext cx="55436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F8CDEA-3150-6B79-5CAA-316A2BEDE4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3888" y="2505074"/>
            <a:ext cx="5543687" cy="3987799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035CEA-A4A2-208B-B279-70AC76B65D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565912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D0417B-357A-1441-1081-878E1A3E93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505075"/>
            <a:ext cx="5565913" cy="3987800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4AAD1C-C9FB-8ECD-9D67-E4F2C5692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94913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845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2F1FF-93BF-4CCF-926B-0576DF6BC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118035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7391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2F1FF-93BF-4CCF-926B-0576DF6BC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118035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7391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-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2F1FF-93BF-4CCF-926B-0576DF6BC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118035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FFAE5E-51A7-801C-5D44-B6AB89FF08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1pPr>
            <a:lvl2pPr marL="457200" indent="0">
              <a:buNone/>
              <a:defRPr sz="20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2pPr>
            <a:lvl3pPr marL="914400" indent="0">
              <a:buNone/>
              <a:defRPr sz="18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3pPr>
            <a:lvl4pPr marL="1371600" indent="0">
              <a:buNone/>
              <a:defRPr sz="16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4pPr>
            <a:lvl5pPr marL="1828800" indent="0">
              <a:buNone/>
              <a:defRPr sz="16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2C3E47A-69A0-8F49-E63F-B87255EE9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0947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-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2F1FF-93BF-4CCF-926B-0576DF6BC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118035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FFAE5E-51A7-801C-5D44-B6AB89FF08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1pPr>
            <a:lvl2pPr marL="457200" indent="0">
              <a:buNone/>
              <a:defRPr sz="20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2pPr>
            <a:lvl3pPr marL="914400" indent="0">
              <a:buNone/>
              <a:defRPr sz="18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3pPr>
            <a:lvl4pPr marL="1371600" indent="0">
              <a:buNone/>
              <a:defRPr sz="16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4pPr>
            <a:lvl5pPr marL="1828800" indent="0">
              <a:buNone/>
              <a:defRPr sz="16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2C3E47A-69A0-8F49-E63F-B87255EE9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0947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60A35E-A630-2C0F-48C4-334D4CCF3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77739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7362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60A35E-A630-2C0F-48C4-334D4CCF3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77739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7362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AE0C0-D32D-13D4-8621-9FED98472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504" y="457200"/>
            <a:ext cx="4364521" cy="1600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3F3171-700D-AC09-57D2-7CE376F6C6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525108" cy="543325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DD5D4F-5251-A419-B3B6-3E776795B6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07504" y="2057400"/>
            <a:ext cx="4364521" cy="436327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1C4C30-205A-2492-192B-B806843ED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89874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149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AE0C0-D32D-13D4-8621-9FED98472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504" y="457200"/>
            <a:ext cx="4364521" cy="1600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3F3171-700D-AC09-57D2-7CE376F6C6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525108" cy="543325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DD5D4F-5251-A419-B3B6-3E776795B6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07504" y="2057400"/>
            <a:ext cx="4364521" cy="436327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1C4C30-205A-2492-192B-B806843ED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89874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149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2ED0A-CB71-BE95-6D74-70732531D4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504" y="407504"/>
            <a:ext cx="7146235" cy="1282147"/>
          </a:xfrm>
        </p:spPr>
        <p:txBody>
          <a:bodyPr anchor="ctr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DA386B-F71F-624B-D60E-1519DE7516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712765" y="0"/>
            <a:ext cx="4479235" cy="6858000"/>
          </a:xfrm>
        </p:spPr>
        <p:txBody>
          <a:bodyPr anchor="ctr" anchorCtr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F26256-41DC-0D7B-7119-A2460887C5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07504" y="1816443"/>
            <a:ext cx="7146235" cy="4703627"/>
          </a:xfrm>
        </p:spPr>
        <p:txBody>
          <a:bodyPr anchor="t" anchorCtr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258329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2ED0A-CB71-BE95-6D74-70732531D4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504" y="407504"/>
            <a:ext cx="7146235" cy="1282147"/>
          </a:xfrm>
        </p:spPr>
        <p:txBody>
          <a:bodyPr anchor="ctr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DA386B-F71F-624B-D60E-1519DE7516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712765" y="0"/>
            <a:ext cx="4479235" cy="6858000"/>
          </a:xfrm>
        </p:spPr>
        <p:txBody>
          <a:bodyPr anchor="ctr" anchorCtr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F26256-41DC-0D7B-7119-A2460887C5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07504" y="1816443"/>
            <a:ext cx="7146235" cy="4703627"/>
          </a:xfrm>
        </p:spPr>
        <p:txBody>
          <a:bodyPr anchor="t" anchorCtr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2583292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2ED0A-CB71-BE95-6D74-70732531D4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1209" y="407504"/>
            <a:ext cx="5854148" cy="1282147"/>
          </a:xfrm>
        </p:spPr>
        <p:txBody>
          <a:bodyPr anchor="ctr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DA386B-F71F-624B-D60E-1519DE7516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9942"/>
            <a:ext cx="4479235" cy="6858000"/>
          </a:xfrm>
        </p:spPr>
        <p:txBody>
          <a:bodyPr anchor="ctr" anchorCtr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F26256-41DC-0D7B-7119-A2460887C5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701209" y="1816444"/>
            <a:ext cx="7026958" cy="4676432"/>
          </a:xfrm>
        </p:spPr>
        <p:txBody>
          <a:bodyPr anchor="t" anchorCtr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6">
            <a:extLst>
              <a:ext uri="{FF2B5EF4-FFF2-40B4-BE49-F238E27FC236}">
                <a16:creationId xmlns:a16="http://schemas.microsoft.com/office/drawing/2014/main" id="{193BDEA3-6F5B-33C7-1FE1-589B04B9C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89874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5282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2ED0A-CB71-BE95-6D74-70732531D4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1209" y="407504"/>
            <a:ext cx="5854148" cy="1282147"/>
          </a:xfrm>
        </p:spPr>
        <p:txBody>
          <a:bodyPr anchor="ctr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DA386B-F71F-624B-D60E-1519DE7516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9942"/>
            <a:ext cx="4479235" cy="6858000"/>
          </a:xfrm>
        </p:spPr>
        <p:txBody>
          <a:bodyPr anchor="ctr" anchorCtr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F26256-41DC-0D7B-7119-A2460887C5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701209" y="1816444"/>
            <a:ext cx="7026958" cy="4676432"/>
          </a:xfrm>
        </p:spPr>
        <p:txBody>
          <a:bodyPr anchor="t" anchorCtr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6">
            <a:extLst>
              <a:ext uri="{FF2B5EF4-FFF2-40B4-BE49-F238E27FC236}">
                <a16:creationId xmlns:a16="http://schemas.microsoft.com/office/drawing/2014/main" id="{193BDEA3-6F5B-33C7-1FE1-589B04B9C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89874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52824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/Relationships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89312B-648F-07C4-1C1A-87F50DC94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8B8739-0CD2-1439-97E1-AFE6688430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12DFFE-3F1B-D665-A941-E6705F4643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1172EA-F3A5-C440-8FDE-A5EAD26928A2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36DDDAD4-6DBF-843D-79CB-7A2FBAC6A166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lum/>
            <a:alphaModFix/>
          </a:blip>
          <a:srcRect/>
          <a:stretch>
            <a:fillRect/>
          </a:stretch>
        </p:blipFill>
        <p:spPr>
          <a:xfrm>
            <a:off x="10619994" y="0"/>
            <a:ext cx="1101857" cy="15378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659900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4" r:id="rId2"/>
    <p:sldLayoutId id="2147483663" r:id="rId3"/>
    <p:sldLayoutId id="2147483675" r:id="rId4"/>
    <p:sldLayoutId id="2147483665" r:id="rId5"/>
    <p:sldLayoutId id="2147483676" r:id="rId6"/>
    <p:sldLayoutId id="2147483666" r:id="rId7"/>
    <p:sldLayoutId id="2147483677" r:id="rId8"/>
    <p:sldLayoutId id="2147483667" r:id="rId9"/>
    <p:sldLayoutId id="2147483672" r:id="rId10"/>
    <p:sldLayoutId id="2147483668" r:id="rId11"/>
    <p:sldLayoutId id="2147483669" r:id="rId12"/>
    <p:sldLayoutId id="2147483670" r:id="rId13"/>
    <p:sldLayoutId id="2147483671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1"/>
          </a:solidFill>
          <a:latin typeface="Open Sans" pitchFamily="2" charset="0"/>
          <a:ea typeface="Open Sans" pitchFamily="2" charset="0"/>
          <a:cs typeface="Open Sans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434343"/>
        </a:buClr>
        <a:buFont typeface="Arial" panose="020B0604020202020204" pitchFamily="34" charset="0"/>
        <a:buChar char="•"/>
        <a:defRPr sz="2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24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20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1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1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89312B-648F-07C4-1C1A-87F50DC94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8B8739-0CD2-1439-97E1-AFE6688430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12DFFE-3F1B-D665-A941-E6705F4643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1172EA-F3A5-C440-8FDE-A5EAD26928A2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36DDDAD4-6DBF-843D-79CB-7A2FBAC6A166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lum/>
            <a:alphaModFix/>
          </a:blip>
          <a:srcRect/>
          <a:stretch>
            <a:fillRect/>
          </a:stretch>
        </p:blipFill>
        <p:spPr>
          <a:xfrm>
            <a:off x="10619994" y="0"/>
            <a:ext cx="1101857" cy="15378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659900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4" r:id="rId2"/>
    <p:sldLayoutId id="2147483663" r:id="rId3"/>
    <p:sldLayoutId id="2147483675" r:id="rId4"/>
    <p:sldLayoutId id="2147483665" r:id="rId5"/>
    <p:sldLayoutId id="2147483676" r:id="rId6"/>
    <p:sldLayoutId id="2147483666" r:id="rId7"/>
    <p:sldLayoutId id="2147483677" r:id="rId8"/>
    <p:sldLayoutId id="2147483667" r:id="rId9"/>
    <p:sldLayoutId id="2147483672" r:id="rId10"/>
    <p:sldLayoutId id="2147483668" r:id="rId11"/>
    <p:sldLayoutId id="2147483669" r:id="rId12"/>
    <p:sldLayoutId id="2147483670" r:id="rId13"/>
    <p:sldLayoutId id="2147483671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1"/>
          </a:solidFill>
          <a:latin typeface="Open Sans" pitchFamily="2" charset="0"/>
          <a:ea typeface="Open Sans" pitchFamily="2" charset="0"/>
          <a:cs typeface="Open Sans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434343"/>
        </a:buClr>
        <a:buFont typeface="Arial" panose="020B0604020202020204" pitchFamily="34" charset="0"/>
        <a:buChar char="•"/>
        <a:defRPr sz="2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24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20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1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1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Architectural Patterns - Part 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Overview: Layer-Based Architectures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 Types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dirty="0">
                <a:latin typeface="Consolas"/>
              </a:rPr>
              <a:t>Layered Architecture        N-Tier Architecture        Clean Architecture</a:t>
            </a:r>
            <a:br>
              <a:rPr sz="5400" dirty="0"/>
            </a:br>
            <a:r>
              <a:rPr sz="1800" dirty="0">
                <a:latin typeface="Consolas"/>
              </a:rPr>
              <a:t>┌─────────────────┐        ┌─────────────────┐        ┌─────────────────┐</a:t>
            </a:r>
            <a:br>
              <a:rPr sz="5400" dirty="0"/>
            </a:br>
            <a:r>
              <a:rPr sz="1800" dirty="0">
                <a:latin typeface="Consolas"/>
              </a:rPr>
              <a:t>│   Presentation  │        │   Client Tier   │        │   Frameworks    │</a:t>
            </a:r>
            <a:br>
              <a:rPr sz="5400" dirty="0"/>
            </a:br>
            <a:r>
              <a:rPr sz="1800" dirty="0">
                <a:latin typeface="Consolas"/>
              </a:rPr>
              <a:t>├─────────────────┤        ├─────────────────┤        ├─────────────────┤</a:t>
            </a:r>
            <a:br>
              <a:rPr sz="5400" dirty="0"/>
            </a:br>
            <a:r>
              <a:rPr sz="1800" dirty="0">
                <a:latin typeface="Consolas"/>
              </a:rPr>
              <a:t>│    Business     │        │ Application     │        │   Interface     │</a:t>
            </a:r>
            <a:br>
              <a:rPr sz="5400" dirty="0"/>
            </a:br>
            <a:r>
              <a:rPr sz="1800" dirty="0">
                <a:latin typeface="Consolas"/>
              </a:rPr>
              <a:t>├─────────────────┤  &lt;--&gt;  │      Tier       │  &lt;--&gt;  │   Adapters      │</a:t>
            </a:r>
            <a:br>
              <a:rPr sz="5400" dirty="0"/>
            </a:br>
            <a:r>
              <a:rPr sz="1800" dirty="0">
                <a:latin typeface="Consolas"/>
              </a:rPr>
              <a:t>│  Persistence    │        ├─────────────────┤        ├─────────────────┤</a:t>
            </a:r>
            <a:br>
              <a:rPr sz="5400" dirty="0"/>
            </a:br>
            <a:r>
              <a:rPr sz="1800" dirty="0">
                <a:latin typeface="Consolas"/>
              </a:rPr>
              <a:t>├─────────────────┤        │   Data Tier     │        │  Use Cases      │</a:t>
            </a:r>
            <a:br>
              <a:rPr sz="5400" dirty="0"/>
            </a:br>
            <a:r>
              <a:rPr sz="1800" dirty="0">
                <a:latin typeface="Consolas"/>
              </a:rPr>
              <a:t>│    Database     │        └─────────────────┘        ├─────────────────┤</a:t>
            </a:r>
            <a:br>
              <a:rPr sz="5400" dirty="0"/>
            </a:br>
            <a:r>
              <a:rPr sz="1800" dirty="0">
                <a:latin typeface="Consolas"/>
              </a:rPr>
              <a:t>└─────────────────┘                                   │   Entities      │</a:t>
            </a:r>
            <a:br>
              <a:rPr sz="5400" dirty="0"/>
            </a:br>
            <a:r>
              <a:rPr sz="1800" dirty="0">
                <a:latin typeface="Consolas"/>
              </a:rPr>
              <a:t>                                                      └─────────────────┘</a:t>
            </a:r>
            <a:br>
              <a:rPr sz="5400" dirty="0"/>
            </a:br>
            <a:r>
              <a:rPr sz="1800" dirty="0">
                <a:latin typeface="Consolas"/>
              </a:rPr>
              <a:t>Classic Layering           Enterprise N-Tier          Domain-Centric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t>1. Layered Architecture (Schichtarchitektur)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Layered Architecture - Schema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dirty="0">
                <a:latin typeface="Consolas"/>
              </a:rPr>
              <a:t>┌─────────────────────────────────────────────────┐</a:t>
            </a:r>
            <a:br>
              <a:rPr sz="4800" dirty="0"/>
            </a:br>
            <a:r>
              <a:rPr sz="1600" dirty="0">
                <a:latin typeface="Consolas"/>
              </a:rPr>
              <a:t>│                Presentation Layer               │ &lt;- Web UI, REST APIs</a:t>
            </a:r>
            <a:br>
              <a:rPr sz="4800" dirty="0"/>
            </a:br>
            <a:r>
              <a:rPr sz="1600" dirty="0">
                <a:latin typeface="Consolas"/>
              </a:rPr>
              <a:t>├─────────────────────────────────────────────────┤</a:t>
            </a:r>
            <a:br>
              <a:rPr sz="4800" dirty="0"/>
            </a:br>
            <a:r>
              <a:rPr sz="1600" dirty="0">
                <a:latin typeface="Consolas"/>
              </a:rPr>
              <a:t>│                 Business Layer                  │ &lt;- Domain Logic</a:t>
            </a:r>
            <a:br>
              <a:rPr sz="4800" dirty="0"/>
            </a:br>
            <a:r>
              <a:rPr sz="1600" dirty="0">
                <a:latin typeface="Consolas"/>
              </a:rPr>
              <a:t>├─────────────────────────────────────────────────┤</a:t>
            </a:r>
            <a:br>
              <a:rPr sz="4800" dirty="0"/>
            </a:br>
            <a:r>
              <a:rPr sz="1600" dirty="0">
                <a:latin typeface="Consolas"/>
              </a:rPr>
              <a:t>│                Persistence Layer                │ &lt;- Data Access</a:t>
            </a:r>
            <a:br>
              <a:rPr sz="4800" dirty="0"/>
            </a:br>
            <a:r>
              <a:rPr sz="1600" dirty="0">
                <a:latin typeface="Consolas"/>
              </a:rPr>
              <a:t>├─────────────────────────────────────────────────┤</a:t>
            </a:r>
            <a:br>
              <a:rPr sz="4800" dirty="0"/>
            </a:br>
            <a:r>
              <a:rPr sz="1600" dirty="0">
                <a:latin typeface="Consolas"/>
              </a:rPr>
              <a:t>│                 Database Layer                  │ &lt;- Data Storage</a:t>
            </a:r>
            <a:br>
              <a:rPr sz="4800" dirty="0"/>
            </a:br>
            <a:r>
              <a:rPr sz="1600" dirty="0">
                <a:latin typeface="Consolas"/>
              </a:rPr>
              <a:t>└─────────────────────────────────────────────────┘</a:t>
            </a:r>
            <a:br>
              <a:rPr sz="4800" dirty="0"/>
            </a:br>
            <a:br>
              <a:rPr sz="4800" dirty="0"/>
            </a:br>
            <a:r>
              <a:rPr sz="1600" dirty="0">
                <a:latin typeface="Consolas"/>
              </a:rPr>
              <a:t>Dependency Flow: Top -&gt; Down (Higher layers depend on lower layers)</a:t>
            </a:r>
            <a:br>
              <a:rPr sz="4800" dirty="0"/>
            </a:br>
            <a:r>
              <a:rPr sz="1600" dirty="0">
                <a:latin typeface="Consolas"/>
              </a:rPr>
              <a:t>Data Flow: Bidirectional through defined interfaces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Layered Architecture - </a:t>
            </a:r>
            <a:r>
              <a:rPr lang="en-US" dirty="0"/>
              <a:t>Network Config Management System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</a:pPr>
            <a:r>
              <a:rPr b="1" dirty="0"/>
              <a:t>Layer Implementation:</a:t>
            </a:r>
          </a:p>
          <a:p>
            <a:pPr lvl="1">
              <a:lnSpc>
                <a:spcPct val="150000"/>
              </a:lnSpc>
            </a:pPr>
            <a:r>
              <a:rPr dirty="0"/>
              <a:t>Presentation: Web Dashboard für Network Engineers</a:t>
            </a:r>
          </a:p>
          <a:p>
            <a:pPr lvl="1">
              <a:lnSpc>
                <a:spcPct val="150000"/>
              </a:lnSpc>
            </a:pPr>
            <a:r>
              <a:rPr dirty="0"/>
              <a:t>Business: Configuration Validation, Change Management</a:t>
            </a:r>
          </a:p>
          <a:p>
            <a:pPr lvl="1">
              <a:lnSpc>
                <a:spcPct val="150000"/>
              </a:lnSpc>
            </a:pPr>
            <a:r>
              <a:rPr dirty="0"/>
              <a:t>Persistence: Configuration Repository, Audit Logging</a:t>
            </a:r>
          </a:p>
          <a:p>
            <a:pPr lvl="1">
              <a:lnSpc>
                <a:spcPct val="150000"/>
              </a:lnSpc>
            </a:pPr>
            <a:r>
              <a:rPr dirty="0"/>
              <a:t>Database: PostgreSQL für Config Data, MongoDB für Audit Logs</a:t>
            </a:r>
          </a:p>
          <a:p>
            <a:pPr>
              <a:lnSpc>
                <a:spcPct val="150000"/>
              </a:lnSpc>
            </a:pPr>
            <a:r>
              <a:rPr b="1" dirty="0"/>
              <a:t>Real-world Application:</a:t>
            </a:r>
          </a:p>
          <a:p>
            <a:pPr lvl="1">
              <a:lnSpc>
                <a:spcPct val="150000"/>
              </a:lnSpc>
            </a:pPr>
            <a:r>
              <a:rPr dirty="0"/>
              <a:t>SNMP configuration management</a:t>
            </a:r>
          </a:p>
          <a:p>
            <a:pPr lvl="1">
              <a:lnSpc>
                <a:spcPct val="150000"/>
              </a:lnSpc>
            </a:pPr>
            <a:r>
              <a:rPr dirty="0"/>
              <a:t>Network device inventory</a:t>
            </a:r>
          </a:p>
          <a:p>
            <a:pPr lvl="1">
              <a:lnSpc>
                <a:spcPct val="150000"/>
              </a:lnSpc>
            </a:pPr>
            <a:r>
              <a:rPr dirty="0"/>
              <a:t>Change approval workflows</a:t>
            </a:r>
          </a:p>
          <a:p>
            <a:pPr lvl="1">
              <a:lnSpc>
                <a:spcPct val="150000"/>
              </a:lnSpc>
            </a:pPr>
            <a:r>
              <a:rPr dirty="0"/>
              <a:t>Configuration backup and restore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2. Microservices 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Microservices Architecture - Schema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dirty="0">
                <a:latin typeface="Consolas"/>
              </a:rPr>
              <a:t>Service Landscape:</a:t>
            </a:r>
            <a:br>
              <a:rPr sz="5400" dirty="0"/>
            </a:br>
            <a:r>
              <a:rPr sz="1800" dirty="0">
                <a:latin typeface="Consolas"/>
              </a:rPr>
              <a:t>┌───────────────┐  ┌───────────────┐  ┌───────────────┐</a:t>
            </a:r>
            <a:br>
              <a:rPr sz="5400" dirty="0"/>
            </a:br>
            <a:r>
              <a:rPr sz="1800" dirty="0">
                <a:latin typeface="Consolas"/>
              </a:rPr>
              <a:t>│  Device </a:t>
            </a:r>
            <a:r>
              <a:rPr sz="1800" dirty="0" err="1">
                <a:latin typeface="Consolas"/>
              </a:rPr>
              <a:t>Mgmt</a:t>
            </a:r>
            <a:r>
              <a:rPr sz="1800" dirty="0">
                <a:latin typeface="Consolas"/>
              </a:rPr>
              <a:t>  │  │   Monitoring  │  │ Configuration │</a:t>
            </a:r>
            <a:br>
              <a:rPr sz="5400" dirty="0"/>
            </a:br>
            <a:r>
              <a:rPr sz="1800" dirty="0">
                <a:latin typeface="Consolas"/>
              </a:rPr>
              <a:t>│   Service     │  │    Service    │  │    Service    │</a:t>
            </a:r>
            <a:br>
              <a:rPr sz="5400" dirty="0"/>
            </a:br>
            <a:r>
              <a:rPr sz="1800" dirty="0">
                <a:latin typeface="Consolas"/>
              </a:rPr>
              <a:t>├───────────────┤  ├───────────────┤  ├───────────────┤</a:t>
            </a:r>
            <a:br>
              <a:rPr sz="5400" dirty="0"/>
            </a:br>
            <a:r>
              <a:rPr sz="1800" dirty="0">
                <a:latin typeface="Consolas"/>
              </a:rPr>
              <a:t>│  PostgreSQL   │  │  </a:t>
            </a:r>
            <a:r>
              <a:rPr sz="1800" dirty="0" err="1">
                <a:latin typeface="Consolas"/>
              </a:rPr>
              <a:t>InfluxDB</a:t>
            </a:r>
            <a:r>
              <a:rPr sz="1800" dirty="0">
                <a:latin typeface="Consolas"/>
              </a:rPr>
              <a:t>     │  │   MongoDB     │</a:t>
            </a:r>
            <a:br>
              <a:rPr sz="5400" dirty="0"/>
            </a:br>
            <a:r>
              <a:rPr sz="1800" dirty="0">
                <a:latin typeface="Consolas"/>
              </a:rPr>
              <a:t>└───────────────┘  └───────────────┘  └───────────────┘</a:t>
            </a:r>
            <a:br>
              <a:rPr sz="5400" dirty="0"/>
            </a:br>
            <a:r>
              <a:rPr sz="1800" dirty="0">
                <a:latin typeface="Consolas"/>
              </a:rPr>
              <a:t>         │                  │                  │</a:t>
            </a:r>
            <a:br>
              <a:rPr sz="5400" dirty="0"/>
            </a:br>
            <a:r>
              <a:rPr sz="1800" dirty="0">
                <a:latin typeface="Consolas"/>
              </a:rPr>
              <a:t>         └──────────────────┼──────────────────┘</a:t>
            </a:r>
            <a:br>
              <a:rPr sz="5400" dirty="0"/>
            </a:br>
            <a:r>
              <a:rPr sz="1800" dirty="0">
                <a:latin typeface="Consolas"/>
              </a:rPr>
              <a:t>                            │</a:t>
            </a:r>
            <a:br>
              <a:rPr sz="5400" dirty="0"/>
            </a:br>
            <a:r>
              <a:rPr sz="1800" dirty="0">
                <a:latin typeface="Consolas"/>
              </a:rPr>
              <a:t>                   ┌─────────────────┐</a:t>
            </a:r>
            <a:br>
              <a:rPr sz="5400" dirty="0"/>
            </a:br>
            <a:r>
              <a:rPr sz="1800" dirty="0">
                <a:latin typeface="Consolas"/>
              </a:rPr>
              <a:t>                   │   API Gateway   │</a:t>
            </a:r>
            <a:br>
              <a:rPr sz="5400" dirty="0"/>
            </a:br>
            <a:r>
              <a:rPr sz="1800" dirty="0">
                <a:latin typeface="Consolas"/>
              </a:rPr>
              <a:t>                   ├─────────────────┤</a:t>
            </a:r>
            <a:br>
              <a:rPr sz="5400" dirty="0"/>
            </a:br>
            <a:r>
              <a:rPr sz="1800" dirty="0">
                <a:latin typeface="Consolas"/>
              </a:rPr>
              <a:t>                   │ Load Balancer   │</a:t>
            </a:r>
            <a:br>
              <a:rPr sz="5400" dirty="0"/>
            </a:br>
            <a:r>
              <a:rPr sz="1800" dirty="0">
                <a:latin typeface="Consolas"/>
              </a:rPr>
              <a:t>                   ├─────────────────┤</a:t>
            </a:r>
            <a:br>
              <a:rPr sz="5400" dirty="0"/>
            </a:br>
            <a:r>
              <a:rPr sz="1800" dirty="0">
                <a:latin typeface="Consolas"/>
              </a:rPr>
              <a:t>                   │ Service Mesh    │</a:t>
            </a:r>
            <a:br>
              <a:rPr sz="5400" dirty="0"/>
            </a:br>
            <a:r>
              <a:rPr sz="1800" dirty="0">
                <a:latin typeface="Consolas"/>
              </a:rPr>
              <a:t>                   └─────────────────┘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3. Event-Driven 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Event-Driven Architecture - Schema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dirty="0">
                <a:latin typeface="Consolas"/>
              </a:rPr>
              <a:t>Event Flow:</a:t>
            </a:r>
            <a:br>
              <a:rPr sz="4400" dirty="0"/>
            </a:br>
            <a:r>
              <a:rPr sz="1400" dirty="0">
                <a:latin typeface="Consolas"/>
              </a:rPr>
              <a:t>┌─────────────┐    Events     ┌─────────────┐    Events     ┌─────────────┐</a:t>
            </a:r>
            <a:br>
              <a:rPr sz="4400" dirty="0"/>
            </a:br>
            <a:r>
              <a:rPr sz="1400" dirty="0">
                <a:latin typeface="Consolas"/>
              </a:rPr>
              <a:t>│  Producers  │ ────────────&gt; │  Event Bus  │ ────────────&gt; │  Consumers  │</a:t>
            </a:r>
            <a:br>
              <a:rPr sz="4400" dirty="0"/>
            </a:br>
            <a:r>
              <a:rPr sz="1400" dirty="0">
                <a:latin typeface="Consolas"/>
              </a:rPr>
              <a:t>│             │               │             │               │             │</a:t>
            </a:r>
            <a:br>
              <a:rPr sz="4400" dirty="0"/>
            </a:br>
            <a:r>
              <a:rPr sz="1400" dirty="0">
                <a:latin typeface="Consolas"/>
              </a:rPr>
              <a:t>│ Device      │               │  Apache     │               │ Alerting    │</a:t>
            </a:r>
            <a:br>
              <a:rPr sz="4400" dirty="0"/>
            </a:br>
            <a:r>
              <a:rPr sz="1400" dirty="0">
                <a:latin typeface="Consolas"/>
              </a:rPr>
              <a:t>│ Sensors     │               │  Kafka      │               │ System      │</a:t>
            </a:r>
            <a:br>
              <a:rPr sz="4400" dirty="0"/>
            </a:br>
            <a:r>
              <a:rPr sz="1400" dirty="0">
                <a:latin typeface="Consolas"/>
              </a:rPr>
              <a:t>│             │               │             │               │             │</a:t>
            </a:r>
            <a:br>
              <a:rPr sz="4400" dirty="0"/>
            </a:br>
            <a:r>
              <a:rPr sz="1400" dirty="0">
                <a:latin typeface="Consolas"/>
              </a:rPr>
              <a:t>│ User        │               │ Topics:     │               │ Analytics   │</a:t>
            </a:r>
            <a:br>
              <a:rPr sz="4400" dirty="0"/>
            </a:br>
            <a:r>
              <a:rPr sz="1400" dirty="0">
                <a:latin typeface="Consolas"/>
              </a:rPr>
              <a:t>│ Actions     │               │ - alerts    │               │ Engine      │</a:t>
            </a:r>
            <a:br>
              <a:rPr sz="4400" dirty="0"/>
            </a:br>
            <a:r>
              <a:rPr sz="1400" dirty="0">
                <a:latin typeface="Consolas"/>
              </a:rPr>
              <a:t>│             │               │ - metrics   │               │             │</a:t>
            </a:r>
            <a:br>
              <a:rPr sz="4400" dirty="0"/>
            </a:br>
            <a:r>
              <a:rPr sz="1400" dirty="0">
                <a:latin typeface="Consolas"/>
              </a:rPr>
              <a:t>│ System      │               │ - configs   │               │ Dashboard   │</a:t>
            </a:r>
            <a:br>
              <a:rPr sz="4400" dirty="0"/>
            </a:br>
            <a:r>
              <a:rPr sz="1400" dirty="0">
                <a:latin typeface="Consolas"/>
              </a:rPr>
              <a:t>│ Events      │               │ - audit     │               │ Updates     │</a:t>
            </a:r>
            <a:br>
              <a:rPr sz="4400" dirty="0"/>
            </a:br>
            <a:r>
              <a:rPr sz="1400" dirty="0">
                <a:latin typeface="Consolas"/>
              </a:rPr>
              <a:t>└─────────────┘               └─────────────┘               └─────────────┘</a:t>
            </a:r>
            <a:br>
              <a:rPr sz="4400" dirty="0"/>
            </a:br>
            <a:r>
              <a:rPr sz="1400" dirty="0">
                <a:latin typeface="Consolas"/>
              </a:rPr>
              <a:t>    │                            </a:t>
            </a:r>
            <a:r>
              <a:rPr lang="en-US" sz="1400" dirty="0">
                <a:latin typeface="Consolas"/>
              </a:rPr>
              <a:t> </a:t>
            </a:r>
            <a:r>
              <a:rPr sz="1400" dirty="0">
                <a:latin typeface="Consolas"/>
              </a:rPr>
              <a:t> │                             │</a:t>
            </a:r>
            <a:br>
              <a:rPr sz="4400" dirty="0"/>
            </a:br>
            <a:r>
              <a:rPr sz="1400" dirty="0">
                <a:latin typeface="Consolas"/>
              </a:rPr>
              <a:t>    └─── Async Pub/Sub ────────────┼─── Message Queues ──────</a:t>
            </a:r>
            <a:r>
              <a:rPr lang="en-US" sz="1400" dirty="0">
                <a:latin typeface="Consolas"/>
              </a:rPr>
              <a:t>──</a:t>
            </a:r>
            <a:r>
              <a:rPr sz="1400" dirty="0">
                <a:latin typeface="Consolas"/>
              </a:rPr>
              <a:t>──┘</a:t>
            </a:r>
            <a:br>
              <a:rPr sz="4400" dirty="0"/>
            </a:br>
            <a:r>
              <a:rPr sz="1400" dirty="0">
                <a:latin typeface="Consolas"/>
              </a:rPr>
              <a:t>                                   │</a:t>
            </a:r>
            <a:br>
              <a:rPr sz="4400" dirty="0"/>
            </a:br>
            <a:r>
              <a:rPr sz="1400" dirty="0">
                <a:latin typeface="Consolas"/>
              </a:rPr>
              <a:t>                     </a:t>
            </a:r>
            <a:r>
              <a:rPr lang="en-US" sz="1400" dirty="0">
                <a:latin typeface="Consolas"/>
              </a:rPr>
              <a:t>  </a:t>
            </a:r>
            <a:r>
              <a:rPr sz="1400" dirty="0">
                <a:latin typeface="Consolas"/>
              </a:rPr>
              <a:t>     ┌─────────────┐</a:t>
            </a:r>
            <a:br>
              <a:rPr sz="4400" dirty="0"/>
            </a:br>
            <a:r>
              <a:rPr sz="1400" dirty="0">
                <a:latin typeface="Consolas"/>
              </a:rPr>
              <a:t>                     </a:t>
            </a:r>
            <a:r>
              <a:rPr lang="en-US" sz="1400" dirty="0">
                <a:latin typeface="Consolas"/>
              </a:rPr>
              <a:t>  </a:t>
            </a:r>
            <a:r>
              <a:rPr sz="1400" dirty="0">
                <a:latin typeface="Consolas"/>
              </a:rPr>
              <a:t>     │ Event Store │</a:t>
            </a:r>
            <a:br>
              <a:rPr sz="4400" dirty="0"/>
            </a:br>
            <a:r>
              <a:rPr sz="1400" dirty="0">
                <a:latin typeface="Consolas"/>
              </a:rPr>
              <a:t>                    </a:t>
            </a:r>
            <a:r>
              <a:rPr lang="en-US" sz="1400" dirty="0">
                <a:latin typeface="Consolas"/>
              </a:rPr>
              <a:t>  </a:t>
            </a:r>
            <a:r>
              <a:rPr sz="1400" dirty="0">
                <a:latin typeface="Consolas"/>
              </a:rPr>
              <a:t>      │ (History)   │</a:t>
            </a:r>
            <a:br>
              <a:rPr sz="4400" dirty="0"/>
            </a:br>
            <a:r>
              <a:rPr sz="1400" dirty="0">
                <a:latin typeface="Consolas"/>
              </a:rPr>
              <a:t>                     </a:t>
            </a:r>
            <a:r>
              <a:rPr lang="en-US" sz="1400" dirty="0">
                <a:latin typeface="Consolas"/>
              </a:rPr>
              <a:t>  </a:t>
            </a:r>
            <a:r>
              <a:rPr sz="1400" dirty="0">
                <a:latin typeface="Consolas"/>
              </a:rPr>
              <a:t>     └─────────────┘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t>4. Hexagonal Architecture (Ports &amp; Adapters)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Hexagonal Architecture </a:t>
            </a:r>
            <a:r>
              <a:rPr lang="en-US" dirty="0"/>
              <a:t>–</a:t>
            </a:r>
            <a:r>
              <a:rPr dirty="0"/>
              <a:t> </a:t>
            </a:r>
            <a:r>
              <a:rPr lang="en-US" dirty="0"/>
              <a:t>Ports &amp; Adapters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br>
              <a:rPr sz="1200" dirty="0"/>
            </a:br>
            <a:r>
              <a:rPr sz="1200" dirty="0">
                <a:latin typeface="Consolas"/>
              </a:rPr>
              <a:t>    ┌─────────────────┐ 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┌─────────────────┐</a:t>
            </a:r>
            <a:br>
              <a:rPr sz="1200" dirty="0"/>
            </a:br>
            <a:r>
              <a:rPr sz="1200" dirty="0">
                <a:latin typeface="Consolas"/>
              </a:rPr>
              <a:t>    │   Web UI        │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│   Database      │</a:t>
            </a:r>
            <a:br>
              <a:rPr sz="1200" dirty="0"/>
            </a:br>
            <a:r>
              <a:rPr sz="1200" dirty="0">
                <a:latin typeface="Consolas"/>
              </a:rPr>
              <a:t>    │   Adapter       │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│   Adapter       │</a:t>
            </a:r>
            <a:br>
              <a:rPr sz="1200" dirty="0"/>
            </a:br>
            <a:r>
              <a:rPr sz="1200" dirty="0">
                <a:latin typeface="Consolas"/>
              </a:rPr>
              <a:t>    └─────┬───────────┘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└─────┬───────────┘</a:t>
            </a:r>
            <a:br>
              <a:rPr sz="1200" dirty="0"/>
            </a:br>
            <a:r>
              <a:rPr sz="1200" dirty="0">
                <a:latin typeface="Consolas"/>
              </a:rPr>
              <a:t>          │           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      │</a:t>
            </a:r>
            <a:br>
              <a:rPr sz="1200" dirty="0"/>
            </a:br>
            <a:r>
              <a:rPr sz="1200" dirty="0">
                <a:latin typeface="Consolas"/>
              </a:rPr>
              <a:t>    ┌─────┴───────────┐ 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┌─────┴───────────┐</a:t>
            </a:r>
            <a:br>
              <a:rPr sz="1200" dirty="0"/>
            </a:br>
            <a:r>
              <a:rPr sz="1200" dirty="0">
                <a:latin typeface="Consolas"/>
              </a:rPr>
              <a:t>    │   HTTP Port     │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│ Persistence Port│</a:t>
            </a:r>
            <a:br>
              <a:rPr sz="1200" dirty="0"/>
            </a:br>
            <a:r>
              <a:rPr sz="1200" dirty="0">
                <a:latin typeface="Consolas"/>
              </a:rPr>
              <a:t>    └─────┬───────────┘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└─────┬───────────┘</a:t>
            </a:r>
            <a:br>
              <a:rPr sz="1200" dirty="0"/>
            </a:br>
            <a:r>
              <a:rPr sz="1200" dirty="0">
                <a:latin typeface="Consolas"/>
              </a:rPr>
              <a:t>          │                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 │</a:t>
            </a:r>
            <a:br>
              <a:rPr sz="1200" dirty="0"/>
            </a:br>
            <a:r>
              <a:rPr sz="1200" dirty="0">
                <a:latin typeface="Consolas"/>
              </a:rPr>
              <a:t>          │     ┌─────────────────────────┐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│</a:t>
            </a:r>
            <a:br>
              <a:rPr sz="1200" dirty="0"/>
            </a:br>
            <a:r>
              <a:rPr sz="1200" dirty="0">
                <a:latin typeface="Consolas"/>
              </a:rPr>
              <a:t>          └─────│                         │───</a:t>
            </a:r>
            <a:r>
              <a:rPr lang="en-US" sz="1200" dirty="0">
                <a:latin typeface="Consolas"/>
              </a:rPr>
              <a:t>──</a:t>
            </a:r>
            <a:r>
              <a:rPr sz="1200" dirty="0">
                <a:latin typeface="Consolas"/>
              </a:rPr>
              <a:t>───┘</a:t>
            </a:r>
            <a:br>
              <a:rPr sz="1200" dirty="0"/>
            </a:br>
            <a:r>
              <a:rPr sz="1200" dirty="0">
                <a:latin typeface="Consolas"/>
              </a:rPr>
              <a:t>                │     Domain Core         │</a:t>
            </a:r>
            <a:br>
              <a:rPr sz="1200" dirty="0"/>
            </a:br>
            <a:r>
              <a:rPr sz="1200" dirty="0">
                <a:latin typeface="Consolas"/>
              </a:rPr>
              <a:t>                │                         │</a:t>
            </a:r>
            <a:br>
              <a:rPr sz="1200" dirty="0"/>
            </a:br>
            <a:r>
              <a:rPr sz="1200" dirty="0">
                <a:latin typeface="Consolas"/>
              </a:rPr>
              <a:t>    ┌───────────│   Business Logic        │──────────┐</a:t>
            </a:r>
            <a:br>
              <a:rPr sz="1200" dirty="0"/>
            </a:br>
            <a:r>
              <a:rPr sz="1200" dirty="0">
                <a:latin typeface="Consolas"/>
              </a:rPr>
              <a:t>    │           │                         │          │</a:t>
            </a:r>
            <a:br>
              <a:rPr sz="1200" dirty="0"/>
            </a:br>
            <a:r>
              <a:rPr sz="1200" dirty="0">
                <a:latin typeface="Consolas"/>
              </a:rPr>
              <a:t>    │           └─────────────────────────┘          │</a:t>
            </a:r>
            <a:br>
              <a:rPr sz="1200" dirty="0"/>
            </a:br>
            <a:r>
              <a:rPr sz="1200" dirty="0">
                <a:latin typeface="Consolas"/>
              </a:rPr>
              <a:t>    │                                                │</a:t>
            </a:r>
            <a:br>
              <a:rPr sz="1200" dirty="0"/>
            </a:br>
            <a:r>
              <a:rPr sz="1200" dirty="0">
                <a:latin typeface="Consolas"/>
              </a:rPr>
              <a:t>┌───┴───────────┐    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   ┌─────┴───────────┐</a:t>
            </a:r>
            <a:br>
              <a:rPr sz="1200" dirty="0"/>
            </a:br>
            <a:r>
              <a:rPr sz="1200" dirty="0">
                <a:latin typeface="Consolas"/>
              </a:rPr>
              <a:t>│  API Port     │   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    │   Event Port    │</a:t>
            </a:r>
            <a:br>
              <a:rPr sz="1200" dirty="0"/>
            </a:br>
            <a:r>
              <a:rPr sz="1200" dirty="0">
                <a:latin typeface="Consolas"/>
              </a:rPr>
              <a:t>└───┬───────────┘    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   └─────┬───────────┘</a:t>
            </a:r>
            <a:br>
              <a:rPr sz="1200" dirty="0"/>
            </a:br>
            <a:r>
              <a:rPr sz="1200" dirty="0">
                <a:latin typeface="Consolas"/>
              </a:rPr>
              <a:t>    │               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          │</a:t>
            </a:r>
            <a:br>
              <a:rPr sz="1200" dirty="0"/>
            </a:br>
            <a:r>
              <a:rPr sz="1200" dirty="0">
                <a:latin typeface="Consolas"/>
              </a:rPr>
              <a:t>┌───┴───────────┐    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   ┌─────┴───────────┐</a:t>
            </a:r>
            <a:br>
              <a:rPr sz="1200" dirty="0"/>
            </a:br>
            <a:r>
              <a:rPr sz="1200" dirty="0">
                <a:latin typeface="Consolas"/>
              </a:rPr>
              <a:t>│   REST API    │     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  │   Message       │</a:t>
            </a:r>
            <a:br>
              <a:rPr sz="1200" dirty="0"/>
            </a:br>
            <a:r>
              <a:rPr sz="1200" dirty="0">
                <a:latin typeface="Consolas"/>
              </a:rPr>
              <a:t>│   Adapter     │    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   │   Queue Adapter │</a:t>
            </a:r>
            <a:br>
              <a:rPr sz="1200" dirty="0"/>
            </a:br>
            <a:r>
              <a:rPr sz="1200" dirty="0">
                <a:latin typeface="Consolas"/>
              </a:rPr>
              <a:t>└───────────────┘     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  └─────────────────┘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Architectural Evolvement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pPr>
              <a:lnSpc>
                <a:spcPct val="160000"/>
              </a:lnSpc>
            </a:pPr>
            <a:r>
              <a:rPr b="1" dirty="0"/>
              <a:t>Start Simple (Layered):</a:t>
            </a:r>
          </a:p>
          <a:p>
            <a:pPr lvl="1">
              <a:lnSpc>
                <a:spcPct val="160000"/>
              </a:lnSpc>
            </a:pPr>
            <a:r>
              <a:rPr dirty="0" err="1"/>
              <a:t>Prototypen</a:t>
            </a:r>
            <a:r>
              <a:rPr dirty="0"/>
              <a:t> und Proof-of-Concepts</a:t>
            </a:r>
          </a:p>
          <a:p>
            <a:pPr lvl="1">
              <a:lnSpc>
                <a:spcPct val="160000"/>
              </a:lnSpc>
            </a:pPr>
            <a:r>
              <a:rPr dirty="0"/>
              <a:t>Kleine Teams (&lt;5 </a:t>
            </a:r>
            <a:r>
              <a:rPr dirty="0" err="1"/>
              <a:t>Entwickler</a:t>
            </a:r>
            <a:r>
              <a:rPr dirty="0"/>
              <a:t>)</a:t>
            </a:r>
          </a:p>
          <a:p>
            <a:pPr lvl="1">
              <a:lnSpc>
                <a:spcPct val="160000"/>
              </a:lnSpc>
            </a:pPr>
            <a:r>
              <a:rPr dirty="0" err="1"/>
              <a:t>Einfache</a:t>
            </a:r>
            <a:r>
              <a:rPr dirty="0"/>
              <a:t> CRUD-</a:t>
            </a:r>
            <a:r>
              <a:rPr dirty="0" err="1"/>
              <a:t>Operationen</a:t>
            </a:r>
            <a:endParaRPr dirty="0"/>
          </a:p>
          <a:p>
            <a:pPr>
              <a:lnSpc>
                <a:spcPct val="160000"/>
              </a:lnSpc>
            </a:pPr>
            <a:r>
              <a:rPr b="1" dirty="0"/>
              <a:t>Scale Smart (Microservices):</a:t>
            </a:r>
          </a:p>
          <a:p>
            <a:pPr lvl="1">
              <a:lnSpc>
                <a:spcPct val="160000"/>
              </a:lnSpc>
            </a:pPr>
            <a:r>
              <a:rPr dirty="0" err="1"/>
              <a:t>Große</a:t>
            </a:r>
            <a:r>
              <a:rPr dirty="0"/>
              <a:t> </a:t>
            </a:r>
            <a:r>
              <a:rPr dirty="0" err="1"/>
              <a:t>verteilte</a:t>
            </a:r>
            <a:r>
              <a:rPr dirty="0"/>
              <a:t> Teams</a:t>
            </a:r>
          </a:p>
          <a:p>
            <a:pPr lvl="1">
              <a:lnSpc>
                <a:spcPct val="160000"/>
              </a:lnSpc>
            </a:pPr>
            <a:r>
              <a:rPr dirty="0"/>
              <a:t>Independent Service Scaling</a:t>
            </a:r>
          </a:p>
          <a:p>
            <a:pPr lvl="1">
              <a:lnSpc>
                <a:spcPct val="160000"/>
              </a:lnSpc>
            </a:pPr>
            <a:r>
              <a:rPr dirty="0"/>
              <a:t>High Availability Requirements</a:t>
            </a:r>
          </a:p>
          <a:p>
            <a:pPr>
              <a:lnSpc>
                <a:spcPct val="160000"/>
              </a:lnSpc>
            </a:pPr>
            <a:r>
              <a:rPr b="1" dirty="0"/>
              <a:t>Integrate Efficiently (Event-Driven):</a:t>
            </a:r>
          </a:p>
          <a:p>
            <a:pPr lvl="1">
              <a:lnSpc>
                <a:spcPct val="160000"/>
              </a:lnSpc>
            </a:pPr>
            <a:r>
              <a:rPr dirty="0"/>
              <a:t>Real-time Processing</a:t>
            </a:r>
          </a:p>
          <a:p>
            <a:pPr lvl="1">
              <a:lnSpc>
                <a:spcPct val="160000"/>
              </a:lnSpc>
            </a:pPr>
            <a:r>
              <a:rPr dirty="0"/>
              <a:t>System Integration</a:t>
            </a:r>
          </a:p>
          <a:p>
            <a:pPr>
              <a:lnSpc>
                <a:spcPct val="160000"/>
              </a:lnSpc>
            </a:pPr>
            <a:r>
              <a:rPr b="1" dirty="0"/>
              <a:t>Design for Change (Hexagonal):</a:t>
            </a:r>
          </a:p>
          <a:p>
            <a:pPr lvl="1">
              <a:lnSpc>
                <a:spcPct val="160000"/>
              </a:lnSpc>
            </a:pPr>
            <a:r>
              <a:rPr dirty="0"/>
              <a:t>Complex Domain Logic</a:t>
            </a:r>
          </a:p>
          <a:p>
            <a:pPr lvl="1">
              <a:lnSpc>
                <a:spcPct val="160000"/>
              </a:lnSpc>
            </a:pPr>
            <a:r>
              <a:rPr dirty="0"/>
              <a:t>Testability Requirements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Layered Architecture -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Microservices -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Layered Architecture (Schichtarchitektur) - Vorteile/Nachteile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Microservices Architecture - Vorteile/Nachteile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Hexagonal Architecture (Ports &amp; Adapters) - Vorteile/Nachteile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Event-Driven Architecture - Vorteile/Nachteile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VanillaCore" id="{A4188DAF-3037-9A46-8AA0-BDB523AB8B82}" vid="{1D57C864-6CD3-B749-8548-A8609C08E9AB}"/>
    </a:ext>
  </a:extLst>
</a:theme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VanillaCore" id="{A4188DAF-3037-9A46-8AA0-BDB523AB8B82}" vid="{1D57C864-6CD3-B749-8548-A8609C08E9A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</TotalTime>
  <Words>775</Words>
  <Application>Microsoft Macintosh PowerPoint</Application>
  <PresentationFormat>Widescreen</PresentationFormat>
  <Paragraphs>64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Aptos</vt:lpstr>
      <vt:lpstr>Arial</vt:lpstr>
      <vt:lpstr>Consolas</vt:lpstr>
      <vt:lpstr>Open Sans</vt:lpstr>
      <vt:lpstr>Open Sans Light</vt:lpstr>
      <vt:lpstr>Source Code Pro</vt:lpstr>
      <vt:lpstr>Custom Design</vt:lpstr>
      <vt:lpstr>Architectural Patterns - Part 1</vt:lpstr>
      <vt:lpstr>Overview: Layer-Based Architectures</vt:lpstr>
      <vt:lpstr>Architecture Types Comparison</vt:lpstr>
      <vt:lpstr>1. Layered Architecture (Schichtarchitektur)</vt:lpstr>
      <vt:lpstr>Layered Architecture - Schema</vt:lpstr>
      <vt:lpstr>Layered Architecture - Network Config Management System</vt:lpstr>
      <vt:lpstr>Layered Architecture - Trade-offs</vt:lpstr>
      <vt:lpstr>2. Microservices Architecture</vt:lpstr>
      <vt:lpstr>Microservices Architecture - Schema</vt:lpstr>
      <vt:lpstr>Microservices - Trade-offs</vt:lpstr>
      <vt:lpstr>3. Event-Driven Architecture</vt:lpstr>
      <vt:lpstr>Event-Driven Architecture - Schema</vt:lpstr>
      <vt:lpstr>4. Hexagonal Architecture (Ports &amp; Adapters)</vt:lpstr>
      <vt:lpstr>Hexagonal Architecture – Ports &amp; Adapters</vt:lpstr>
      <vt:lpstr>Architectural Evolvement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Samaschke, Karsten</dc:creator>
  <cp:lastModifiedBy>Samaschke, Karsten</cp:lastModifiedBy>
  <cp:revision>14</cp:revision>
  <dcterms:created xsi:type="dcterms:W3CDTF">2025-09-10T03:57:45Z</dcterms:created>
  <dcterms:modified xsi:type="dcterms:W3CDTF">2025-09-10T14:06:41Z</dcterms:modified>
</cp:coreProperties>
</file>