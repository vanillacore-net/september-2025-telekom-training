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6" r:id="rId12"/>
    <p:sldId id="267" r:id="rId13"/>
    <p:sldId id="268" r:id="rId14"/>
    <p:sldId id="269" r:id="rId15"/>
    <p:sldId id="270" r:id="rId16"/>
    <p:sldId id="271" r:id="rId38"/>
    <p:sldId id="272" r:id="rId39"/>
    <p:sldId id="273" r:id="rId40"/>
    <p:sldId id="27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7"/>
  </p:normalViewPr>
  <p:slideViewPr>
    <p:cSldViewPr snapToGrid="0">
      <p:cViewPr varScale="1">
        <p:scale>
          <a:sx n="156" d="100"/>
          <a:sy n="156" d="100"/>
        </p:scale>
        <p:origin x="21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9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1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7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4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Patterns - Part 1: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Overview: Layer-Based Architectures:</a:t>
            </a:r>
          </a:p>
          <a:p/>
          <a:p>
            <a:r>
              <a:t>AGENDA SETTING:</a:t>
            </a:r>
          </a:p>
          <a:p>
            <a:r>
              <a:t>- Diese Folie gibt den Überblick über kommende Patterns</a:t>
            </a:r>
          </a:p>
          <a:p>
            <a:r>
              <a:t>- Zeigt thematische Zusammenhänge auf</a:t>
            </a:r>
          </a:p>
          <a:p>
            <a:r>
              <a:t>- Hilft bei der Orientierung im Workshop</a:t>
            </a:r>
          </a:p>
          <a:p/>
          <a:p>
            <a:r>
              <a:t>VISUAL ELEMENTS:</a:t>
            </a:r>
          </a:p>
          <a:p>
            <a:r>
              <a:t>- Diagramme langsam durchgehen</a:t>
            </a:r>
          </a:p>
          <a:p>
            <a:r>
              <a:t>- Gemeinsamkeiten und Unterschiede hervorheben</a:t>
            </a:r>
          </a:p>
          <a:p>
            <a:r>
              <a:t>- Aufbau von einfach zu komplex erklären</a:t>
            </a:r>
          </a:p>
          <a:p/>
          <a:p>
            <a:r>
              <a:t>INTERAKTION:</a:t>
            </a:r>
          </a:p>
          <a:p>
            <a:r>
              <a:t>- Fragen: "Wer hat schon mit diesen Patterns gearbeitet?"</a:t>
            </a:r>
          </a:p>
          <a:p>
            <a:r>
              <a:t>- Erfahrungsaustausch fördern</a:t>
            </a:r>
          </a:p>
          <a:p>
            <a:r>
              <a:t>- Erwartungen für diesen Block abfragen</a:t>
            </a:r>
          </a:p>
          <a:p/>
          <a:p>
            <a:r>
              <a:t>TELEKOM CONTEXT:</a:t>
            </a:r>
          </a:p>
          <a:p>
            <a:r>
              <a:t>- Welche Patterns sind bereits in Telekom-Projekten im Einsatz?</a:t>
            </a:r>
          </a:p>
          <a:p>
            <a:r>
              <a:t>- Wo sehen wir die größten Potentiale?</a:t>
            </a:r>
          </a:p>
          <a:p/>
          <a:p>
            <a:r>
              <a:t>ÜBERLEITUNG:</a:t>
            </a:r>
          </a:p>
          <a:p>
            <a:r>
              <a:t>- "Wir starten mit dem einfachsten Pattern..."</a:t>
            </a:r>
          </a:p>
          <a:p>
            <a:r>
              <a:t>- Lernkurve von grundlegend zu advanced erklären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Architecture Types Comparison: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1. Layered Architecture (Schichtarchitektur):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Layered Architecture - Network Config Management System: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2. Microservices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Microservices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3. Event-Driven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Event-Driven Architecture - Schema: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4. Hexagonal Architecture (Ports &amp; Adapters):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Hexagonal Architecture – Ports &amp; Adapters: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Evolvement: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Overview: Layer-Based Architectures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Types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Layered Architecture        N-Tier Architecture        Clean Architecture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┌─────────────────┐        ┌─────────────────┐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 Presentation  │        │   Client Tier   │        │   Frameworks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  Business     │        │ Application     │        │   Interface 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&lt;--&gt;  │      Tier       │  &lt;--&gt;  │   Adapters      │</a:t>
            </a:r>
            <a:br>
              <a:rPr sz="5400" dirty="0"/>
            </a:br>
            <a:r>
              <a:rPr sz="1800" dirty="0">
                <a:latin typeface="Consolas"/>
              </a:rPr>
              <a:t>│  Persistence    │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│   Data Tier     │        │  Use Cases      │</a:t>
            </a:r>
            <a:br>
              <a:rPr sz="5400" dirty="0"/>
            </a:br>
            <a:r>
              <a:rPr sz="1800" dirty="0">
                <a:latin typeface="Consolas"/>
              </a:rPr>
              <a:t>│    Database     │        └─────────────────┘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└─────────────────┘                                   │   Entities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                          └─────────────────┘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Classic Layering           Enterprise N-Tier          Domain-Centric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1. Layered Architecture (Schichtarchitektur)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dirty="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>
              <a:rPr sz="4800" dirty="0"/>
            </a:br>
            <a:r>
              <a:rPr sz="1600" dirty="0">
                <a:latin typeface="Consolas"/>
              </a:rPr>
              <a:t>│                Presentation Layer               │ &lt;- Web UI, REST APIs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Business Layer                  │ &lt;- Domain Logic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Persistence Layer                │ &lt;- Data Access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Database Layer                  │ &lt;- Data Storage</a:t>
            </a:r>
            <a:br>
              <a:rPr sz="4800" dirty="0"/>
            </a:br>
            <a:r>
              <a:rPr sz="1600" dirty="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>
              <a:rPr sz="4800" dirty="0"/>
            </a:br>
            <a:br>
              <a:rPr sz="4800" dirty="0"/>
            </a:br>
            <a:r>
              <a:rPr sz="1600" dirty="0">
                <a:latin typeface="Consolas"/>
              </a:rPr>
              <a:t>Dependency Flow: Top -&gt; Down (Higher layers depend on lower layers)</a:t>
            </a:r>
            <a:br>
              <a:rPr sz="4800" dirty="0"/>
            </a:br>
            <a:r>
              <a:rPr sz="1600" dirty="0">
                <a:latin typeface="Consolas"/>
              </a:rPr>
              <a:t>Data Flow: Bidirectional through defined interfaces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Layered Architecture - </a:t>
            </a:r>
            <a:r>
              <a:rPr lang="en-US" dirty="0"/>
              <a:t>Network Config Management System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b="1" dirty="0"/>
              <a:t>Layer Implementation:</a:t>
            </a:r>
          </a:p>
          <a:p>
            <a:pPr lvl="1">
              <a:lnSpc>
                <a:spcPct val="150000"/>
              </a:lnSpc>
            </a:pPr>
            <a:r>
              <a:rPr dirty="0"/>
              <a:t>Presentation: Web Dashboard für Network Engineers</a:t>
            </a:r>
          </a:p>
          <a:p>
            <a:pPr lvl="1">
              <a:lnSpc>
                <a:spcPct val="150000"/>
              </a:lnSpc>
            </a:pPr>
            <a:r>
              <a:rPr dirty="0"/>
              <a:t>Business: Configuration Validation, Change Management</a:t>
            </a:r>
          </a:p>
          <a:p>
            <a:pPr lvl="1">
              <a:lnSpc>
                <a:spcPct val="150000"/>
              </a:lnSpc>
            </a:pPr>
            <a:r>
              <a:rPr dirty="0"/>
              <a:t>Persistence: Configuration Repository, Audit Logging</a:t>
            </a:r>
          </a:p>
          <a:p>
            <a:pPr lvl="1">
              <a:lnSpc>
                <a:spcPct val="150000"/>
              </a:lnSpc>
            </a:pPr>
            <a:r>
              <a:rPr dirty="0"/>
              <a:t>Database: PostgreSQL für Config Data, MongoDB für Audit Logs</a:t>
            </a:r>
          </a:p>
          <a:p>
            <a:pPr>
              <a:lnSpc>
                <a:spcPct val="150000"/>
              </a:lnSpc>
            </a:pPr>
            <a:r>
              <a:rPr b="1" dirty="0"/>
              <a:t>Real-world Application:</a:t>
            </a:r>
          </a:p>
          <a:p>
            <a:pPr lvl="1">
              <a:lnSpc>
                <a:spcPct val="150000"/>
              </a:lnSpc>
            </a:pPr>
            <a:r>
              <a:rPr dirty="0"/>
              <a:t>SNMP configuration management</a:t>
            </a:r>
          </a:p>
          <a:p>
            <a:pPr lvl="1">
              <a:lnSpc>
                <a:spcPct val="150000"/>
              </a:lnSpc>
            </a:pPr>
            <a:r>
              <a:rPr dirty="0"/>
              <a:t>Network device inventory</a:t>
            </a:r>
          </a:p>
          <a:p>
            <a:pPr lvl="1">
              <a:lnSpc>
                <a:spcPct val="150000"/>
              </a:lnSpc>
            </a:pPr>
            <a:r>
              <a:rPr dirty="0"/>
              <a:t>Change approval workflows</a:t>
            </a:r>
          </a:p>
          <a:p>
            <a:pPr lvl="1">
              <a:lnSpc>
                <a:spcPct val="150000"/>
              </a:lnSpc>
            </a:pPr>
            <a:r>
              <a:rPr dirty="0"/>
              <a:t>Configuration backup and restore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2. Microservices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Service Landscape: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┌───────────────┐  ┌───────────────┐  ┌───────────────┐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Device </a:t>
            </a:r>
            <a:r>
              <a:rPr sz="1800" dirty="0" err="1">
                <a:latin typeface="Consolas"/>
              </a:rPr>
              <a:t>Mgmt</a:t>
            </a:r>
            <a:r>
              <a:rPr sz="1800" dirty="0">
                <a:latin typeface="Consolas"/>
              </a:rPr>
              <a:t>  │  │   Monitoring  │  │ Configuration │</a:t>
            </a:r>
            <a:br>
              <a:rPr sz="5400" dirty="0"/>
            </a:br>
            <a:r>
              <a:rPr sz="1800" dirty="0">
                <a:latin typeface="Consolas"/>
              </a:rPr>
              <a:t>│   Service     │  │    Service    │  │    Service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├───────────────┤  ├───────────────┤  ├───────────────┤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PostgreSQL   │  │  </a:t>
            </a:r>
            <a:r>
              <a:rPr sz="1800" dirty="0" err="1">
                <a:latin typeface="Consolas"/>
              </a:rPr>
              <a:t>InfluxDB</a:t>
            </a:r>
            <a:r>
              <a:rPr sz="1800" dirty="0">
                <a:latin typeface="Consolas"/>
              </a:rPr>
              <a:t>     │  │   MongoDB     │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└───────────────┘  └───────────────┘  └───────────────┘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│                  │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└──────────────────┼──────────────────┘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  API Gateway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Load Balancer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Service Mesh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└─────────────────┘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3. Event-Driven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latin typeface="Consolas"/>
              </a:rPr>
              <a:t>Event Flow:</a:t>
            </a:r>
            <a:br>
              <a:rPr sz="4400" dirty="0"/>
            </a:br>
            <a:r>
              <a:rPr sz="1400" dirty="0">
                <a:latin typeface="Consolas"/>
              </a:rPr>
              <a:t>┌─────────────┐    Events     ┌─────────────┐    Events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 Producers  │ ────────────&gt; │  Event Bus  │ ────────────&gt; │  Consumers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Device      │               │  Apache     │               │ Alerting    │</a:t>
            </a:r>
            <a:br>
              <a:rPr sz="4400" dirty="0"/>
            </a:br>
            <a:r>
              <a:rPr sz="1400" dirty="0">
                <a:latin typeface="Consolas"/>
              </a:rPr>
              <a:t>│ Sensors     │               │  Kafka      │               │ System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User        │               │ Topics:     │               │ Analytics   │</a:t>
            </a:r>
            <a:br>
              <a:rPr sz="4400" dirty="0"/>
            </a:br>
            <a:r>
              <a:rPr sz="1400" dirty="0">
                <a:latin typeface="Consolas"/>
              </a:rPr>
              <a:t>│ Actions     │               │ - alerts    │               │ Engine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- metrics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System      │               │ - configs   │               │ Dashboard   │</a:t>
            </a:r>
            <a:br>
              <a:rPr sz="4400" dirty="0"/>
            </a:br>
            <a:r>
              <a:rPr sz="1400" dirty="0">
                <a:latin typeface="Consolas"/>
              </a:rPr>
              <a:t>│ Events      │               │ - audit     │               │ Updates    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└─────────────┘               └─────────────┘               └─────────────┘</a:t>
            </a:r>
            <a:br>
              <a:rPr sz="4400" dirty="0"/>
            </a:br>
            <a:r>
              <a:rPr sz="1400" dirty="0">
                <a:latin typeface="Consolas"/>
              </a:rPr>
              <a:t>    │                            </a:t>
            </a:r>
            <a:r>
              <a:rPr lang="en-US" sz="1400" dirty="0">
                <a:latin typeface="Consolas"/>
              </a:rPr>
              <a:t> </a:t>
            </a:r>
            <a:r>
              <a:rPr sz="1400" dirty="0">
                <a:latin typeface="Consolas"/>
              </a:rPr>
              <a:t> │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└─── Async Pub/Sub ────────────┼─── Message Queues ──────</a:t>
            </a:r>
            <a:r>
              <a:rPr lang="en-US" sz="1400" dirty="0">
                <a:latin typeface="Consolas"/>
              </a:rPr>
              <a:t>──</a:t>
            </a:r>
            <a:r>
              <a:rPr sz="1400" dirty="0">
                <a:latin typeface="Consolas"/>
              </a:rPr>
              <a:t>──┘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│ Event Store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 │ (History)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└─────────────┘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4. Hexagonal Architecture (Ports &amp; Adapters)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Hexagonal Architecture 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en-US" dirty="0"/>
              <a:t>Ports &amp; Adapters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br>
              <a:rPr sz="1200" dirty="0"/>
            </a:br>
            <a:r>
              <a:rPr sz="1200" dirty="0">
                <a:latin typeface="Consolas"/>
              </a:rPr>
              <a:t>    ┌─────────────────┐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┌─────────────────┐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Web UI        │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   Database      │</a:t>
            </a:r>
            <a:br>
              <a:rPr sz="1200" dirty="0"/>
            </a:br>
            <a:r>
              <a:rPr sz="1200" dirty="0">
                <a:latin typeface="Consolas"/>
              </a:rPr>
              <a:t>    │   Adapter  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  Adapter       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┌─────┴───────────┐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HTTP Port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Persistence Port│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│</a:t>
            </a:r>
            <a:br>
              <a:rPr sz="1200" dirty="0"/>
            </a:br>
            <a:r>
              <a:rPr sz="1200" dirty="0">
                <a:latin typeface="Consolas"/>
              </a:rPr>
              <a:t>          │     ┌─────────────────────────┐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</a:t>
            </a:r>
            <a:br>
              <a:rPr sz="1200" dirty="0"/>
            </a:br>
            <a:r>
              <a:rPr sz="1200" dirty="0">
                <a:latin typeface="Consolas"/>
              </a:rPr>
              <a:t>          └─────│                         │───</a:t>
            </a:r>
            <a:r>
              <a:rPr lang="en-US" sz="1200" dirty="0">
                <a:latin typeface="Consolas"/>
              </a:rPr>
              <a:t>──</a:t>
            </a:r>
            <a:r>
              <a:rPr sz="1200" dirty="0">
                <a:latin typeface="Consolas"/>
              </a:rPr>
              <a:t>───┘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Domain Core         │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┌───────────│   Business Logic        │──────────┐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        │                         │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└─────────────────────────┘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API Port     │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│   Event Port    │</a:t>
            </a:r>
            <a:br>
              <a:rPr sz="1200" dirty="0"/>
            </a:br>
            <a:r>
              <a:rPr sz="1200" dirty="0">
                <a:latin typeface="Consolas"/>
              </a:rPr>
              <a:t>└───┬───────────┘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 REST API    │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│   Message       │</a:t>
            </a:r>
            <a:br>
              <a:rPr sz="1200" dirty="0"/>
            </a:br>
            <a:r>
              <a:rPr sz="1200" dirty="0">
                <a:latin typeface="Consolas"/>
              </a:rPr>
              <a:t>│   Adapter     │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│   Queue Adapter │</a:t>
            </a:r>
            <a:br>
              <a:rPr sz="1200" dirty="0"/>
            </a:br>
            <a:r>
              <a:rPr sz="1200" dirty="0">
                <a:latin typeface="Consolas"/>
              </a:rPr>
              <a:t>└───────────────┘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└─────────────────┘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Evolvement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>
              <a:lnSpc>
                <a:spcPct val="160000"/>
              </a:lnSpc>
            </a:pPr>
            <a:r>
              <a:rPr b="1" dirty="0"/>
              <a:t>Start Simple (Layered):</a:t>
            </a:r>
          </a:p>
          <a:p>
            <a:pPr lvl="1">
              <a:lnSpc>
                <a:spcPct val="160000"/>
              </a:lnSpc>
            </a:pPr>
            <a:r>
              <a:rPr dirty="0" err="1"/>
              <a:t>Prototypen</a:t>
            </a:r>
            <a:r>
              <a:rPr dirty="0"/>
              <a:t> und Proof-of-Concepts</a:t>
            </a:r>
          </a:p>
          <a:p>
            <a:pPr lvl="1">
              <a:lnSpc>
                <a:spcPct val="160000"/>
              </a:lnSpc>
            </a:pPr>
            <a:r>
              <a:rPr dirty="0"/>
              <a:t>Kleine Teams (&lt;5 </a:t>
            </a:r>
            <a:r>
              <a:rPr dirty="0" err="1"/>
              <a:t>Entwickler</a:t>
            </a:r>
            <a:r>
              <a:rPr dirty="0"/>
              <a:t>)</a:t>
            </a:r>
          </a:p>
          <a:p>
            <a:pPr lvl="1">
              <a:lnSpc>
                <a:spcPct val="160000"/>
              </a:lnSpc>
            </a:pPr>
            <a:r>
              <a:rPr dirty="0" err="1"/>
              <a:t>Einfache</a:t>
            </a:r>
            <a:r>
              <a:rPr dirty="0"/>
              <a:t> CRUD-</a:t>
            </a:r>
            <a:r>
              <a:rPr dirty="0" err="1"/>
              <a:t>Operationen</a:t>
            </a:r>
            <a:endParaRPr dirty="0"/>
          </a:p>
          <a:p>
            <a:pPr>
              <a:lnSpc>
                <a:spcPct val="160000"/>
              </a:lnSpc>
            </a:pPr>
            <a:r>
              <a:rPr b="1" dirty="0"/>
              <a:t>Scale Smart (Microservices):</a:t>
            </a:r>
          </a:p>
          <a:p>
            <a:pPr lvl="1">
              <a:lnSpc>
                <a:spcPct val="160000"/>
              </a:lnSpc>
            </a:pPr>
            <a:r>
              <a:rPr dirty="0" err="1"/>
              <a:t>Große</a:t>
            </a:r>
            <a:r>
              <a:rPr dirty="0"/>
              <a:t> </a:t>
            </a:r>
            <a:r>
              <a:rPr dirty="0" err="1"/>
              <a:t>verteilte</a:t>
            </a:r>
            <a:r>
              <a:rPr dirty="0"/>
              <a:t> Teams</a:t>
            </a:r>
          </a:p>
          <a:p>
            <a:pPr lvl="1">
              <a:lnSpc>
                <a:spcPct val="160000"/>
              </a:lnSpc>
            </a:pPr>
            <a:r>
              <a:rPr dirty="0"/>
              <a:t>Independent Service Scaling</a:t>
            </a:r>
          </a:p>
          <a:p>
            <a:pPr lvl="1">
              <a:lnSpc>
                <a:spcPct val="160000"/>
              </a:lnSpc>
            </a:pPr>
            <a:r>
              <a:rPr dirty="0"/>
              <a:t>High Availability Requirements</a:t>
            </a:r>
          </a:p>
          <a:p>
            <a:pPr>
              <a:lnSpc>
                <a:spcPct val="160000"/>
              </a:lnSpc>
            </a:pPr>
            <a:r>
              <a:rPr b="1" dirty="0"/>
              <a:t>Integrate Efficiently (Event-Driven):</a:t>
            </a:r>
          </a:p>
          <a:p>
            <a:pPr lvl="1">
              <a:lnSpc>
                <a:spcPct val="160000"/>
              </a:lnSpc>
            </a:pPr>
            <a:r>
              <a:rPr dirty="0"/>
              <a:t>Real-time Processing</a:t>
            </a:r>
          </a:p>
          <a:p>
            <a:pPr lvl="1">
              <a:lnSpc>
                <a:spcPct val="160000"/>
              </a:lnSpc>
            </a:pPr>
            <a:r>
              <a:rPr dirty="0"/>
              <a:t>System Integration</a:t>
            </a:r>
          </a:p>
          <a:p>
            <a:pPr>
              <a:lnSpc>
                <a:spcPct val="160000"/>
              </a:lnSpc>
            </a:pPr>
            <a:r>
              <a:rPr b="1" dirty="0"/>
              <a:t>Design for Change (Hexagonal):</a:t>
            </a:r>
          </a:p>
          <a:p>
            <a:pPr lvl="1">
              <a:lnSpc>
                <a:spcPct val="160000"/>
              </a:lnSpc>
            </a:pPr>
            <a:r>
              <a:rPr dirty="0"/>
              <a:t>Complex Domain Logic</a:t>
            </a:r>
          </a:p>
          <a:p>
            <a:pPr lvl="1">
              <a:lnSpc>
                <a:spcPct val="160000"/>
              </a:lnSpc>
            </a:pPr>
            <a:r>
              <a:rPr dirty="0"/>
              <a:t>Testability Requirements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Klare Trennung der Verantwortlichkeiten</a:t>
            </a:r>
          </a:p>
          <a:p>
            <a:r>
              <a:t>Einfache Testbarkeit jeder Schicht</a:t>
            </a:r>
          </a:p>
          <a:p>
            <a:r>
              <a:t>Bewährtes Pattern mit hoher Entwickler-Akzeptanz</a:t>
            </a:r>
          </a:p>
          <a:p>
            <a:r>
              <a:t>Gute Performance bei einfachen CRUD-Operationen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Monolithischer Charakter erschwert Skalierung</a:t>
            </a:r>
          </a:p>
          <a:p>
            <a:r>
              <a:t>Änderungen propagieren durch alle Schichten</a:t>
            </a:r>
          </a:p>
          <a:p>
            <a:r>
              <a:t>Datenbankschema-Changes beeinflussen alle Layer</a:t>
            </a:r>
          </a:p>
          <a:p>
            <a:r>
              <a:t>Schwierig für komplexe Domain Logic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Klare Trennung der Verantwortlichkeiten</a:t>
            </a:r>
          </a:p>
          <a:p>
            <a:r>
              <a:t>Einfache Testbarkeit jeder Schicht</a:t>
            </a:r>
          </a:p>
          <a:p>
            <a:r>
              <a:t>Bewährtes Pattern mit hoher Entwickler-Akzeptanz</a:t>
            </a:r>
          </a:p>
          <a:p>
            <a:r>
              <a:t>Gute Performance bei einfachen CRUD-Operationen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Monolithischer Charakter erschwert Skalierung</a:t>
            </a:r>
          </a:p>
          <a:p>
            <a:r>
              <a:t>Änderungen propagieren durch alle Schichten</a:t>
            </a:r>
          </a:p>
          <a:p>
            <a:r>
              <a:t>Datenbankschema-Changes beeinflussen alle Layer</a:t>
            </a:r>
          </a:p>
          <a:p>
            <a:r>
              <a:t>Schwierig für komplexe Domain Logic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Unabhängige Skalierung pro Service</a:t>
            </a:r>
          </a:p>
          <a:p>
            <a:r>
              <a:t>Technology Stack Diversität möglich</a:t>
            </a:r>
          </a:p>
          <a:p>
            <a:r>
              <a:t>Fehler-Isolierung zwischen Services</a:t>
            </a:r>
          </a:p>
          <a:p>
            <a:r>
              <a:t>Parallele Entwicklung durch verschiedene Teams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Hohe operationale Komplexität</a:t>
            </a:r>
          </a:p>
          <a:p>
            <a:r>
              <a:t>Distributed System Challenges (Latency, Partial Failures)</a:t>
            </a:r>
          </a:p>
          <a:p>
            <a:r>
              <a:t>Data Consistency zwischen Services schwierig</a:t>
            </a:r>
          </a:p>
          <a:p>
            <a:r>
              <a:t>Service Discovery und Load Balancing erforderlich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Unabhängige Skalierung pro Service</a:t>
            </a:r>
          </a:p>
          <a:p>
            <a:r>
              <a:t>Technology Stack Diversität möglich</a:t>
            </a:r>
          </a:p>
          <a:p>
            <a:r>
              <a:t>Fehler-Isolierung zwischen Services</a:t>
            </a:r>
          </a:p>
          <a:p>
            <a:r>
              <a:t>Parallele Entwicklung durch verschiedene Teams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Hohe operationale Komplexität</a:t>
            </a:r>
          </a:p>
          <a:p>
            <a:r>
              <a:t>Distributed System Challenges (Latency, Partial Failures)</a:t>
            </a:r>
          </a:p>
          <a:p>
            <a:r>
              <a:t>Data Consistency zwischen Services schwierig</a:t>
            </a:r>
          </a:p>
          <a:p>
            <a:r>
              <a:t>Service Discovery und Load Balancing erforderlich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Hexagonal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Domain Logic vollständig isoliert von Infrastructure</a:t>
            </a:r>
          </a:p>
          <a:p>
            <a:r>
              <a:t>Austauschbare External Dependencies (Database, APIs)</a:t>
            </a:r>
          </a:p>
          <a:p>
            <a:r>
              <a:t>Excellente Testbarkeit durch Dependency Inversion</a:t>
            </a:r>
          </a:p>
          <a:p>
            <a:r>
              <a:t>Framework-agnostic Domain Layer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Initial Setup komplexer als Layer Architecture</a:t>
            </a:r>
          </a:p>
          <a:p>
            <a:r>
              <a:t>Mehr Abstractions und Interfaces</a:t>
            </a:r>
          </a:p>
          <a:p>
            <a:r>
              <a:t>Kann Over-Engineering für einfache CRUD Apps sein</a:t>
            </a:r>
          </a:p>
          <a:p>
            <a:r>
              <a:t>Team muss Dependency Inversion verstehen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Hexagonal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Domain Logic vollständig isoliert von Infrastructure</a:t>
            </a:r>
          </a:p>
          <a:p>
            <a:r>
              <a:t>Austauschbare External Dependencies (Database, APIs)</a:t>
            </a:r>
          </a:p>
          <a:p>
            <a:r>
              <a:t>Excellente Testbarkeit durch Dependency Inversion</a:t>
            </a:r>
          </a:p>
          <a:p>
            <a:r>
              <a:t>Framework-agnostic Domain Layer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Initial Setup komplexer als Layer Architecture</a:t>
            </a:r>
          </a:p>
          <a:p>
            <a:r>
              <a:t>Mehr Abstractions und Interfaces</a:t>
            </a:r>
          </a:p>
          <a:p>
            <a:r>
              <a:t>Kann Over-Engineering für einfache CRUD Apps sein</a:t>
            </a:r>
          </a:p>
          <a:p>
            <a:r>
              <a:t>Team muss Dependency Inversion verstehen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Lose Kopplung zwischen Komponenten</a:t>
            </a:r>
          </a:p>
          <a:p>
            <a:r>
              <a:t>Asynchrone Verarbeitung für bessere Performance</a:t>
            </a:r>
          </a:p>
          <a:p>
            <a:r>
              <a:t>Event Replay für Debugging und Analytics möglich</a:t>
            </a:r>
          </a:p>
          <a:p>
            <a:r>
              <a:t>Einfaches Hinzufügen neuer Event Consumer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Eventually Consistent Data</a:t>
            </a:r>
          </a:p>
          <a:p>
            <a:r>
              <a:t>Komplexere Error Handling (Dead Letter Queues)</a:t>
            </a:r>
          </a:p>
          <a:p>
            <a:r>
              <a:t>Event Schema Evolution herausfordernd</a:t>
            </a:r>
          </a:p>
          <a:p>
            <a:r>
              <a:t>Debugging von Event Flows schwierig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Lose Kopplung zwischen Komponenten</a:t>
            </a:r>
          </a:p>
          <a:p>
            <a:r>
              <a:t>Asynchrone Verarbeitung für bessere Performance</a:t>
            </a:r>
          </a:p>
          <a:p>
            <a:r>
              <a:t>Event Replay für Debugging und Analytics möglich</a:t>
            </a:r>
          </a:p>
          <a:p>
            <a:r>
              <a:t>Einfaches Hinzufügen neuer Event Consumer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Eventually Consistent Data</a:t>
            </a:r>
          </a:p>
          <a:p>
            <a:r>
              <a:t>Komplexere Error Handling (Dead Letter Queues)</a:t>
            </a:r>
          </a:p>
          <a:p>
            <a:r>
              <a:t>Event Schema Evolution herausfordernd</a:t>
            </a:r>
          </a:p>
          <a:p>
            <a:r>
              <a:t>Debugging von Event Flows schwierig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Hexagonal Architecture (Ports &amp; Adapters)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Layered Architecture - Trade-offs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Klare Trennung der Verantwortlichkeiten</a:t>
            </a:r>
          </a:p>
          <a:p>
            <a:pPr>
              <a:spcAft>
                <a:spcPts val="600"/>
              </a:spcAft>
              <a:defRPr sz="1400"/>
            </a:pPr>
            <a:r>
              <a:t>• Einfache Testbarkeit jeder Schicht</a:t>
            </a:r>
          </a:p>
          <a:p>
            <a:pPr>
              <a:spcAft>
                <a:spcPts val="600"/>
              </a:spcAft>
              <a:defRPr sz="1400"/>
            </a:pPr>
            <a:r>
              <a:t>• Bewährtes Pattern mit hoher Entwickler-Akzeptanz</a:t>
            </a:r>
          </a:p>
          <a:p>
            <a:pPr>
              <a:spcAft>
                <a:spcPts val="600"/>
              </a:spcAft>
              <a:defRPr sz="1400"/>
            </a:pPr>
            <a:r>
              <a:t>• Gute Performance bei einfachen CRUD-Operationen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Monolithischer Charakter erschwert Skalierung</a:t>
            </a:r>
          </a:p>
          <a:p>
            <a:pPr>
              <a:spcAft>
                <a:spcPts val="600"/>
              </a:spcAft>
              <a:defRPr sz="1400"/>
            </a:pPr>
            <a:r>
              <a:t>• Änderungen propagieren durch alle Schichten</a:t>
            </a:r>
          </a:p>
          <a:p>
            <a:pPr>
              <a:spcAft>
                <a:spcPts val="600"/>
              </a:spcAft>
              <a:defRPr sz="1400"/>
            </a:pPr>
            <a:r>
              <a:t>• Datenbankschema-Changes beeinflussen alle Layer</a:t>
            </a:r>
          </a:p>
          <a:p>
            <a:pPr>
              <a:spcAft>
                <a:spcPts val="600"/>
              </a:spcAft>
              <a:defRPr sz="1400"/>
            </a:pPr>
            <a:r>
              <a:t>• Schwierig für komplexe Domain Logic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Microservices - Trade-offs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pro Service</a:t>
            </a:r>
          </a:p>
          <a:p>
            <a:pPr>
              <a:spcAft>
                <a:spcPts val="600"/>
              </a:spcAft>
              <a:defRPr sz="1400"/>
            </a:pPr>
            <a:r>
              <a:t>• Technology Stack Diversität möglich</a:t>
            </a:r>
          </a:p>
          <a:p>
            <a:pPr>
              <a:spcAft>
                <a:spcPts val="600"/>
              </a:spcAft>
              <a:defRPr sz="1400"/>
            </a:pPr>
            <a:r>
              <a:t>• Fehler-Isolierung zwischen Services</a:t>
            </a:r>
          </a:p>
          <a:p>
            <a:pPr>
              <a:spcAft>
                <a:spcPts val="600"/>
              </a:spcAft>
              <a:defRPr sz="1400"/>
            </a:pPr>
            <a:r>
              <a:t>• Parallele Entwicklung durch verschiedene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Hohe operationale Komplexität</a:t>
            </a:r>
          </a:p>
          <a:p>
            <a:pPr>
              <a:spcAft>
                <a:spcPts val="600"/>
              </a:spcAft>
              <a:defRPr sz="1400"/>
            </a:pPr>
            <a:r>
              <a:t>• Distributed System Challenges (Latency, Partial Failures)</a:t>
            </a:r>
          </a:p>
          <a:p>
            <a:pPr>
              <a:spcAft>
                <a:spcPts val="600"/>
              </a:spcAft>
              <a:defRPr sz="1400"/>
            </a:pPr>
            <a:r>
              <a:t>• Data Consistency zwischen Services schwierig</a:t>
            </a:r>
          </a:p>
          <a:p>
            <a:pPr>
              <a:spcAft>
                <a:spcPts val="600"/>
              </a:spcAft>
              <a:defRPr sz="1400"/>
            </a:pPr>
            <a:r>
              <a:t>• Service Discovery und Load Balancing erforderlich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Layered Architecture (Schichtarchitektur)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Klare Trennung der Verantwortlichkeiten</a:t>
            </a:r>
          </a:p>
          <a:p>
            <a:pPr>
              <a:spcAft>
                <a:spcPts val="600"/>
              </a:spcAft>
              <a:defRPr sz="1400"/>
            </a:pPr>
            <a:r>
              <a:t>• Einfache Testbarkeit jeder Schicht</a:t>
            </a:r>
          </a:p>
          <a:p>
            <a:pPr>
              <a:spcAft>
                <a:spcPts val="600"/>
              </a:spcAft>
              <a:defRPr sz="1400"/>
            </a:pPr>
            <a:r>
              <a:t>• Bewährtes Pattern mit hoher Entwickler-Akzeptanz</a:t>
            </a:r>
          </a:p>
          <a:p>
            <a:pPr>
              <a:spcAft>
                <a:spcPts val="600"/>
              </a:spcAft>
              <a:defRPr sz="1400"/>
            </a:pPr>
            <a:r>
              <a:t>• Gute Performance bei einfachen CRUD-Operationen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Monolithischer Charakter erschwert Skalierung</a:t>
            </a:r>
          </a:p>
          <a:p>
            <a:pPr>
              <a:spcAft>
                <a:spcPts val="600"/>
              </a:spcAft>
              <a:defRPr sz="1400"/>
            </a:pPr>
            <a:r>
              <a:t>• Änderungen propagieren durch alle Schichten</a:t>
            </a:r>
          </a:p>
          <a:p>
            <a:pPr>
              <a:spcAft>
                <a:spcPts val="600"/>
              </a:spcAft>
              <a:defRPr sz="1400"/>
            </a:pPr>
            <a:r>
              <a:t>• Datenbankschema-Changes beeinflussen alle Layer</a:t>
            </a:r>
          </a:p>
          <a:p>
            <a:pPr>
              <a:spcAft>
                <a:spcPts val="600"/>
              </a:spcAft>
              <a:defRPr sz="1400"/>
            </a:pPr>
            <a:r>
              <a:t>• Schwierig für komplexe Domain Logic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Microservices Architecture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pro Service</a:t>
            </a:r>
          </a:p>
          <a:p>
            <a:pPr>
              <a:spcAft>
                <a:spcPts val="600"/>
              </a:spcAft>
              <a:defRPr sz="1400"/>
            </a:pPr>
            <a:r>
              <a:t>• Technology Stack Diversität möglich</a:t>
            </a:r>
          </a:p>
          <a:p>
            <a:pPr>
              <a:spcAft>
                <a:spcPts val="600"/>
              </a:spcAft>
              <a:defRPr sz="1400"/>
            </a:pPr>
            <a:r>
              <a:t>• Fehler-Isolierung zwischen Services</a:t>
            </a:r>
          </a:p>
          <a:p>
            <a:pPr>
              <a:spcAft>
                <a:spcPts val="600"/>
              </a:spcAft>
              <a:defRPr sz="1400"/>
            </a:pPr>
            <a:r>
              <a:t>• Parallele Entwicklung durch verschiedene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Hohe operationale Komplexität</a:t>
            </a:r>
          </a:p>
          <a:p>
            <a:pPr>
              <a:spcAft>
                <a:spcPts val="600"/>
              </a:spcAft>
              <a:defRPr sz="1400"/>
            </a:pPr>
            <a:r>
              <a:t>• Distributed System Challenges (Latency, Partial Failures)</a:t>
            </a:r>
          </a:p>
          <a:p>
            <a:pPr>
              <a:spcAft>
                <a:spcPts val="600"/>
              </a:spcAft>
              <a:defRPr sz="1400"/>
            </a:pPr>
            <a:r>
              <a:t>• Data Consistency zwischen Services schwierig</a:t>
            </a:r>
          </a:p>
          <a:p>
            <a:pPr>
              <a:spcAft>
                <a:spcPts val="600"/>
              </a:spcAft>
              <a:defRPr sz="1400"/>
            </a:pPr>
            <a:r>
              <a:t>• Service Discovery und Load Balancing erforderlich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Hexagonal Architecture (Ports &amp; Adapters)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Domain Logic vollständig isoliert von Infrastructure</a:t>
            </a:r>
          </a:p>
          <a:p>
            <a:pPr>
              <a:spcAft>
                <a:spcPts val="600"/>
              </a:spcAft>
              <a:defRPr sz="1400"/>
            </a:pPr>
            <a:r>
              <a:t>• Austauschbare External Dependencies (Database, APIs)</a:t>
            </a:r>
          </a:p>
          <a:p>
            <a:pPr>
              <a:spcAft>
                <a:spcPts val="600"/>
              </a:spcAft>
              <a:defRPr sz="1400"/>
            </a:pPr>
            <a:r>
              <a:t>• Excellente Testbarkeit durch Dependency Inversion</a:t>
            </a:r>
          </a:p>
          <a:p>
            <a:pPr>
              <a:spcAft>
                <a:spcPts val="600"/>
              </a:spcAft>
              <a:defRPr sz="1400"/>
            </a:pPr>
            <a:r>
              <a:t>• Framework-agnostic Domain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Initial Setup komplexer als Layer Architecture</a:t>
            </a:r>
          </a:p>
          <a:p>
            <a:pPr>
              <a:spcAft>
                <a:spcPts val="600"/>
              </a:spcAft>
              <a:defRPr sz="1400"/>
            </a:pPr>
            <a:r>
              <a:t>• Mehr Abstractions und Interfaces</a:t>
            </a:r>
          </a:p>
          <a:p>
            <a:pPr>
              <a:spcAft>
                <a:spcPts val="600"/>
              </a:spcAft>
              <a:defRPr sz="1400"/>
            </a:pPr>
            <a:r>
              <a:t>• Kann Over-Engineering für einfache CRUD Apps sein</a:t>
            </a:r>
          </a:p>
          <a:p>
            <a:pPr>
              <a:spcAft>
                <a:spcPts val="600"/>
              </a:spcAft>
              <a:defRPr sz="1400"/>
            </a:pPr>
            <a:r>
              <a:t>• Team muss Dependency Inversion verstehen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Event-Driven Architecture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Lose Kopplung zwischen Komponenten</a:t>
            </a:r>
          </a:p>
          <a:p>
            <a:pPr>
              <a:spcAft>
                <a:spcPts val="600"/>
              </a:spcAft>
              <a:defRPr sz="1400"/>
            </a:pPr>
            <a:r>
              <a:t>• Asynchrone Verarbeitung für bessere Performance</a:t>
            </a:r>
          </a:p>
          <a:p>
            <a:pPr>
              <a:spcAft>
                <a:spcPts val="600"/>
              </a:spcAft>
              <a:defRPr sz="1400"/>
            </a:pPr>
            <a:r>
              <a:t>• Event Replay für Debugging und Analytics möglich</a:t>
            </a:r>
          </a:p>
          <a:p>
            <a:pPr>
              <a:spcAft>
                <a:spcPts val="600"/>
              </a:spcAft>
              <a:defRPr sz="1400"/>
            </a:pPr>
            <a:r>
              <a:t>• Einfaches Hinzufügen neuer Event Consumer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Eventually Consistent Data</a:t>
            </a:r>
          </a:p>
          <a:p>
            <a:pPr>
              <a:spcAft>
                <a:spcPts val="600"/>
              </a:spcAft>
              <a:defRPr sz="1400"/>
            </a:pPr>
            <a:r>
              <a:t>• Komplexere Error Handling (Dead Letter Queues)</a:t>
            </a:r>
          </a:p>
          <a:p>
            <a:pPr>
              <a:spcAft>
                <a:spcPts val="600"/>
              </a:spcAft>
              <a:defRPr sz="1400"/>
            </a:pPr>
            <a:r>
              <a:t>• Event Schema Evolution herausfordernd</a:t>
            </a:r>
          </a:p>
          <a:p>
            <a:pPr>
              <a:spcAft>
                <a:spcPts val="600"/>
              </a:spcAft>
              <a:defRPr sz="1400"/>
            </a:pPr>
            <a:r>
              <a:t>• Debugging von Event Flows schwierig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775</Words>
  <Application>Microsoft Macintosh PowerPoint</Application>
  <PresentationFormat>Widescreen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Architectural Patterns - Part 1</vt:lpstr>
      <vt:lpstr>Overview: Layer-Based Architectures</vt:lpstr>
      <vt:lpstr>Architecture Types Comparison</vt:lpstr>
      <vt:lpstr>1. Layered Architecture (Schichtarchitektur)</vt:lpstr>
      <vt:lpstr>Layered Architecture - Schema</vt:lpstr>
      <vt:lpstr>Layered Architecture - Network Config Management System</vt:lpstr>
      <vt:lpstr>Layered Architecture - Trade-offs</vt:lpstr>
      <vt:lpstr>2. Microservices Architecture</vt:lpstr>
      <vt:lpstr>Microservices Architecture - Schema</vt:lpstr>
      <vt:lpstr>Microservices - Trade-offs</vt:lpstr>
      <vt:lpstr>3. Event-Driven Architecture</vt:lpstr>
      <vt:lpstr>Event-Driven Architecture - Schema</vt:lpstr>
      <vt:lpstr>4. Hexagonal Architecture (Ports &amp; Adapters)</vt:lpstr>
      <vt:lpstr>Hexagonal Architecture – Ports &amp; Adapters</vt:lpstr>
      <vt:lpstr>Architectural Evolvement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14</cp:revision>
  <dcterms:created xsi:type="dcterms:W3CDTF">2025-09-10T03:57:45Z</dcterms:created>
  <dcterms:modified xsi:type="dcterms:W3CDTF">2025-09-10T14:06:41Z</dcterms:modified>
</cp:coreProperties>
</file>