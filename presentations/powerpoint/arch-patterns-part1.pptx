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21"/>
    <p:sldId id="272" r:id="rId22"/>
    <p:sldId id="273" r:id="rId23"/>
    <p:sldId id="27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7"/>
  </p:normalViewPr>
  <p:slideViewPr>
    <p:cSldViewPr snapToGrid="0">
      <p:cViewPr varScale="1">
        <p:scale>
          <a:sx n="156" d="100"/>
          <a:sy n="156" d="100"/>
        </p:scale>
        <p:origin x="216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Layered Architecture        N-Tier Architecture        Clean Architecture</a:t>
            </a:r>
          </a:p>
          <a:p>
            <a:r>
              <a:t>┌─────────────────┐        ┌─────────────────┐        ┌─────────────────┐</a:t>
            </a:r>
          </a:p>
          <a:p>
            <a:r>
              <a:t>│   Presentation  │        │   Client Tier   │        │   Frameworks    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Criteria | Layered | Microservices | Event-Driven | Hexagonal |</a:t>
            </a:r>
          </a:p>
          <a:p>
            <a:r>
              <a:t>|----------|---------|---------------|---------------|-----------|</a:t>
            </a:r>
          </a:p>
          <a:p>
            <a:r>
              <a:t>| **Team Size** | 1-5 | 5+ | 3-8 | 2-6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Architectural Patterns - Part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Overview: Layer-Based Architectures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Types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Layered Architecture        N-Tier Architecture        Clean Architecture</a:t>
            </a:r>
            <a:br>
              <a:rPr sz="5400" dirty="0"/>
            </a:br>
            <a:r>
              <a:rPr sz="1800" dirty="0">
                <a:latin typeface="Consolas"/>
              </a:rPr>
              <a:t>┌─────────────────┐        ┌─────────────────┐        ┌─────────────────┐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│   Presentation  │        │   Client Tier   │        │   Frameworks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      ├─────────────────┤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│    Business     │        │ Application     │        │   Interface 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&lt;--&gt;  │      Tier       │  &lt;--&gt;  │   Adapters      │</a:t>
            </a:r>
            <a:br>
              <a:rPr sz="5400" dirty="0"/>
            </a:br>
            <a:r>
              <a:rPr sz="1800" dirty="0">
                <a:latin typeface="Consolas"/>
              </a:rPr>
              <a:t>│  Persistence    │        ├─────────────────┤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├─────────────────┤        │   Data Tier     │        │  Use Cases      │</a:t>
            </a:r>
            <a:br>
              <a:rPr sz="5400" dirty="0"/>
            </a:br>
            <a:r>
              <a:rPr sz="1800" dirty="0">
                <a:latin typeface="Consolas"/>
              </a:rPr>
              <a:t>│    Database     │        └─────────────────┘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└─────────────────┘                                   │   Entities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                                   └─────────────────┘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Classic Layering           Enterprise N-Tier          Domain-Centric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1. Layered Architecture (Schichtarchitektur)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Layered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dirty="0">
                <a:latin typeface="Consolas"/>
              </a:rPr>
              <a:t>┌─────────────────────────────────────────────────┐</a:t>
            </a:r>
            <a:br>
              <a:rPr sz="4800" dirty="0"/>
            </a:br>
            <a:r>
              <a:rPr sz="1600" dirty="0">
                <a:latin typeface="Consolas"/>
              </a:rPr>
              <a:t>│                Presentation Layer               │ &lt;- Web UI, REST APIs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 Business Layer                  │ &lt;- Domain Logic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Persistence Layer                │ &lt;- Data Access</a:t>
            </a:r>
            <a:br>
              <a:rPr sz="4800" dirty="0"/>
            </a:br>
            <a:r>
              <a:rPr sz="1600" dirty="0">
                <a:latin typeface="Consolas"/>
              </a:rPr>
              <a:t>├─────────────────────────────────────────────────┤</a:t>
            </a:r>
            <a:br>
              <a:rPr sz="4800" dirty="0"/>
            </a:br>
            <a:r>
              <a:rPr sz="1600" dirty="0">
                <a:latin typeface="Consolas"/>
              </a:rPr>
              <a:t>│                 Database Layer                  │ &lt;- Data Storage</a:t>
            </a:r>
            <a:br>
              <a:rPr sz="4800" dirty="0"/>
            </a:br>
            <a:r>
              <a:rPr sz="1600" dirty="0">
                <a:latin typeface="Consolas"/>
              </a:rPr>
              <a:t>└─────────────────────────────────────────────────┘</a:t>
            </a:r>
            <a:br>
              <a:rPr sz="4800" dirty="0"/>
            </a:br>
            <a:br>
              <a:rPr sz="4800" dirty="0"/>
            </a:br>
            <a:r>
              <a:rPr sz="1600" dirty="0">
                <a:latin typeface="Consolas"/>
              </a:rPr>
              <a:t>Dependency Flow: Top -&gt; Down (Higher layers depend on lower layers)</a:t>
            </a:r>
            <a:br>
              <a:rPr sz="4800" dirty="0"/>
            </a:br>
            <a:r>
              <a:rPr sz="1600" dirty="0">
                <a:latin typeface="Consolas"/>
              </a:rPr>
              <a:t>Data Flow: Bidirectional through defined interfaces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Layered Architecture - </a:t>
            </a:r>
            <a:r>
              <a:rPr lang="en-US" dirty="0"/>
              <a:t>Network Config Management System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b="1" dirty="0"/>
              <a:t>Layer Implementation:</a:t>
            </a:r>
          </a:p>
          <a:p>
            <a:pPr lvl="1">
              <a:lnSpc>
                <a:spcPct val="150000"/>
              </a:lnSpc>
            </a:pPr>
            <a:r>
              <a:rPr dirty="0"/>
              <a:t>Presentation: Web Dashboard für Network Engineers</a:t>
            </a:r>
          </a:p>
          <a:p>
            <a:pPr lvl="1">
              <a:lnSpc>
                <a:spcPct val="150000"/>
              </a:lnSpc>
            </a:pPr>
            <a:r>
              <a:rPr dirty="0"/>
              <a:t>Business: Configuration Validation, Change Management</a:t>
            </a:r>
          </a:p>
          <a:p>
            <a:pPr lvl="1">
              <a:lnSpc>
                <a:spcPct val="150000"/>
              </a:lnSpc>
            </a:pPr>
            <a:r>
              <a:rPr dirty="0"/>
              <a:t>Persistence: Configuration Repository, Audit Logging</a:t>
            </a:r>
          </a:p>
          <a:p>
            <a:pPr lvl="1">
              <a:lnSpc>
                <a:spcPct val="150000"/>
              </a:lnSpc>
            </a:pPr>
            <a:r>
              <a:rPr dirty="0"/>
              <a:t>Database: PostgreSQL für Config Data, MongoDB für Audit Logs</a:t>
            </a:r>
          </a:p>
          <a:p>
            <a:pPr>
              <a:lnSpc>
                <a:spcPct val="150000"/>
              </a:lnSpc>
            </a:pPr>
            <a:r>
              <a:rPr b="1" dirty="0"/>
              <a:t>Real-world Application:</a:t>
            </a:r>
          </a:p>
          <a:p>
            <a:pPr lvl="1">
              <a:lnSpc>
                <a:spcPct val="150000"/>
              </a:lnSpc>
            </a:pPr>
            <a:r>
              <a:rPr dirty="0"/>
              <a:t>SNMP configuration management</a:t>
            </a:r>
          </a:p>
          <a:p>
            <a:pPr lvl="1">
              <a:lnSpc>
                <a:spcPct val="150000"/>
              </a:lnSpc>
            </a:pPr>
            <a:r>
              <a:rPr dirty="0"/>
              <a:t>Network device inventory</a:t>
            </a:r>
          </a:p>
          <a:p>
            <a:pPr lvl="1">
              <a:lnSpc>
                <a:spcPct val="150000"/>
              </a:lnSpc>
            </a:pPr>
            <a:r>
              <a:rPr dirty="0"/>
              <a:t>Change approval workflows</a:t>
            </a:r>
          </a:p>
          <a:p>
            <a:pPr lvl="1">
              <a:lnSpc>
                <a:spcPct val="150000"/>
              </a:lnSpc>
            </a:pPr>
            <a:r>
              <a:rPr dirty="0"/>
              <a:t>Configuration backup and restore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Layered Architecture -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  <a:defRPr sz="1600" b="1"/>
            </a:pPr>
            <a:r>
              <a:rPr sz="1800" dirty="0" err="1"/>
              <a:t>Vorteile</a:t>
            </a:r>
            <a:r>
              <a:rPr sz="1800" dirty="0"/>
              <a:t> 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Klare </a:t>
            </a:r>
            <a:r>
              <a:rPr sz="1800" dirty="0" err="1"/>
              <a:t>Trennung</a:t>
            </a:r>
            <a:r>
              <a:rPr sz="1800" dirty="0"/>
              <a:t> der </a:t>
            </a:r>
            <a:r>
              <a:rPr sz="1800" dirty="0" err="1"/>
              <a:t>Verantwortlichkeiten</a:t>
            </a:r>
            <a:endParaRPr sz="1800" dirty="0"/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 err="1"/>
              <a:t>Einfache</a:t>
            </a:r>
            <a:r>
              <a:rPr sz="1800" dirty="0"/>
              <a:t> </a:t>
            </a:r>
            <a:r>
              <a:rPr sz="1800" dirty="0" err="1"/>
              <a:t>Testbarkeit</a:t>
            </a:r>
            <a:r>
              <a:rPr sz="1800" dirty="0"/>
              <a:t> </a:t>
            </a:r>
            <a:r>
              <a:rPr sz="1800" dirty="0" err="1"/>
              <a:t>jeder</a:t>
            </a:r>
            <a:r>
              <a:rPr sz="1800" dirty="0"/>
              <a:t> </a:t>
            </a:r>
            <a:r>
              <a:rPr sz="1800" dirty="0" err="1"/>
              <a:t>Schicht</a:t>
            </a:r>
            <a:endParaRPr sz="1800" dirty="0"/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 err="1"/>
              <a:t>Bewährtes</a:t>
            </a:r>
            <a:r>
              <a:rPr sz="1800" dirty="0"/>
              <a:t> Pattern </a:t>
            </a:r>
            <a:r>
              <a:rPr sz="1800" dirty="0" err="1"/>
              <a:t>mit</a:t>
            </a:r>
            <a:r>
              <a:rPr sz="1800" dirty="0"/>
              <a:t> </a:t>
            </a:r>
            <a:r>
              <a:rPr sz="1800" dirty="0" err="1"/>
              <a:t>hoher</a:t>
            </a:r>
            <a:r>
              <a:rPr sz="1800" dirty="0"/>
              <a:t> </a:t>
            </a:r>
            <a:r>
              <a:rPr sz="1800" dirty="0" err="1"/>
              <a:t>Entwickler-Akzeptanz</a:t>
            </a:r>
            <a:endParaRPr sz="1800" dirty="0"/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Gute Performance </a:t>
            </a:r>
            <a:r>
              <a:rPr sz="1800" dirty="0" err="1"/>
              <a:t>bei</a:t>
            </a:r>
            <a:r>
              <a:rPr sz="1800" dirty="0"/>
              <a:t> </a:t>
            </a:r>
            <a:r>
              <a:rPr sz="1800" dirty="0" err="1"/>
              <a:t>einfachen</a:t>
            </a:r>
            <a:r>
              <a:rPr sz="1800" dirty="0"/>
              <a:t> CRUD-</a:t>
            </a:r>
            <a:r>
              <a:rPr sz="1800" dirty="0" err="1"/>
              <a:t>Operationen</a:t>
            </a:r>
            <a:endParaRPr sz="180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  <a:defRPr sz="1600" b="1"/>
            </a:pPr>
            <a:r>
              <a:rPr sz="1800" dirty="0" err="1"/>
              <a:t>Nachteile</a:t>
            </a:r>
            <a:r>
              <a:rPr sz="1800" dirty="0"/>
              <a:t> 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 err="1"/>
              <a:t>Monolithischer</a:t>
            </a:r>
            <a:r>
              <a:rPr sz="1800" dirty="0"/>
              <a:t> Charakter </a:t>
            </a:r>
            <a:r>
              <a:rPr sz="1800" dirty="0" err="1"/>
              <a:t>erschwert</a:t>
            </a:r>
            <a:r>
              <a:rPr sz="1800" dirty="0"/>
              <a:t> </a:t>
            </a:r>
            <a:r>
              <a:rPr sz="1800" dirty="0" err="1"/>
              <a:t>Skalierung</a:t>
            </a:r>
            <a:endParaRPr sz="1800" dirty="0"/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 err="1"/>
              <a:t>Änderungen</a:t>
            </a:r>
            <a:r>
              <a:rPr sz="1800" dirty="0"/>
              <a:t> </a:t>
            </a:r>
            <a:r>
              <a:rPr sz="1800" dirty="0" err="1"/>
              <a:t>propagieren</a:t>
            </a:r>
            <a:r>
              <a:rPr sz="1800" dirty="0"/>
              <a:t> </a:t>
            </a:r>
            <a:r>
              <a:rPr sz="1800" dirty="0" err="1"/>
              <a:t>durch</a:t>
            </a:r>
            <a:r>
              <a:rPr sz="1800" dirty="0"/>
              <a:t> alle </a:t>
            </a:r>
            <a:r>
              <a:rPr sz="1800" dirty="0" err="1"/>
              <a:t>Schichten</a:t>
            </a:r>
            <a:endParaRPr sz="1800" dirty="0"/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 err="1"/>
              <a:t>Datenbankschema</a:t>
            </a:r>
            <a:r>
              <a:rPr sz="1800" dirty="0"/>
              <a:t>-Changes </a:t>
            </a:r>
            <a:r>
              <a:rPr sz="1800" dirty="0" err="1"/>
              <a:t>beeinflussen</a:t>
            </a:r>
            <a:r>
              <a:rPr sz="1800" dirty="0"/>
              <a:t> alle Layer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 err="1"/>
              <a:t>Schwierig</a:t>
            </a:r>
            <a:r>
              <a:rPr sz="1800" dirty="0"/>
              <a:t> für </a:t>
            </a:r>
            <a:r>
              <a:rPr sz="1800" dirty="0" err="1"/>
              <a:t>komplexe</a:t>
            </a:r>
            <a:r>
              <a:rPr sz="1800" dirty="0"/>
              <a:t> Domain Logic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2. Microservices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dirty="0">
                <a:latin typeface="Consolas"/>
              </a:rPr>
              <a:t>Service Landscape:</a:t>
            </a:r>
            <a:br>
              <a:rPr sz="5400" dirty="0"/>
            </a:br>
            <a:r>
              <a:rPr sz="1800" dirty="0">
                <a:latin typeface="Consolas"/>
              </a:rPr>
              <a:t>┌───────────────┐  ┌───────────────┐  ┌───────────────┐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│  Device </a:t>
            </a:r>
            <a:r>
              <a:rPr sz="1800" dirty="0" err="1">
                <a:latin typeface="Consolas"/>
              </a:rPr>
              <a:t>Mgmt</a:t>
            </a:r>
            <a:r>
              <a:rPr sz="1800" dirty="0">
                <a:latin typeface="Consolas"/>
              </a:rPr>
              <a:t>  │  │   Monitoring  │  │ Configuration │</a:t>
            </a:r>
            <a:br>
              <a:rPr sz="5400" dirty="0"/>
            </a:br>
            <a:r>
              <a:rPr sz="1800" dirty="0">
                <a:latin typeface="Consolas"/>
              </a:rPr>
              <a:t>│   Service     │  │    Service    │  │    Service    │</a:t>
            </a:r>
            <a:br>
              <a:rPr sz="5400" dirty="0"/>
            </a:br>
            <a:r>
              <a:rPr sz="1800" dirty="0">
                <a:latin typeface="Consolas"/>
              </a:rPr>
              <a:t>├───────────────┤  ├───────────────┤  ├───────────────┤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│  PostgreSQL   │  │  </a:t>
            </a:r>
            <a:r>
              <a:rPr sz="1800" dirty="0" err="1">
                <a:latin typeface="Consolas"/>
              </a:rPr>
              <a:t>InfluxDB</a:t>
            </a:r>
            <a:r>
              <a:rPr sz="1800" dirty="0">
                <a:latin typeface="Consolas"/>
              </a:rPr>
              <a:t>     │  │   MongoDB     │</a:t>
            </a:r>
            <a:br>
              <a:rPr sz="5400" dirty="0"/>
            </a:br>
            <a:r>
              <a:rPr sz="1800" dirty="0">
                <a:latin typeface="Consolas"/>
              </a:rPr>
              <a:t>└───────────────┘  └───────────────┘  └───────────────┘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         │                  │   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└──────────────────┼──────────────────┘</a:t>
            </a:r>
            <a:br>
              <a:rPr sz="5400" dirty="0"/>
            </a:br>
            <a:r>
              <a:rPr sz="1800" dirty="0">
                <a:latin typeface="Consolas"/>
              </a:rPr>
              <a:t>                        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┌─────────────────┐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  API Gateway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Load Balancer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├─────────────────┤</a:t>
            </a:r>
            <a:br>
              <a:rPr sz="5400" dirty="0"/>
            </a:br>
            <a:r>
              <a:rPr sz="1800" dirty="0">
                <a:latin typeface="Consolas"/>
              </a:rPr>
              <a:t>                   │ Service Mesh    │</a:t>
            </a:r>
            <a:br>
              <a:rPr sz="5400" dirty="0"/>
            </a:br>
            <a:r>
              <a:rPr sz="1800" dirty="0">
                <a:latin typeface="Consolas"/>
              </a:rPr>
              <a:t>                   └─────────────────┘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 -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  <a:defRPr sz="1600" b="1"/>
            </a:pPr>
            <a:r>
              <a:rPr sz="1800" dirty="0" err="1"/>
              <a:t>Vorteile</a:t>
            </a:r>
            <a:r>
              <a:rPr sz="1800" dirty="0"/>
              <a:t> 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 err="1"/>
              <a:t>Unabhängige</a:t>
            </a:r>
            <a:r>
              <a:rPr sz="1800" dirty="0"/>
              <a:t> </a:t>
            </a:r>
            <a:r>
              <a:rPr sz="1800" dirty="0" err="1"/>
              <a:t>Skalierung</a:t>
            </a:r>
            <a:r>
              <a:rPr sz="1800" dirty="0"/>
              <a:t> pro Service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Technology Stack </a:t>
            </a:r>
            <a:r>
              <a:rPr sz="1800" dirty="0" err="1"/>
              <a:t>Diversität</a:t>
            </a:r>
            <a:r>
              <a:rPr sz="1800" dirty="0"/>
              <a:t> </a:t>
            </a:r>
            <a:r>
              <a:rPr sz="1800" dirty="0" err="1"/>
              <a:t>möglich</a:t>
            </a:r>
            <a:endParaRPr sz="1800" dirty="0"/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Fehler-</a:t>
            </a:r>
            <a:r>
              <a:rPr sz="1800" dirty="0" err="1"/>
              <a:t>Isolierung</a:t>
            </a:r>
            <a:r>
              <a:rPr sz="1800" dirty="0"/>
              <a:t> </a:t>
            </a:r>
            <a:r>
              <a:rPr sz="1800" dirty="0" err="1"/>
              <a:t>zwischen</a:t>
            </a:r>
            <a:r>
              <a:rPr sz="1800" dirty="0"/>
              <a:t> Services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 err="1"/>
              <a:t>Parallele</a:t>
            </a:r>
            <a:r>
              <a:rPr sz="1800" dirty="0"/>
              <a:t> </a:t>
            </a:r>
            <a:r>
              <a:rPr sz="1800" dirty="0" err="1"/>
              <a:t>Entwicklung</a:t>
            </a:r>
            <a:r>
              <a:rPr sz="1800" dirty="0"/>
              <a:t> </a:t>
            </a:r>
            <a:r>
              <a:rPr sz="1800" dirty="0" err="1"/>
              <a:t>durch</a:t>
            </a:r>
            <a:r>
              <a:rPr sz="1800" dirty="0"/>
              <a:t> </a:t>
            </a:r>
            <a:r>
              <a:rPr sz="1800" dirty="0" err="1"/>
              <a:t>verschiedene</a:t>
            </a:r>
            <a:r>
              <a:rPr sz="1800" dirty="0"/>
              <a:t> Teams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  <a:defRPr sz="1600" b="1"/>
            </a:pPr>
            <a:r>
              <a:rPr sz="1800" dirty="0" err="1"/>
              <a:t>Nachteile</a:t>
            </a:r>
            <a:r>
              <a:rPr sz="1800" dirty="0"/>
              <a:t> 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Hohe </a:t>
            </a:r>
            <a:r>
              <a:rPr sz="1800" dirty="0" err="1"/>
              <a:t>operationale</a:t>
            </a:r>
            <a:r>
              <a:rPr sz="1800" dirty="0"/>
              <a:t> </a:t>
            </a:r>
            <a:r>
              <a:rPr sz="1800" dirty="0" err="1"/>
              <a:t>Komplexität</a:t>
            </a:r>
            <a:endParaRPr sz="1800" dirty="0"/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Distributed System Challenges (Latency, Partial Failures)</a:t>
            </a: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Data Consistency </a:t>
            </a:r>
            <a:r>
              <a:rPr sz="1800" dirty="0" err="1"/>
              <a:t>zwischen</a:t>
            </a:r>
            <a:r>
              <a:rPr sz="1800" dirty="0"/>
              <a:t> Services </a:t>
            </a:r>
            <a:r>
              <a:rPr sz="1800" dirty="0" err="1"/>
              <a:t>schwierig</a:t>
            </a:r>
            <a:endParaRPr sz="1800" dirty="0"/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sz="1800" dirty="0"/>
              <a:t>Service Discovery und Load Balancing </a:t>
            </a:r>
            <a:r>
              <a:rPr sz="1800" dirty="0" err="1"/>
              <a:t>erforderlich</a:t>
            </a:r>
            <a:endParaRPr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3. Event-Driven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Event-Driven Architecture -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latin typeface="Consolas"/>
              </a:rPr>
              <a:t>Event Flow:</a:t>
            </a:r>
            <a:br>
              <a:rPr sz="4400" dirty="0"/>
            </a:br>
            <a:r>
              <a:rPr sz="1400" dirty="0">
                <a:latin typeface="Consolas"/>
              </a:rPr>
              <a:t>┌─────────────┐    Events     ┌─────────────┐    Events     ┌─────────────┐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│  Producers  │ ────────────&gt; │  Event Bus  │ ────────────&gt; │  Consumers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         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Device      │               │  Apache     │               │ Alerting    │</a:t>
            </a:r>
            <a:br>
              <a:rPr sz="4400" dirty="0"/>
            </a:br>
            <a:r>
              <a:rPr sz="1400" dirty="0">
                <a:latin typeface="Consolas"/>
              </a:rPr>
              <a:t>│ Sensors     │               │  Kafka      │               │ System    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         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User        │               │ Topics:     │               │ Analytics   │</a:t>
            </a:r>
            <a:br>
              <a:rPr sz="4400" dirty="0"/>
            </a:br>
            <a:r>
              <a:rPr sz="1400" dirty="0">
                <a:latin typeface="Consolas"/>
              </a:rPr>
              <a:t>│ Actions     │               │ - alerts    │               │ Engine      │</a:t>
            </a:r>
            <a:br>
              <a:rPr sz="4400" dirty="0"/>
            </a:br>
            <a:r>
              <a:rPr sz="1400" dirty="0">
                <a:latin typeface="Consolas"/>
              </a:rPr>
              <a:t>│             │               │ - metrics   │               │             │</a:t>
            </a:r>
            <a:br>
              <a:rPr sz="4400" dirty="0"/>
            </a:br>
            <a:r>
              <a:rPr sz="1400" dirty="0">
                <a:latin typeface="Consolas"/>
              </a:rPr>
              <a:t>│ System      │               │ - configs   │               │ Dashboard   │</a:t>
            </a:r>
            <a:br>
              <a:rPr sz="4400" dirty="0"/>
            </a:br>
            <a:r>
              <a:rPr sz="1400" dirty="0">
                <a:latin typeface="Consolas"/>
              </a:rPr>
              <a:t>│ Events      │               │ - audit     │               │ Updates     │</a:t>
            </a:r>
            <a:br>
              <a:rPr sz="4400" dirty="0"/>
            </a:br>
            <a:r>
              <a:rPr sz="1400" dirty="0">
                <a:latin typeface="Consolas"/>
              </a:rPr>
              <a:t>└─────────────┘               └─────────────┘               └─────────────┘</a:t>
            </a:r>
            <a:br>
              <a:rPr sz="4400" dirty="0"/>
            </a:br>
            <a:r>
              <a:rPr sz="1400" dirty="0">
                <a:latin typeface="Consolas"/>
              </a:rPr>
              <a:t>    │                            </a:t>
            </a:r>
            <a:r>
              <a:rPr lang="en-US" sz="1400" dirty="0">
                <a:latin typeface="Consolas"/>
              </a:rPr>
              <a:t> </a:t>
            </a:r>
            <a:r>
              <a:rPr sz="1400" dirty="0">
                <a:latin typeface="Consolas"/>
              </a:rPr>
              <a:t> │     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    └─── Async Pub/Sub ────────────┼─── Message Queues ──────</a:t>
            </a:r>
            <a:r>
              <a:rPr lang="en-US" sz="1400" dirty="0">
                <a:latin typeface="Consolas"/>
              </a:rPr>
              <a:t>──</a:t>
            </a:r>
            <a:r>
              <a:rPr sz="1400" dirty="0">
                <a:latin typeface="Consolas"/>
              </a:rPr>
              <a:t>──┘</a:t>
            </a:r>
            <a:br>
              <a:rPr sz="4400" dirty="0"/>
            </a:br>
            <a:r>
              <a:rPr sz="1400" dirty="0">
                <a:latin typeface="Consolas"/>
              </a:rPr>
              <a:t>                                  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┌─────────────┐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│ Event Store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 │ (History)   │</a:t>
            </a:r>
            <a:br>
              <a:rPr sz="4400" dirty="0"/>
            </a:br>
            <a:r>
              <a:rPr sz="1400" dirty="0">
                <a:latin typeface="Consolas"/>
              </a:rPr>
              <a:t>                     </a:t>
            </a:r>
            <a:r>
              <a:rPr lang="en-US" sz="1400" dirty="0">
                <a:latin typeface="Consolas"/>
              </a:rPr>
              <a:t>  </a:t>
            </a:r>
            <a:r>
              <a:rPr sz="1400" dirty="0">
                <a:latin typeface="Consolas"/>
              </a:rPr>
              <a:t>     └─────────────┘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4. Hexagonal Architecture (Ports &amp; Adapters)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Hexagonal Architecture </a:t>
            </a:r>
            <a:r>
              <a:rPr lang="en-US" dirty="0"/>
              <a:t>–</a:t>
            </a:r>
            <a:r>
              <a:rPr dirty="0"/>
              <a:t> </a:t>
            </a:r>
            <a:r>
              <a:rPr lang="en-US" dirty="0"/>
              <a:t>Ports &amp; Adapters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br>
              <a:rPr sz="1200" dirty="0"/>
            </a:br>
            <a:r>
              <a:rPr sz="1200" dirty="0">
                <a:latin typeface="Consolas"/>
              </a:rPr>
              <a:t>    ┌─────────────────┐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┌─────────────────┐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Web UI        │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│   Database      │</a:t>
            </a:r>
            <a:br>
              <a:rPr sz="1200" dirty="0"/>
            </a:br>
            <a:r>
              <a:rPr sz="1200" dirty="0">
                <a:latin typeface="Consolas"/>
              </a:rPr>
              <a:t>    │   Adapter       │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│   Adapter       │</a:t>
            </a:r>
            <a:br>
              <a:rPr sz="1200" dirty="0"/>
            </a:br>
            <a:r>
              <a:rPr sz="1200" dirty="0">
                <a:latin typeface="Consolas"/>
              </a:rPr>
              <a:t>    └─────┬───────────┘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      │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  │</a:t>
            </a:r>
            <a:br>
              <a:rPr sz="1200" dirty="0"/>
            </a:br>
            <a:r>
              <a:rPr sz="1200" dirty="0">
                <a:latin typeface="Consolas"/>
              </a:rPr>
              <a:t>    ┌─────┴───────────┐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HTTP Port     │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│ Persistence Port│</a:t>
            </a:r>
            <a:br>
              <a:rPr sz="1200" dirty="0"/>
            </a:br>
            <a:r>
              <a:rPr sz="1200" dirty="0">
                <a:latin typeface="Consolas"/>
              </a:rPr>
              <a:t>    └─────┬───────────┘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      │     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│</a:t>
            </a:r>
            <a:br>
              <a:rPr sz="1200" dirty="0"/>
            </a:br>
            <a:r>
              <a:rPr sz="1200" dirty="0">
                <a:latin typeface="Consolas"/>
              </a:rPr>
              <a:t>          │     ┌─────────────────────────┐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│</a:t>
            </a:r>
            <a:br>
              <a:rPr sz="1200" dirty="0"/>
            </a:br>
            <a:r>
              <a:rPr sz="1200" dirty="0">
                <a:latin typeface="Consolas"/>
              </a:rPr>
              <a:t>          └─────│                         │───</a:t>
            </a:r>
            <a:r>
              <a:rPr lang="en-US" sz="1200" dirty="0">
                <a:latin typeface="Consolas"/>
              </a:rPr>
              <a:t>──</a:t>
            </a:r>
            <a:r>
              <a:rPr sz="1200" dirty="0">
                <a:latin typeface="Consolas"/>
              </a:rPr>
              <a:t>───┘</a:t>
            </a:r>
            <a:br>
              <a:rPr sz="1200" dirty="0"/>
            </a:br>
            <a:r>
              <a:rPr sz="1200" dirty="0">
                <a:latin typeface="Consolas"/>
              </a:rPr>
              <a:t>                │     Domain Core         │</a:t>
            </a:r>
            <a:br>
              <a:rPr sz="1200" dirty="0"/>
            </a:br>
            <a:r>
              <a:rPr sz="1200" dirty="0">
                <a:latin typeface="Consolas"/>
              </a:rPr>
              <a:t>                │                         │</a:t>
            </a:r>
            <a:br>
              <a:rPr sz="1200" dirty="0"/>
            </a:br>
            <a:r>
              <a:rPr sz="1200" dirty="0">
                <a:latin typeface="Consolas"/>
              </a:rPr>
              <a:t>    ┌───────────│   Business Logic        │──────────┐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    │           │                         │          │</a:t>
            </a:r>
            <a:br>
              <a:rPr sz="1200" dirty="0"/>
            </a:br>
            <a:r>
              <a:rPr sz="1200" dirty="0">
                <a:latin typeface="Consolas"/>
              </a:rPr>
              <a:t>    │           └─────────────────────────┘          │</a:t>
            </a:r>
            <a:br>
              <a:rPr sz="1200" dirty="0"/>
            </a:br>
            <a:r>
              <a:rPr sz="1200" dirty="0">
                <a:latin typeface="Consolas"/>
              </a:rPr>
              <a:t>    │                                                │</a:t>
            </a:r>
            <a:br>
              <a:rPr sz="1200" dirty="0"/>
            </a:br>
            <a:r>
              <a:rPr sz="1200" dirty="0">
                <a:latin typeface="Consolas"/>
              </a:rPr>
              <a:t>┌───┴───────────┐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│  API Port     │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│   Event Port    │</a:t>
            </a:r>
            <a:br>
              <a:rPr sz="1200" dirty="0"/>
            </a:br>
            <a:r>
              <a:rPr sz="1200" dirty="0">
                <a:latin typeface="Consolas"/>
              </a:rPr>
              <a:t>└───┬───────────┘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└─────┬───────────┘</a:t>
            </a:r>
            <a:br>
              <a:rPr sz="1200" dirty="0"/>
            </a:br>
            <a:r>
              <a:rPr sz="1200" dirty="0">
                <a:latin typeface="Consolas"/>
              </a:rPr>
              <a:t>    │          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       │</a:t>
            </a:r>
            <a:br>
              <a:rPr sz="1200" dirty="0"/>
            </a:br>
            <a:r>
              <a:rPr sz="1200" dirty="0">
                <a:latin typeface="Consolas"/>
              </a:rPr>
              <a:t>┌───┴───────────┐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┌─────┴───────────┐</a:t>
            </a:r>
            <a:br>
              <a:rPr sz="1200" dirty="0"/>
            </a:br>
            <a:r>
              <a:rPr sz="1200" dirty="0">
                <a:latin typeface="Consolas"/>
              </a:rPr>
              <a:t>│   REST API    │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│   Message       │</a:t>
            </a:r>
            <a:br>
              <a:rPr sz="1200" dirty="0"/>
            </a:br>
            <a:r>
              <a:rPr sz="1200" dirty="0">
                <a:latin typeface="Consolas"/>
              </a:rPr>
              <a:t>│   Adapter     │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 │   Queue Adapter │</a:t>
            </a:r>
            <a:br>
              <a:rPr sz="1200" dirty="0"/>
            </a:br>
            <a:r>
              <a:rPr sz="1200" dirty="0">
                <a:latin typeface="Consolas"/>
              </a:rPr>
              <a:t>└───────────────┘                      </a:t>
            </a:r>
            <a:r>
              <a:rPr lang="en-US" sz="1200" dirty="0">
                <a:latin typeface="Consolas"/>
              </a:rPr>
              <a:t>  </a:t>
            </a:r>
            <a:r>
              <a:rPr sz="1200" dirty="0">
                <a:latin typeface="Consolas"/>
              </a:rPr>
              <a:t>      └─────────────────┘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Architectural Evolvement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pPr>
              <a:lnSpc>
                <a:spcPct val="160000"/>
              </a:lnSpc>
            </a:pPr>
            <a:r>
              <a:rPr b="1" dirty="0"/>
              <a:t>Start Simple (Layered):</a:t>
            </a:r>
          </a:p>
          <a:p>
            <a:pPr lvl="1">
              <a:lnSpc>
                <a:spcPct val="160000"/>
              </a:lnSpc>
            </a:pPr>
            <a:r>
              <a:rPr dirty="0" err="1"/>
              <a:t>Prototypen</a:t>
            </a:r>
            <a:r>
              <a:rPr dirty="0"/>
              <a:t> und Proof-of-Concepts</a:t>
            </a:r>
          </a:p>
          <a:p>
            <a:pPr lvl="1">
              <a:lnSpc>
                <a:spcPct val="160000"/>
              </a:lnSpc>
            </a:pPr>
            <a:r>
              <a:rPr dirty="0"/>
              <a:t>Kleine Teams (&lt;5 </a:t>
            </a:r>
            <a:r>
              <a:rPr dirty="0" err="1"/>
              <a:t>Entwickler</a:t>
            </a:r>
            <a:r>
              <a:rPr dirty="0"/>
              <a:t>)</a:t>
            </a:r>
          </a:p>
          <a:p>
            <a:pPr lvl="1">
              <a:lnSpc>
                <a:spcPct val="160000"/>
              </a:lnSpc>
            </a:pPr>
            <a:r>
              <a:rPr dirty="0" err="1"/>
              <a:t>Einfache</a:t>
            </a:r>
            <a:r>
              <a:rPr dirty="0"/>
              <a:t> CRUD-</a:t>
            </a:r>
            <a:r>
              <a:rPr dirty="0" err="1"/>
              <a:t>Operationen</a:t>
            </a:r>
            <a:endParaRPr dirty="0"/>
          </a:p>
          <a:p>
            <a:pPr>
              <a:lnSpc>
                <a:spcPct val="160000"/>
              </a:lnSpc>
            </a:pPr>
            <a:r>
              <a:rPr b="1" dirty="0"/>
              <a:t>Scale Smart (Microservices):</a:t>
            </a:r>
          </a:p>
          <a:p>
            <a:pPr lvl="1">
              <a:lnSpc>
                <a:spcPct val="160000"/>
              </a:lnSpc>
            </a:pPr>
            <a:r>
              <a:rPr dirty="0" err="1"/>
              <a:t>Große</a:t>
            </a:r>
            <a:r>
              <a:rPr dirty="0"/>
              <a:t> </a:t>
            </a:r>
            <a:r>
              <a:rPr dirty="0" err="1"/>
              <a:t>verteilte</a:t>
            </a:r>
            <a:r>
              <a:rPr dirty="0"/>
              <a:t> Teams</a:t>
            </a:r>
          </a:p>
          <a:p>
            <a:pPr lvl="1">
              <a:lnSpc>
                <a:spcPct val="160000"/>
              </a:lnSpc>
            </a:pPr>
            <a:r>
              <a:rPr dirty="0"/>
              <a:t>Independent Service Scaling</a:t>
            </a:r>
          </a:p>
          <a:p>
            <a:pPr lvl="1">
              <a:lnSpc>
                <a:spcPct val="160000"/>
              </a:lnSpc>
            </a:pPr>
            <a:r>
              <a:rPr dirty="0"/>
              <a:t>High Availability Requirements</a:t>
            </a:r>
          </a:p>
          <a:p>
            <a:pPr>
              <a:lnSpc>
                <a:spcPct val="160000"/>
              </a:lnSpc>
            </a:pPr>
            <a:r>
              <a:rPr b="1" dirty="0"/>
              <a:t>Integrate Efficiently (Event-Driven):</a:t>
            </a:r>
          </a:p>
          <a:p>
            <a:pPr lvl="1">
              <a:lnSpc>
                <a:spcPct val="160000"/>
              </a:lnSpc>
            </a:pPr>
            <a:r>
              <a:rPr dirty="0"/>
              <a:t>Real-time Processing</a:t>
            </a:r>
          </a:p>
          <a:p>
            <a:pPr lvl="1">
              <a:lnSpc>
                <a:spcPct val="160000"/>
              </a:lnSpc>
            </a:pPr>
            <a:r>
              <a:rPr dirty="0"/>
              <a:t>System Integration</a:t>
            </a:r>
          </a:p>
          <a:p>
            <a:pPr>
              <a:lnSpc>
                <a:spcPct val="160000"/>
              </a:lnSpc>
            </a:pPr>
            <a:r>
              <a:rPr b="1" dirty="0"/>
              <a:t>Design for Change (Hexagonal):</a:t>
            </a:r>
          </a:p>
          <a:p>
            <a:pPr lvl="1">
              <a:lnSpc>
                <a:spcPct val="160000"/>
              </a:lnSpc>
            </a:pPr>
            <a:r>
              <a:rPr dirty="0"/>
              <a:t>Complex Domain Logic</a:t>
            </a:r>
          </a:p>
          <a:p>
            <a:pPr lvl="1">
              <a:lnSpc>
                <a:spcPct val="160000"/>
              </a:lnSpc>
            </a:pPr>
            <a:r>
              <a:rPr dirty="0"/>
              <a:t>Testability Requirements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Layered Architecture (Schichtarchitektur)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**Klare Trennung der Verantwortlichkeiten**</a:t>
            </a:r>
          </a:p>
          <a:p>
            <a:pPr>
              <a:defRPr sz="1600"/>
            </a:pPr>
            <a:r>
              <a:t>• **Einfache Testbarkeit jeder Schicht**</a:t>
            </a:r>
          </a:p>
          <a:p>
            <a:pPr>
              <a:defRPr sz="1600"/>
            </a:pPr>
            <a:r>
              <a:t>• **Bewährtes Pattern mit hoher Entwickler-Akzeptanz**</a:t>
            </a:r>
          </a:p>
          <a:p>
            <a:pPr>
              <a:defRPr sz="1600"/>
            </a:pPr>
            <a:r>
              <a:t>• **Gute Performance bei einfachen CRUD-Operationen**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**Monolithischer Charakter erschwert Skalierung**</a:t>
            </a:r>
          </a:p>
          <a:p>
            <a:pPr>
              <a:defRPr sz="1600"/>
            </a:pPr>
            <a:r>
              <a:t>• **Änderungen propagieren durch alle Schichten**</a:t>
            </a:r>
          </a:p>
          <a:p>
            <a:pPr>
              <a:defRPr sz="1600"/>
            </a:pPr>
            <a:r>
              <a:t>• **Datenbankschema-Changes beeinflussen alle Layer**</a:t>
            </a:r>
          </a:p>
          <a:p>
            <a:pPr>
              <a:defRPr sz="1600"/>
            </a:pPr>
            <a:r>
              <a:t>• **Schwierig für komplexe Domain Logic**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9900"/>
                </a:solidFill>
              </a:defRPr>
            </a:pPr>
            <a:r>
              <a:t>Production Considerations ⚠️</a:t>
            </a:r>
          </a:p>
          <a:p>
            <a:pPr>
              <a:defRPr sz="1400"/>
            </a:pPr>
            <a:r>
              <a:t>• **Horizontal Skalierung nur als Ganzes möglich**</a:t>
            </a:r>
          </a:p>
          <a:p>
            <a:pPr>
              <a:defRPr sz="1400"/>
            </a:pPr>
            <a:r>
              <a:t>• **Session-Management zwischen Layers erforderlich**</a:t>
            </a:r>
          </a:p>
          <a:p>
            <a:pPr>
              <a:defRPr sz="1400"/>
            </a:pPr>
            <a:r>
              <a:t>• **Monitoring muss alle Schichten umfassen**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Microservices Architecture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**Lose Kopplung zwischen Komponenten**</a:t>
            </a:r>
          </a:p>
          <a:p>
            <a:pPr>
              <a:defRPr sz="1600"/>
            </a:pPr>
            <a:r>
              <a:t>• **Asynchrone Verarbeitung für bessere Performance**</a:t>
            </a:r>
          </a:p>
          <a:p>
            <a:pPr>
              <a:defRPr sz="1600"/>
            </a:pPr>
            <a:r>
              <a:t>• **Event Replay für Debugging und Analytics möglich**</a:t>
            </a:r>
          </a:p>
          <a:p>
            <a:pPr>
              <a:defRPr sz="1600"/>
            </a:pPr>
            <a:r>
              <a:t>• **Einfaches Hinzufügen neuer Event Consumer**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**Eventually Consistent Data**</a:t>
            </a:r>
          </a:p>
          <a:p>
            <a:pPr>
              <a:defRPr sz="1600"/>
            </a:pPr>
            <a:r>
              <a:t>• **Komplexere Error Handling (Dead Letter Queues)**</a:t>
            </a:r>
          </a:p>
          <a:p>
            <a:pPr>
              <a:defRPr sz="1600"/>
            </a:pPr>
            <a:r>
              <a:t>• **Event Schema Evolution herausfordernd**</a:t>
            </a:r>
          </a:p>
          <a:p>
            <a:pPr>
              <a:defRPr sz="1600"/>
            </a:pPr>
            <a:r>
              <a:t>• **Debugging von Event Flows schwierig**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9900"/>
                </a:solidFill>
              </a:defRPr>
            </a:pPr>
            <a:r>
              <a:t>Production Considerations ⚠️</a:t>
            </a:r>
          </a:p>
          <a:p>
            <a:pPr>
              <a:defRPr sz="1400"/>
            </a:pPr>
            <a:r>
              <a:t>• **Event Schema Registry für Compatibility**</a:t>
            </a:r>
          </a:p>
          <a:p>
            <a:pPr>
              <a:defRPr sz="1400"/>
            </a:pPr>
            <a:r>
              <a:t>• **Dead Letter Queue für Failed Events**</a:t>
            </a:r>
          </a:p>
          <a:p>
            <a:pPr>
              <a:defRPr sz="1400"/>
            </a:pPr>
            <a:r>
              <a:t>• **Event Compression für hohe Throughput**</a:t>
            </a:r>
          </a:p>
          <a:p>
            <a:pPr>
              <a:defRPr sz="1400"/>
            </a:pPr>
            <a:r>
              <a:t>• **Monitoring von Queue Depths und Lag**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Hexagonal Architecture (Ports &amp; Adapters)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**Domain Logic vollständig isoliert von Infrastructure**</a:t>
            </a:r>
          </a:p>
          <a:p>
            <a:pPr>
              <a:defRPr sz="1600"/>
            </a:pPr>
            <a:r>
              <a:t>• **Austauschbare External Dependencies (Database, APIs)**</a:t>
            </a:r>
          </a:p>
          <a:p>
            <a:pPr>
              <a:defRPr sz="1600"/>
            </a:pPr>
            <a:r>
              <a:t>• **Excellente Testbarkeit durch Dependency Inversion**</a:t>
            </a:r>
          </a:p>
          <a:p>
            <a:pPr>
              <a:defRPr sz="1600"/>
            </a:pPr>
            <a:r>
              <a:t>• **Framework-agnostic Domain Layer**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**Initial Setup komplexer als Layer Architecture**</a:t>
            </a:r>
          </a:p>
          <a:p>
            <a:pPr>
              <a:defRPr sz="1600"/>
            </a:pPr>
            <a:r>
              <a:t>• **Mehr Abstractions und Interfaces**</a:t>
            </a:r>
          </a:p>
          <a:p>
            <a:pPr>
              <a:defRPr sz="1600"/>
            </a:pPr>
            <a:r>
              <a:t>• **Kann Over-Engineering für einfache CRUD Apps sein**</a:t>
            </a:r>
          </a:p>
          <a:p>
            <a:pPr>
              <a:defRPr sz="1600"/>
            </a:pPr>
            <a:r>
              <a:t>• **Team muss Dependency Inversion verstehen**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9900"/>
                </a:solidFill>
              </a:defRPr>
            </a:pPr>
            <a:r>
              <a:t>Production Considerations ⚠️</a:t>
            </a:r>
          </a:p>
          <a:p>
            <a:pPr>
              <a:defRPr sz="1400"/>
            </a:pPr>
            <a:r>
              <a:t>• **Adapter Health Checks für alle External Systems**</a:t>
            </a:r>
          </a:p>
          <a:p>
            <a:pPr>
              <a:defRPr sz="1400"/>
            </a:pPr>
            <a:r>
              <a:t>• **Circuit Breaker Pattern für External Dependencies**</a:t>
            </a:r>
          </a:p>
          <a:p>
            <a:pPr>
              <a:defRPr sz="1400"/>
            </a:pPr>
            <a:r>
              <a:t>• **Adapter-specific Monitoring und Alerting**</a:t>
            </a:r>
          </a:p>
          <a:p>
            <a:pPr>
              <a:defRPr sz="1400"/>
            </a:pPr>
            <a:r>
              <a:t>• **Configuration für Adapter Switching**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Event-Driven Architecture - Vorteile/Nachteile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9900"/>
                </a:solidFill>
              </a:defRPr>
            </a:pPr>
            <a:r>
              <a:t>Vorteile ✅</a:t>
            </a:r>
          </a:p>
          <a:p>
            <a:pPr>
              <a:defRPr sz="1600"/>
            </a:pPr>
            <a:r>
              <a:t>• **Klare Trennung der Verantwortlichkeiten**</a:t>
            </a:r>
          </a:p>
          <a:p>
            <a:pPr>
              <a:defRPr sz="1600"/>
            </a:pPr>
            <a:r>
              <a:t>• **Einfache Testbarkeit jeder Schicht**</a:t>
            </a:r>
          </a:p>
          <a:p>
            <a:pPr>
              <a:defRPr sz="1600"/>
            </a:pPr>
            <a:r>
              <a:t>• **Bewährtes Pattern mit hoher Entwickler-Akzeptanz**</a:t>
            </a:r>
          </a:p>
          <a:p>
            <a:pPr>
              <a:defRPr sz="1600"/>
            </a:pPr>
            <a:r>
              <a:t>• **Gute Performance bei einfachen CRUD-Operationen**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CC0000"/>
                </a:solidFill>
              </a:defRPr>
            </a:pPr>
            <a:r>
              <a:t>Nachteile ❌</a:t>
            </a:r>
          </a:p>
          <a:p>
            <a:pPr>
              <a:defRPr sz="1600"/>
            </a:pPr>
            <a:r>
              <a:t>• **Monolithischer Charakter erschwert Skalierung**</a:t>
            </a:r>
          </a:p>
          <a:p>
            <a:pPr>
              <a:defRPr sz="1600"/>
            </a:pPr>
            <a:r>
              <a:t>• **Änderungen propagieren durch alle Schichten**</a:t>
            </a:r>
          </a:p>
          <a:p>
            <a:pPr>
              <a:defRPr sz="1600"/>
            </a:pPr>
            <a:r>
              <a:t>• **Datenbankschema-Changes beeinflussen alle Layer**</a:t>
            </a:r>
          </a:p>
          <a:p>
            <a:pPr>
              <a:defRPr sz="1600"/>
            </a:pPr>
            <a:r>
              <a:t>• **Schwierig für komplexe Domain Logic**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9900"/>
                </a:solidFill>
              </a:defRPr>
            </a:pPr>
            <a:r>
              <a:t>Production Considerations ⚠️</a:t>
            </a:r>
          </a:p>
          <a:p>
            <a:pPr>
              <a:defRPr sz="1400"/>
            </a:pPr>
            <a:r>
              <a:t>• **Horizontal Skalierung nur als Ganzes möglich**</a:t>
            </a:r>
          </a:p>
          <a:p>
            <a:pPr>
              <a:defRPr sz="1400"/>
            </a:pPr>
            <a:r>
              <a:t>• **Session-Management zwischen Layers erforderlich**</a:t>
            </a:r>
          </a:p>
          <a:p>
            <a:pPr>
              <a:defRPr sz="1400"/>
            </a:pPr>
            <a:r>
              <a:t>• **Monitoring muss alle Schichten umfassen**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Words>775</Words>
  <Application>Microsoft Macintosh PowerPoint</Application>
  <PresentationFormat>Widescreen</PresentationFormat>
  <Paragraphs>64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Arial</vt:lpstr>
      <vt:lpstr>Consolas</vt:lpstr>
      <vt:lpstr>Open Sans</vt:lpstr>
      <vt:lpstr>Open Sans Light</vt:lpstr>
      <vt:lpstr>Source Code Pro</vt:lpstr>
      <vt:lpstr>Custom Design</vt:lpstr>
      <vt:lpstr>Architectural Patterns - Part 1</vt:lpstr>
      <vt:lpstr>Overview: Layer-Based Architectures</vt:lpstr>
      <vt:lpstr>Architecture Types Comparison</vt:lpstr>
      <vt:lpstr>1. Layered Architecture (Schichtarchitektur)</vt:lpstr>
      <vt:lpstr>Layered Architecture - Schema</vt:lpstr>
      <vt:lpstr>Layered Architecture - Network Config Management System</vt:lpstr>
      <vt:lpstr>Layered Architecture - Trade-offs</vt:lpstr>
      <vt:lpstr>2. Microservices Architecture</vt:lpstr>
      <vt:lpstr>Microservices Architecture - Schema</vt:lpstr>
      <vt:lpstr>Microservices - Trade-offs</vt:lpstr>
      <vt:lpstr>3. Event-Driven Architecture</vt:lpstr>
      <vt:lpstr>Event-Driven Architecture - Schema</vt:lpstr>
      <vt:lpstr>4. Hexagonal Architecture (Ports &amp; Adapters)</vt:lpstr>
      <vt:lpstr>Hexagonal Architecture – Ports &amp; Adapters</vt:lpstr>
      <vt:lpstr>Architectural Evolvement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14</cp:revision>
  <dcterms:created xsi:type="dcterms:W3CDTF">2025-09-10T03:57:45Z</dcterms:created>
  <dcterms:modified xsi:type="dcterms:W3CDTF">2025-09-10T14:06:41Z</dcterms:modified>
</cp:coreProperties>
</file>