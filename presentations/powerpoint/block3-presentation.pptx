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1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43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9" d="100"/>
          <a:sy n="129" d="100"/>
        </p:scale>
        <p:origin x="480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07193-AE5D-4968-BAF6-3656BE156B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870169"/>
            <a:ext cx="9144000" cy="895972"/>
          </a:xfrm>
          <a:prstGeom prst="rect">
            <a:avLst/>
          </a:prstGeom>
        </p:spPr>
        <p:txBody>
          <a:bodyPr anchor="b"/>
          <a:lstStyle>
            <a:lvl1pPr algn="ctr">
              <a:defRPr sz="4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2186BB9-FD07-7E5E-44C6-0A574C54EA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858216"/>
            <a:ext cx="9144000" cy="55251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B45C3DAA-2C1B-4B03-DCD5-CEA9A48DC3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302560" y="2321640"/>
            <a:ext cx="1586880" cy="221472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4214E46-3795-F2C4-2D6A-4DF0C15ACEDA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399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FD443-8D62-99E4-BE59-A33D1ABDD9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780720"/>
            <a:ext cx="9144000" cy="687250"/>
          </a:xfrm>
          <a:prstGeom prst="rect">
            <a:avLst/>
          </a:prstGeom>
        </p:spPr>
        <p:txBody>
          <a:bodyPr anchor="b"/>
          <a:lstStyle>
            <a:lvl1pPr algn="ctr">
              <a:defRPr sz="36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29BB70-AB0C-EB4F-73E7-686FB01CE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5560045"/>
            <a:ext cx="9144000" cy="433249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1800">
                <a:solidFill>
                  <a:srgbClr val="434343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4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C62A5225-6C59-0F22-28CB-A0E99267643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498782" y="2595496"/>
            <a:ext cx="1194437" cy="166700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7E3CF7D-A3E7-417D-2594-BEB7DA122EAC}"/>
              </a:ext>
            </a:extLst>
          </p:cNvPr>
          <p:cNvSpPr/>
          <p:nvPr userDrawn="1"/>
        </p:nvSpPr>
        <p:spPr>
          <a:xfrm>
            <a:off x="10416209" y="-1"/>
            <a:ext cx="1610139" cy="19182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413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th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286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50DB9-59A8-CF17-BB9B-F72B0FABFD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7139" y="365125"/>
            <a:ext cx="10088220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8D29E-375A-0909-2E62-2F6CBC442F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7706B1-97FA-B22F-65EC-94B636BCD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7271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 Bullet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 sz="2000">
                <a:solidFill>
                  <a:srgbClr val="434343"/>
                </a:solidFill>
              </a:defRPr>
            </a:lvl2pPr>
            <a:lvl3pPr>
              <a:defRPr sz="1800">
                <a:solidFill>
                  <a:srgbClr val="434343"/>
                </a:solidFill>
              </a:defRPr>
            </a:lvl3pPr>
            <a:lvl4pPr>
              <a:defRPr sz="1600">
                <a:solidFill>
                  <a:srgbClr val="434343"/>
                </a:solidFill>
              </a:defRPr>
            </a:lvl4pPr>
            <a:lvl5pPr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8847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713F90-FBB0-1588-E79D-EB61EC04B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91647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B056B7-03C2-B71C-2EDA-0359D94159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7322" y="1825625"/>
            <a:ext cx="5582478" cy="4667250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Font typeface="Arial" panose="020B0604020202020204" pitchFamily="34" charset="0"/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Font typeface="Arial" panose="020B0604020202020204" pitchFamily="34" charset="0"/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Font typeface="Arial" panose="020B0604020202020204" pitchFamily="34" charset="0"/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F5A315-0D02-B709-C30A-483144A24C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536096" cy="4667250"/>
          </a:xfrm>
        </p:spPr>
        <p:txBody>
          <a:bodyPr/>
          <a:lstStyle>
            <a:lvl1pPr marL="0" indent="0">
              <a:buNone/>
              <a:defRPr sz="2400">
                <a:solidFill>
                  <a:srgbClr val="434343"/>
                </a:solidFill>
              </a:defRPr>
            </a:lvl1pPr>
            <a:lvl2pPr marL="457200" indent="0">
              <a:buNone/>
              <a:defRPr sz="2000">
                <a:solidFill>
                  <a:srgbClr val="434343"/>
                </a:solidFill>
              </a:defRPr>
            </a:lvl2pPr>
            <a:lvl3pPr marL="914400" indent="0">
              <a:buNone/>
              <a:defRPr sz="1800">
                <a:solidFill>
                  <a:srgbClr val="434343"/>
                </a:solidFill>
              </a:defRPr>
            </a:lvl3pPr>
            <a:lvl4pPr marL="1371600" indent="0">
              <a:buNone/>
              <a:defRPr sz="1600">
                <a:solidFill>
                  <a:srgbClr val="434343"/>
                </a:solidFill>
              </a:defRPr>
            </a:lvl4pPr>
            <a:lvl5pPr marL="1828800" indent="0">
              <a:buNone/>
              <a:defRPr sz="1600"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69FACF-99F9-6EC6-9746-B8C7A0FB1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65096" y="6492874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498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573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6D0D7-65B1-D72F-0D21-4B04BD3FD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3888" y="365125"/>
            <a:ext cx="10111408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F97DE5-2F32-14FA-E76B-D744B262A9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3888" y="1681163"/>
            <a:ext cx="55436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F8CDEA-3150-6B79-5CAA-316A2BEDE4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3888" y="2505074"/>
            <a:ext cx="5543687" cy="3987799"/>
          </a:xfrm>
        </p:spPr>
        <p:txBody>
          <a:bodyPr/>
          <a:lstStyle>
            <a:lvl1pPr>
              <a:defRPr sz="2400"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035CEA-A4A2-208B-B279-70AC76B65D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56591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434343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D0417B-357A-1441-1081-878E1A3E93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505075"/>
            <a:ext cx="5565913" cy="3987800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  <a:lvl2pPr>
              <a:defRPr>
                <a:solidFill>
                  <a:srgbClr val="434343"/>
                </a:solidFill>
              </a:defRPr>
            </a:lvl2pPr>
            <a:lvl3pPr>
              <a:defRPr>
                <a:solidFill>
                  <a:srgbClr val="434343"/>
                </a:solidFill>
              </a:defRPr>
            </a:lvl3pPr>
            <a:lvl4pPr>
              <a:defRPr>
                <a:solidFill>
                  <a:srgbClr val="434343"/>
                </a:solidFill>
              </a:defRPr>
            </a:lvl4pPr>
            <a:lvl5pPr>
              <a:defRPr>
                <a:solidFill>
                  <a:srgbClr val="434343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34AAD1C-C9FB-8ECD-9D67-E4F2C5692D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94913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45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739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-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F1FF-93BF-4CCF-926B-0576DF6BC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22" y="365125"/>
            <a:ext cx="10118035" cy="1325563"/>
          </a:xfrm>
        </p:spPr>
        <p:txBody>
          <a:bodyPr/>
          <a:lstStyle>
            <a:lvl1pPr>
              <a:defRPr>
                <a:solidFill>
                  <a:srgbClr val="434343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FFAE5E-51A7-801C-5D44-B6AB89FF08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139" y="1825625"/>
            <a:ext cx="11231218" cy="466725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1pPr>
            <a:lvl2pPr marL="457200" indent="0">
              <a:buNone/>
              <a:defRPr sz="20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2pPr>
            <a:lvl3pPr marL="914400" indent="0">
              <a:buNone/>
              <a:defRPr sz="18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3pPr>
            <a:lvl4pPr marL="13716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4pPr>
            <a:lvl5pPr marL="1828800" indent="0">
              <a:buNone/>
              <a:defRPr sz="1600" b="0" i="0">
                <a:solidFill>
                  <a:srgbClr val="434343"/>
                </a:solidFill>
                <a:latin typeface="Source Code Pro" panose="020B0309030403020204" pitchFamily="49" charset="0"/>
                <a:ea typeface="Source Code Pro" panose="020B030903040302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F2C3E47A-69A0-8F49-E63F-B87255EE9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5157" y="6492875"/>
            <a:ext cx="2743200" cy="365125"/>
          </a:xfrm>
        </p:spPr>
        <p:txBody>
          <a:bodyPr/>
          <a:lstStyle>
            <a:lvl1pPr>
              <a:defRPr b="0" i="0">
                <a:solidFill>
                  <a:srgbClr val="434343"/>
                </a:solidFill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0947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60A35E-A630-2C0F-48C4-334D4CCF3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77739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7362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0AE0C0-D32D-13D4-8621-9FED984724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57200"/>
            <a:ext cx="4364521" cy="1600200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3F3171-700D-AC09-57D2-7CE376F6C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525108" cy="5433253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DD5D4F-5251-A419-B3B6-3E776795B6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2057400"/>
            <a:ext cx="4364521" cy="436327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C4C30-205A-2492-192B-B806843EDD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149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7504" y="407504"/>
            <a:ext cx="7146235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712765" y="0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07504" y="1816443"/>
            <a:ext cx="7146235" cy="4703627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22583292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2ED0A-CB71-BE95-6D74-70732531D4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09" y="407504"/>
            <a:ext cx="5854148" cy="1282147"/>
          </a:xfrm>
        </p:spPr>
        <p:txBody>
          <a:bodyPr anchor="ctr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386B-F71F-624B-D60E-1519DE7516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9942"/>
            <a:ext cx="4479235" cy="6858000"/>
          </a:xfrm>
        </p:spPr>
        <p:txBody>
          <a:bodyPr anchor="ctr" anchorCtr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F26256-41DC-0D7B-7119-A2460887C56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701209" y="1816444"/>
            <a:ext cx="7026958" cy="4676432"/>
          </a:xfrm>
        </p:spPr>
        <p:txBody>
          <a:bodyPr anchor="t" anchorCtr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Slide Number Placeholder 6">
            <a:extLst>
              <a:ext uri="{FF2B5EF4-FFF2-40B4-BE49-F238E27FC236}">
                <a16:creationId xmlns:a16="http://schemas.microsoft.com/office/drawing/2014/main" id="{193BDEA3-6F5B-33C7-1FE1-589B04B9C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9874" y="6492875"/>
            <a:ext cx="2743200" cy="365125"/>
          </a:xfrm>
        </p:spPr>
        <p:txBody>
          <a:bodyPr/>
          <a:lstStyle>
            <a:lvl1pPr>
              <a:defRPr b="0" i="0">
                <a:latin typeface="Open Sans Light" pitchFamily="2" charset="0"/>
                <a:ea typeface="Open Sans Light" pitchFamily="2" charset="0"/>
                <a:cs typeface="Open Sans Light" pitchFamily="2" charset="0"/>
              </a:defRPr>
            </a:lvl1pPr>
          </a:lstStyle>
          <a:p>
            <a:fld id="{FC1172EA-F3A5-C440-8FDE-A5EAD26928A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5282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89312B-648F-07C4-1C1A-87F50DC94B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8B8739-0CD2-1439-97E1-AFE6688430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2DFFE-3F1B-D665-A941-E6705F464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1172EA-F3A5-C440-8FDE-A5EAD26928A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1" descr="A white flower on a yellow background&#10;&#10;Description automatically generated">
            <a:extLst>
              <a:ext uri="{FF2B5EF4-FFF2-40B4-BE49-F238E27FC236}">
                <a16:creationId xmlns:a16="http://schemas.microsoft.com/office/drawing/2014/main" id="{36DDDAD4-6DBF-843D-79CB-7A2FBAC6A166}"/>
              </a:ext>
            </a:extLst>
          </p:cNvPr>
          <p:cNvPicPr>
            <a:picLocks noChangeAspect="1"/>
          </p:cNvPicPr>
          <p:nvPr userDrawn="1"/>
        </p:nvPicPr>
        <p:blipFill>
          <a:blip r:embed="rId16">
            <a:lum/>
            <a:alphaModFix/>
          </a:blip>
          <a:srcRect/>
          <a:stretch>
            <a:fillRect/>
          </a:stretch>
        </p:blipFill>
        <p:spPr>
          <a:xfrm>
            <a:off x="10619994" y="0"/>
            <a:ext cx="1101857" cy="15378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5990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63" r:id="rId3"/>
    <p:sldLayoutId id="2147483675" r:id="rId4"/>
    <p:sldLayoutId id="2147483665" r:id="rId5"/>
    <p:sldLayoutId id="2147483676" r:id="rId6"/>
    <p:sldLayoutId id="2147483666" r:id="rId7"/>
    <p:sldLayoutId id="2147483677" r:id="rId8"/>
    <p:sldLayoutId id="2147483667" r:id="rId9"/>
    <p:sldLayoutId id="2147483672" r:id="rId10"/>
    <p:sldLayoutId id="2147483668" r:id="rId11"/>
    <p:sldLayoutId id="2147483669" r:id="rId12"/>
    <p:sldLayoutId id="2147483670" r:id="rId13"/>
    <p:sldLayoutId id="2147483671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434343"/>
        </a:buClr>
        <a:buFont typeface="Arial" panose="020B0604020202020204" pitchFamily="34" charset="0"/>
        <a:buChar char="•"/>
        <a:defRPr sz="2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4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20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434343"/>
        </a:buClr>
        <a:buFont typeface="Arial" panose="020B0604020202020204" pitchFamily="34" charset="0"/>
        <a:buChar char="•"/>
        <a:defRPr sz="1800" b="0" i="0" kern="1200">
          <a:solidFill>
            <a:srgbClr val="434343"/>
          </a:solidFill>
          <a:latin typeface="Open Sans Light" pitchFamily="2" charset="0"/>
          <a:ea typeface="Open Sans Light" pitchFamily="2" charset="0"/>
          <a:cs typeface="Open Sans Light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Block 3: Behavioral Patterns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Design Patterns Workshop</a:t>
            </a:r>
          </a:p>
          <a:p>
            <a:r>
              <a:t>Java-basierte Implementierungen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PROBLEM: Monolithische if-else-Struktur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NetworkMonitor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void monitorDevice(Device device, String type)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("router".equals(type))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// 50+ Zeilen Router-Monitoring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 else if ("switch".equals(type))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// 40+ Zeilen Switch-Monitoring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 else if ("firewall".equals(type))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// 60+ Zeilen Firewall-Monitoring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 else if ("loadbalancer".equals(type))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// 30+ Zeilen LoadBalancer-Monitoring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Was passiert bei neuen Gerätetypen?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**Open-Closed Principle Verletzung**</a:t>
            </a:r>
          </a:p>
          <a:p>
            <a:r>
              <a:t>- Jeder neue Gerätetyp → Änderung der bestehenden Klasse</a:t>
            </a:r>
          </a:p>
          <a:p>
            <a:r>
              <a:t>- Risiko für bestehende Funktionalität</a:t>
            </a:r>
          </a:p>
          <a:p>
            <a:r>
              <a:t>- Schwierige Wartung</a:t>
            </a:r>
          </a:p>
          <a:p>
            <a:r>
              <a:t>**Single Responsibility Verletzung**</a:t>
            </a:r>
          </a:p>
          <a:p>
            <a:r>
              <a:t>- Eine Klasse kennt ALLE Monitoring-Algorithmen</a:t>
            </a:r>
          </a:p>
          <a:p>
            <a:r>
              <a:t>- Hohe Komplexität (100+ Zeilen pro Methode)</a:t>
            </a:r>
          </a:p>
          <a:p>
            <a:r>
              <a:t>**Mangelnde Flexibilität**</a:t>
            </a:r>
          </a:p>
          <a:p>
            <a:r>
              <a:t>- Algorithmus zur Compile-Zeit festgelegt</a:t>
            </a:r>
          </a:p>
          <a:p>
            <a:r>
              <a:t>- Keine Runtime-Anpassung</a:t>
            </a:r>
          </a:p>
          <a:p>
            <a:r>
              <a:t>- Keine A/B-Tests verschiedener Monitoring-Strategien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Strategy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Definiert eine Familie von Algorithmen</a:t>
            </a:r>
          </a:p>
          <a:p>
            <a:r>
              <a:t>Kapselt jeden einzelnen und macht sie austauschbar</a:t>
            </a:r>
          </a:p>
          <a:p>
            <a:r>
              <a:t>**Austauschbarkeit zur Laufzeit** möglich</a:t>
            </a:r>
          </a:p>
          <a:p>
            <a:r>
              <a:t>**Einfache Erweiterung** ohne bestehende Klassen zu ändern</a:t>
            </a:r>
          </a:p>
          <a:p>
            <a:r>
              <a:t>**Isolierte Testbarkeit** jeder Strategy</a:t>
            </a:r>
          </a:p>
          <a:p>
            <a:r>
              <a:t>**Inversion of Control**: Context ruft Strategies auf</a:t>
            </a:r>
          </a:p>
          <a:p>
            <a:r>
              <a:t>**Hollywood Principle**: "Don't call us, we'll call you"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Flexible Lösung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Strategy Interface in Java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interface MonitoringStrategy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CompletableFuture&lt;MonitoringResult&gt; monitor(Device device);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String getMonitoringType();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List&lt;String&gt; getSupportedDeviceTypes();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Context nutzt Strategien ohne deren Details zu kennen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DeviceMonitor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private MonitoringStrategy strategy;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void setStrategy(MonitoringStrategy strategy)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this.strategy = strategy;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CompletableFuture&lt;MonitoringResult&gt; monitor(Device device)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strategy.monitor(device);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PROBLEM: Code-Duplizierung bei gemeinsamen Schritten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RouterProvisioning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void execute()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validate();    // Gemeinsam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prepare();     // Gemeinsam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configureRouter(); // Spezifisch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deploy();      // Gemeinsam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public class SwitchProvisioning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void execute()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validate();    // Dupliziert!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prepare();     // Dupliziert!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configureSwitch(); // Spezifisch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deploy();      // Dupliziert!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**Code-Duplizierung**: Gemeinsame Schritte überall kopiert</a:t>
            </a:r>
          </a:p>
          <a:p>
            <a:r>
              <a:t>**Inkonsistente Implementierung**: Verschiedene validate()-Implementierungen</a:t>
            </a:r>
          </a:p>
          <a:p>
            <a:r>
              <a:t>**Schwierige Wartung**: Änderung im gemeinsamen Schritt erfordert Updates überall</a:t>
            </a:r>
          </a:p>
          <a:p>
            <a:r>
              <a:t>**Open-Closed Violation**: Neue Provisioning-Typen = viel Duplicate Code</a:t>
            </a:r>
          </a:p>
          <a:p>
            <a:r>
              <a:t>**Unstrukturierte Abläufe**: Kein einheitliches Workflow-Framework</a:t>
            </a:r>
          </a:p>
          <a:p>
            <a:r>
              <a:t>**Fehlende Standards**: Jede Implementierung macht es anders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Template Method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**Algorithmus-Skelett** ist unveränderlich definiert</a:t>
            </a:r>
          </a:p>
          <a:p>
            <a:r>
              <a:t>**Spezifische Schritte** werden von Subklassen implementiert</a:t>
            </a:r>
          </a:p>
          <a:p>
            <a:r>
              <a:t>**Hook Methods** bieten optionale Anpassungspunkte</a:t>
            </a:r>
          </a:p>
          <a:p>
            <a:r>
              <a:t>**Inversion of Control**: Template ruft Subklassen-Methoden auf</a:t>
            </a:r>
          </a:p>
          <a:p>
            <a:r>
              <a:t>**Konsistente Ausführung**: Gleiches Workflow-Framework überall</a:t>
            </a:r>
          </a:p>
          <a:p>
            <a:r>
              <a:t>**DRY-Principle**: Don't Repeat Yourself</a:t>
            </a:r>
          </a:p>
          <a:p>
            <a:r>
              <a:t>**Hollywood Principle**: Template koordiniert den Ablauf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Strukturierter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Template Method Pattern in Java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abstract class ProvisioningTemplate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TEMPLATE METHOD - definiert den Ablauf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final CompletableFuture&lt;Result&gt; executeProvisioning(Device device)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validate(device)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.thenCompose(v -&gt; prepare(device))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.thenCompose(v -&gt; configureSpecific(device))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.thenCompose(v -&gt; deploy(device))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.thenCompose(v -&gt; verify(device));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Variable Schritte (Abstract Methods)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protected abstract CompletableFuture&lt;Void&gt; configureSpecific(Device device);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Konkrete gemeinsame Schritte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protected CompletableFuture&lt;Void&gt; validate(Device device) { /* ... */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protected CompletableFuture&lt;Void&gt; prepare(Device device) { /* ... */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Problematisch: Tight Coupling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DeviceManager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CompletableFuture&lt;Void&gt; updateDeviceStatus(Device device, DeviceStatus newStatus)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device.setStatus(newStatus);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Direkte Kopplungen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notificationService.sendAlert(device, newStatus);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auditService.logStatusChange(device, newStatus);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monitoringService.updateMetrics(device, newStatus);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billingService.trackUsage(device, newStatus);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Was passiert, wenn neue Services hinzukommen?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CompletableFuture.completedFuture(null);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**Tight Coupling**: DeviceManager kennt alle abhängigen Services</a:t>
            </a:r>
          </a:p>
          <a:p>
            <a:r>
              <a:t>**Open-Closed Violation**: Neue Services → Änderung von DeviceManager</a:t>
            </a:r>
          </a:p>
          <a:p>
            <a:r>
              <a:t>**Single Responsibility Violation**: DeviceManager macht zu viel</a:t>
            </a:r>
          </a:p>
          <a:p>
            <a:r>
              <a:t>**Schwierige Testbarkeit**: Muss alle Services mocken</a:t>
            </a:r>
          </a:p>
          <a:p>
            <a:r>
              <a:t>**Unflexible Architektur**: Services können nicht dynamisch hinzugefügt werden</a:t>
            </a:r>
          </a:p>
          <a:p>
            <a:r>
              <a:t>**Synchrone Abhängigkeiten**: Fehler in einem Service blockiert alle anderen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Observer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**Lose gekoppelte Event-Verarbeitung** zwischen Objekten</a:t>
            </a:r>
          </a:p>
          <a:p>
            <a:r>
              <a:t>**Ein-zu-Viele-Abhängigkeit**: Subject benachrichtigt viele Observer</a:t>
            </a:r>
          </a:p>
          <a:p>
            <a:r>
              <a:t>**Subscribe/Unsubscribe**: Observer können sich dynamisch registrieren</a:t>
            </a:r>
          </a:p>
          <a:p>
            <a:r>
              <a:t>**Event-Driven Architecture**: Asynchrone Kommunikation</a:t>
            </a:r>
          </a:p>
          <a:p>
            <a:r>
              <a:t>**Skalierbare Notification-Systeme** möglich</a:t>
            </a:r>
          </a:p>
          <a:p>
            <a:r>
              <a:t>**Single Responsibility**: Jeder Observer hat spezifischen Zweck</a:t>
            </a:r>
          </a:p>
          <a:p>
            <a:r>
              <a:t>**Flexibles Hinzufügen/Entfernen** von Observern zur Laufzeit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Event-Driven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Subject Interface in Java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interface DeviceSubject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void subscribe(DeviceObserver observer);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void unsubscribe(DeviceObserver observer);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CompletableFuture&lt;Void&gt; notifyObservers(DeviceEvent event);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Observer Interface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interface DeviceObserver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CompletableFuture&lt;Void&gt; update(DeviceEvent event);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boolean isInterestedIn(String eventType);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Lose gekoppelte Event-Verarbeitung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notifyObservers(deviceChangeEvent);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PROBLEM: Direkte Methodenaufrufe ohne Kontrolle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NetworkOperationService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CompletableFuture&lt;Void&gt; configureRouter(String routerId, RouterConfig config)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Direkte Ausführung ohne Undo-Möglichkeit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routerService.applyConfiguration(routerId, config);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CompletableFuture&lt;Void&gt; createVlan(String switchId, VlanConfig vlanConfig)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Keine Möglichkeit für Rollback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switchService.addVlan(switchId, vlanConfig);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Wie kann man diese Operationen rückgängig machen?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Wie kann man sie in Makros kombinieren?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**Keine Undo/Redo-Funktionalität**: Kritische Operationen nicht rückgängig machbar</a:t>
            </a:r>
          </a:p>
          <a:p>
            <a:r>
              <a:t>**Keine Operationen-Queue**: Commands können nicht gespeichert und später ausgeführt werden</a:t>
            </a:r>
          </a:p>
          <a:p>
            <a:r>
              <a:t>**Schwierige Transaktionen**: Mehrere Aktionen nicht als atomische Einheit</a:t>
            </a:r>
          </a:p>
          <a:p>
            <a:r>
              <a:t>**Kein Audit Trail**: Compliance-Anforderungen nicht erfüllbar</a:t>
            </a:r>
          </a:p>
          <a:p>
            <a:r>
              <a:t>**Monolithische Ausführung**: Direkte Kopplung zwischen Request und Execution</a:t>
            </a:r>
          </a:p>
          <a:p>
            <a:r>
              <a:t>**Fehlende Batch-Operations**: Komplexe Operationssequenzen nicht möglich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Command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**Request als Objekt**: Aktionen werden zu manipulierbaren Objekten</a:t>
            </a:r>
          </a:p>
          <a:p>
            <a:r>
              <a:t>**Undo/Redo-Fähigkeit**: Operationen können rückgängig gemacht werden</a:t>
            </a:r>
          </a:p>
          <a:p>
            <a:r>
              <a:t>**Entkopplung**: Invoker kennt nicht die Details der Ausführung</a:t>
            </a:r>
          </a:p>
          <a:p>
            <a:r>
              <a:t>**Queue-Unterstützung**: Commands können gespeichert und später ausgeführt werden</a:t>
            </a:r>
          </a:p>
          <a:p>
            <a:r>
              <a:t>**Macro Commands**: Komplexe Operationssequenzen als atomische Einheit</a:t>
            </a:r>
          </a:p>
          <a:p>
            <a:r>
              <a:t>**CQRS Integration**: Trennung von Commands und Queries</a:t>
            </a:r>
          </a:p>
          <a:p>
            <a:r>
              <a:t>**Audit Trail**: Vollständige Nachverfolgung aller Änderungen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Undo/Redo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Command Interface in Go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type NetworkCommand interface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Execute() (*CommandResult, error)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Undo() (*CommandResult, error)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CanUndo() bool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GetDescription() string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Macro Command für transaktionale Operationen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type MacroCommand struct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commands []NetworkCommand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func (mc *MacroCommand) Execute() (*CommandResult, error)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for _, command := range mc.commands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err := command.Execute(); err != nil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mc.rollbackExecutedCommands() // Automatic rollback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return nil, err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return &amp;CommandResult{Success: true}, nil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Problematisch: Zustandslogik in monolithischer Klasse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NetworkDevice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private DeviceStatus status = DeviceStatus.INACTIVE;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CompletableFuture&lt;Void&gt; activate()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(status == DeviceStatus.INACTIVE)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return performInitialization().thenRun(() -&gt; status = DeviceStatus.ACTIVE);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 else if (status == DeviceStatus.MAINTENANCE)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return exitMaintenanceMode().thenRun(() -&gt; status = DeviceStatus.ACTIVE);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 else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throw new IllegalStateException("Cannot activate device in status: " + status);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// Weitere komplexe if-else Logik für jeden State...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**Zustandslogik verteilt** sich über die gesamte Klasse</a:t>
            </a:r>
          </a:p>
          <a:p>
            <a:r>
              <a:t>**Schwierige Erweiterung** um neue Zustände</a:t>
            </a:r>
          </a:p>
          <a:p>
            <a:r>
              <a:t>**Inkonsistente Implementierung** von Transitions</a:t>
            </a:r>
          </a:p>
          <a:p>
            <a:r>
              <a:t>**Komplexe Zustandsvalidierung** in if-else-Kaskaden</a:t>
            </a:r>
          </a:p>
          <a:p>
            <a:r>
              <a:t>**Open-Closed Violation**: Neue States erfordern Klassenänderung</a:t>
            </a:r>
          </a:p>
          <a:p>
            <a:r>
              <a:t>**Single Responsibility Violation**: Eine Klasse verwaltet alle States</a:t>
            </a:r>
          </a:p>
          <a:p>
            <a:r>
              <a:t>**Unübersichtliche Transitionen**: State-Wechsel-Logik verstreut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State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**Zustandsspezifisches Verhalten** in separate Klassen gekapselt</a:t>
            </a:r>
          </a:p>
          <a:p>
            <a:r>
              <a:t>**Saubere Trennung von Zustandslogik** für jeden State</a:t>
            </a:r>
          </a:p>
          <a:p>
            <a:r>
              <a:t>**Einfache Erweiterung** um neue Zustände ohne bestehende zu ändern</a:t>
            </a:r>
          </a:p>
          <a:p>
            <a:r>
              <a:t>**Konsistente State Transitions** durch definierte Interfaces</a:t>
            </a:r>
          </a:p>
          <a:p>
            <a:r>
              <a:t>**Event-Driven Architecture Unterstützung** mit State Events</a:t>
            </a:r>
          </a:p>
          <a:p>
            <a:r>
              <a:t>**State History Tracking**: Verfolgung aller Zustandswechsel</a:t>
            </a:r>
          </a:p>
          <a:p>
            <a:r>
              <a:t>**Concurrent Transition Prevention**: Schutz vor gleichzeitigen Änderungen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Zustandsmaschinen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State Interface in Java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interface DeviceState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CompletableFuture&lt;StateTransitionResult&gt; activate(DeviceContext context);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CompletableFuture&lt;StateTransitionResult&gt; deactivate(DeviceContext context);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CompletableFuture&lt;StateTransitionResult&gt; enterMaintenance(DeviceContext context);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String getStateName();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List&lt;String&gt; getAllowedTransitions();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Context delegiert an aktuellen State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DeviceContext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private DeviceState currentState;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CompletableFuture&lt;StateTransitionResult&gt; activate()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currentState.activate(this);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Was ist hier schlecht?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❌ Problematisch: Alle Verarbeitungslogik in einer Klasse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class NetworkRequestProcessor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CompletableFuture&lt;NetworkResponse&gt; processRequest(NetworkRequest request)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Authentication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(!isAuthenticated(request)) return createErrorResponse("Auth failed");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Authorization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(!isAuthorized(request)) return createErrorResponse("Authz failed");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Rate Limiting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(isRateLimited(request)) return createErrorResponse("Rate limit");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Input Validation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if (!isValidInput(request)) return createErrorResponse("Invalid");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// Business Logic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executeBusinessLogic(request);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Smells identifiziert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**Single Responsibility Violation**: Eine Klasse macht alles</a:t>
            </a:r>
          </a:p>
          <a:p>
            <a:r>
              <a:t>**Open-Closed Violation**: Neue Handler erfordern Klassenänderung</a:t>
            </a:r>
          </a:p>
          <a:p>
            <a:r>
              <a:t>**Schwierige Testbarkeit**: Muss alle Handler-Logiken testen</a:t>
            </a:r>
          </a:p>
          <a:p>
            <a:r>
              <a:t>**Unflexible Reihenfolge**: Processing-Pipeline ist fest kodiert</a:t>
            </a:r>
          </a:p>
          <a:p>
            <a:r>
              <a:t>**Tight Coupling**: Request-Processor kennt alle Handler-Details</a:t>
            </a:r>
          </a:p>
          <a:p>
            <a:r>
              <a:t>**Keine Wiederverwendbarkeit**: Handler können nicht einzeln genutzt werden</a:t>
            </a:r>
          </a:p>
          <a:p>
            <a:r>
              <a:t>**Monolithische Struktur**: Schwierig zu erweitern und zu warten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Lösung: Chain of Responsibility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**Request von verschiedenen Handlern** verarbeitet werden kann</a:t>
            </a:r>
          </a:p>
          <a:p>
            <a:r>
              <a:t>**Processing-Pipeline dynamisch konfigurierbar** zur Laufzeit</a:t>
            </a:r>
          </a:p>
          <a:p>
            <a:r>
              <a:t>**Sender und Empfänger entkoppelt**: Keine direkte Abhängigkeit</a:t>
            </a:r>
          </a:p>
          <a:p>
            <a:r>
              <a:t>**Handler zur Laufzeit** hinzufügbar und entfernbar</a:t>
            </a:r>
          </a:p>
          <a:p>
            <a:r>
              <a:t>**Single Responsibility**: Jeder Handler hat spezifischen Zweck</a:t>
            </a:r>
          </a:p>
          <a:p>
            <a:r>
              <a:t>**Flexible Request-Flow**: Verschiedene Chains für verschiedene Request-Typen</a:t>
            </a:r>
          </a:p>
          <a:p>
            <a:r>
              <a:t>**Middleware-Pattern**: Ähnlich Express.js oder ASP.NET Core Middleware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Implementierung - Request-Pipelines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100">
                <a:solidFill>
                  <a:srgbClr val="1F1F1F"/>
                </a:solidFill>
                <a:latin typeface="Consolas"/>
              </a:rPr>
              <a:t>// Handler Chain in Java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public abstract class RequestHandler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protected RequestHandler nextHandler;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RequestHandler setNext(RequestHandler handler)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this.nextHandler = handler;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handler;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public CompletableFuture&lt;NetworkResponse&gt; handle(NetworkRequest request)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return process(request)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.thenCompose(response -&gt;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if (response != null)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    return CompletableFuture.completedFuture(response);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if (nextHandler != null) {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    return nextHandler.handle(request);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    return CompletableFuture.completedFuture(null);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        });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}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    protected abstract CompletableFuture&lt;NetworkResponse&gt; process(NetworkRequest request);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}</a:t>
            </a:r>
            <a:br/>
            <a:br/>
            <a:r>
              <a:rPr sz="1100">
                <a:solidFill>
                  <a:srgbClr val="1F1F1F"/>
                </a:solidFill>
                <a:latin typeface="Consolas"/>
              </a:rPr>
              <a:t>// Flexible Pipeline-Konfiguration</a:t>
            </a:r>
            <a:br/>
            <a:r>
              <a:rPr sz="1100">
                <a:solidFill>
                  <a:srgbClr val="1F1F1F"/>
                </a:solidFill>
                <a:latin typeface="Consolas"/>
              </a:rPr>
              <a:t>authHandler.setNext(authzHandler).setNext(validationHandler);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Behavioral Patterns Überblick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**Strategy Pattern**: Austauschbare Algorithmen zur Laufzeit</a:t>
            </a:r>
          </a:p>
          <a:p>
            <a:r>
              <a:t>**Template Method**: Workflow-Strukturierung mit festen und variablen Schritten</a:t>
            </a:r>
          </a:p>
          <a:p>
            <a:r>
              <a:t>**Observer Pattern**: Event-basierte lose Kopplung</a:t>
            </a:r>
          </a:p>
          <a:p>
            <a:r>
              <a:t>**Command Pattern**: Undo/Redo und transaktionale Operationen</a:t>
            </a:r>
          </a:p>
          <a:p>
            <a:r>
              <a:t>**State Pattern**: Zustandsmaschinen für komplexe Lifecycles</a:t>
            </a:r>
          </a:p>
          <a:p>
            <a:r>
              <a:t>**Chain of Responsibility**: Flexible Request-Processing-Pipelines</a:t>
            </a:r>
          </a:p>
          <a:p>
            <a:r>
              <a:t>**Fokus auf Verhalten und Interaktionen zwischen Objekten**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Telekom-Anwendungsgebiete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**Device Monitoring**: Strategy für verschiedene Gerätetypen</a:t>
            </a:r>
          </a:p>
          <a:p>
            <a:r>
              <a:t>**Network Provisioning**: Template Method für konsistente Workflows</a:t>
            </a:r>
          </a:p>
          <a:p>
            <a:r>
              <a:t>**Event Processing**: Observer für Monitoring und Audit-Systeme</a:t>
            </a:r>
          </a:p>
          <a:p>
            <a:r>
              <a:t>**Configuration Management**: Command für sichere Rollback-Fähigkeiten</a:t>
            </a:r>
          </a:p>
          <a:p>
            <a:r>
              <a:t>**Device Lifecycle**: State Pattern für komplexe Gerätezustände</a:t>
            </a:r>
          </a:p>
          <a:p>
            <a:r>
              <a:t>**Request Processing**: Chain of Responsibility für API-Pipelines</a:t>
            </a:r>
          </a:p>
          <a:p>
            <a:r>
              <a:t>**Behavioral Patterns strukturieren komplexe Telekom-Netzwerk-Operationen**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**Flexibilität zur Laufzeit**: Verhalten kann dynamisch geändert werden</a:t>
            </a:r>
          </a:p>
          <a:p>
            <a:r>
              <a:t>**Lose Kopplung**: Komponenten interagieren über definierte Interfaces</a:t>
            </a:r>
          </a:p>
          <a:p>
            <a:r>
              <a:t>**Event-Driven Architecture**: Observer und State Patterns unterstützen EDA</a:t>
            </a:r>
          </a:p>
          <a:p>
            <a:r>
              <a:t>**Erweiterbarkeit**: Neue Verhaltensweisen ohne Änderung bestehender Klassen</a:t>
            </a:r>
          </a:p>
          <a:p>
            <a:r>
              <a:t>**Testbarkeit**: Jedes Verhalten isoliert testbar</a:t>
            </a:r>
          </a:p>
          <a:p>
            <a:r>
              <a:t>**Single Responsibility**: Klare Trennung von Verantwortlichkeiten</a:t>
            </a:r>
          </a:p>
          <a:p>
            <a:r>
              <a:t>**Behavioral Patterns sind essentiell für maintainable, skalierbare Systeme**</a:t>
            </a:r>
          </a:p>
          <a:p>
            <a:r>
              <a:t>**Strategy Pattern:**</a:t>
            </a:r>
          </a:p>
          <a:p>
            <a:r>
              <a:t>Erklären Sie den Unterschied zwischen Strategy und einfachen if-else Strukturen</a:t>
            </a:r>
          </a:p>
          <a:p>
            <a:r>
              <a:t>Betonen Sie die Laufzeit-Flexibilität für A/B-Testing</a:t>
            </a:r>
          </a:p>
          <a:p>
            <a:r>
              <a:t>Zeigen Sie Telekom-spezifische Beispiele mit Router/Switch/Firewall Monitoring</a:t>
            </a:r>
          </a:p>
          <a:p>
            <a:r>
              <a:t>**Template Method:**</a:t>
            </a:r>
          </a:p>
          <a:p>
            <a:r>
              <a:t>Verdeutlichen Sie das Hollywood Principle: "Don't call us, we'll call you"</a:t>
            </a:r>
          </a:p>
          <a:p>
            <a:r>
              <a:t>Erklären Sie den Unterschied zwischen Abstract Methods und Hook Methods</a:t>
            </a:r>
          </a:p>
          <a:p>
            <a:r>
              <a:t>Betonen Sie die Konsistenz bei Provisioning-Workflows</a:t>
            </a:r>
          </a:p>
          <a:p>
            <a:r>
              <a:t>**Observer Pattern:**</a:t>
            </a:r>
          </a:p>
          <a:p>
            <a:r>
              <a:t>Vergleichen Sie mit Event-Driven Architecture Patterns</a:t>
            </a:r>
          </a:p>
          <a:p>
            <a:r>
              <a:t>Erklären Sie lose Kopplung vs. tight coupling</a:t>
            </a:r>
          </a:p>
          <a:p>
            <a:r>
              <a:t>Zeigen Sie Skalierbarkeits-Vorteile bei vielen Event-Konsumenten</a:t>
            </a:r>
          </a:p>
          <a:p>
            <a:r>
              <a:t>**Command Pattern:**</a:t>
            </a:r>
          </a:p>
          <a:p>
            <a:r>
              <a:t>Betonen Sie die Wichtigkeit für kritische Netzwerk-Operationen</a:t>
            </a:r>
          </a:p>
          <a:p>
            <a:r>
              <a:t>Erklären Sie Macro Commands für atomare Operationssequenzen</a:t>
            </a:r>
          </a:p>
          <a:p>
            <a:r>
              <a:t>Verbinden Sie mit CQRS für Read/Write-Trennung</a:t>
            </a:r>
          </a:p>
          <a:p>
            <a:r>
              <a:t>**State Pattern:**</a:t>
            </a:r>
          </a:p>
          <a:p>
            <a:r>
              <a:t>Zeigen Sie komplexe Device-Lifecycles (inactive → initializing → active → maintenance → error)</a:t>
            </a:r>
          </a:p>
          <a:p>
            <a:r>
              <a:t>Erklären Sie Event-Driven State Transitions</a:t>
            </a:r>
          </a:p>
          <a:p>
            <a:r>
              <a:t>Betonen Sie Concurrent Transition Prevention</a:t>
            </a:r>
          </a:p>
          <a:p>
            <a:r>
              <a:t>**Chain of Responsibility:**</a:t>
            </a:r>
          </a:p>
          <a:p>
            <a:r>
              <a:t>Vergleichen Sie mit Middleware-Patterns in Web-Frameworks</a:t>
            </a:r>
          </a:p>
          <a:p>
            <a:r>
              <a:t>Zeigen Sie Pipeline-Konfigurierbarkeit</a:t>
            </a:r>
          </a:p>
          <a:p>
            <a:r>
              <a:t>Erklären Sie Request-Flow und Handler-Verkettung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Block 3 Zusammenfassung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Strategy Pattern: Austauschbare Algorithmen zur Laufzeit</a:t>
            </a:r>
          </a:p>
          <a:p>
            <a:r>
              <a:t>Template Method: Workflow-Strukturierung mit festen und variablen Schritten</a:t>
            </a:r>
          </a:p>
          <a:p>
            <a:r>
              <a:t>Observer Pattern: Event-basierte lose Kopplung</a:t>
            </a:r>
          </a:p>
          <a:p>
            <a:r>
              <a:t>Command Pattern: Undo/Redo und transaktionale Operationen</a:t>
            </a:r>
          </a:p>
          <a:p>
            <a:r>
              <a:t>State Pattern: Zustandsmaschinen für komplexe Lifecycles</a:t>
            </a:r>
          </a:p>
          <a:p>
            <a:r>
              <a:t>Chain of Responsibility: Flexible Request-Processing-Pipelines</a:t>
            </a:r>
          </a:p>
          <a:p/>
          <a:p>
            <a:r>
              <a:t>Fokus auf Verhalten und Interaktionen zwischen Objekten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Telekom-Anwendungsgebiete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Device Monitoring: Strategy für verschiedene Gerätetypen</a:t>
            </a:r>
          </a:p>
          <a:p>
            <a:r>
              <a:t>Network Provisioning: Template Method für konsistente Workflows</a:t>
            </a:r>
          </a:p>
          <a:p>
            <a:r>
              <a:t>Event Processing: Observer für Monitoring und Audit-Systeme</a:t>
            </a:r>
          </a:p>
          <a:p>
            <a:r>
              <a:t>Configuration Management: Command für sichere Rollback-Fähigkeiten</a:t>
            </a:r>
          </a:p>
          <a:p>
            <a:r>
              <a:t>Device Lifecycle: State Pattern für komplexe Gerätezustände</a:t>
            </a:r>
          </a:p>
          <a:p>
            <a:r>
              <a:t>Request Processing: Chain of Responsibility für API-Pipelines</a:t>
            </a:r>
          </a:p>
          <a:p/>
          <a:p>
            <a:r>
              <a:t>Behavioral Patterns strukturieren komplexe Telekom-Netzwerk-Operationen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Flexibilität zur Laufzeit: Verhalten kann dynamisch geändert werden</a:t>
            </a:r>
          </a:p>
          <a:p>
            <a:r>
              <a:t>Lose Kopplung: Komponenten interagieren über definierte Interfaces</a:t>
            </a:r>
          </a:p>
          <a:p>
            <a:r>
              <a:t>Event-Driven Architecture: Observer und State Patterns unterstützen EDA</a:t>
            </a:r>
          </a:p>
          <a:p>
            <a:r>
              <a:t>Erweiterbarkeit: Neue Verhaltensweisen ohne Änderung bestehender Klassen</a:t>
            </a:r>
          </a:p>
          <a:p>
            <a:r>
              <a:t>Testbarkeit: Jedes Verhalten isoliert testbar</a:t>
            </a:r>
          </a:p>
          <a:p>
            <a:r>
              <a:t>Single Responsibility: Klare Trennung von Verantwortlichkeiten</a:t>
            </a:r>
          </a:p>
          <a:p/>
          <a:p>
            <a:r>
              <a:t>Behavioral Patterns sind essentiell für maintainable, skalierbare Systeme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VanillaCore" id="{A4188DAF-3037-9A46-8AA0-BDB523AB8B82}" vid="{1D57C864-6CD3-B749-8548-A8609C08E9A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Open Sans</vt:lpstr>
      <vt:lpstr>Open Sans Light</vt:lpstr>
      <vt:lpstr>Source Code Pro</vt:lpstr>
      <vt:lpstr>Custom Design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Samaschke, Karsten</dc:creator>
  <cp:lastModifiedBy>Samaschke, Karsten</cp:lastModifiedBy>
  <cp:revision>8</cp:revision>
  <dcterms:created xsi:type="dcterms:W3CDTF">2025-09-10T03:57:45Z</dcterms:created>
  <dcterms:modified xsi:type="dcterms:W3CDTF">2025-09-10T05:07:05Z</dcterms:modified>
</cp:coreProperties>
</file>