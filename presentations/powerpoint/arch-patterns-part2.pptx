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9" d="100"/>
          <a:sy n="129" d="100"/>
        </p:scale>
        <p:origin x="4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Architectural Patterns - Part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Enterprise Architecture Patterns für Skalierbarkeit und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CQRS (Command Query Responsibility Segregation)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nsolas"/>
              </a:rPr>
              <a:t>Command Side              Event Store           Query Side</a:t>
            </a:r>
            <a:br/>
            <a:r>
              <a:rPr sz="900">
                <a:latin typeface="Consolas"/>
              </a:rPr>
              <a:t>┌──────────────────────┐  ┌─────────────────┐  ┌──────────────────────┐</a:t>
            </a:r>
            <a:br/>
            <a:r>
              <a:rPr sz="900">
                <a:latin typeface="Consolas"/>
              </a:rPr>
              <a:t>│ Write Model          │  │   Events       │  │ Read Model         │</a:t>
            </a:r>
            <a:br/>
            <a:r>
              <a:rPr sz="900">
                <a:latin typeface="Consolas"/>
              </a:rPr>
              <a:t>│                      │  │                 │  │                    │</a:t>
            </a:r>
            <a:br/>
            <a:r>
              <a:rPr sz="900">
                <a:latin typeface="Consolas"/>
              </a:rPr>
              <a:t>│ - Normalized         │─&gt;│ Event Bus      │─&gt;│ - Denormalized     │</a:t>
            </a:r>
            <a:br/>
            <a:r>
              <a:rPr sz="900">
                <a:latin typeface="Consolas"/>
              </a:rPr>
              <a:t>│ - PostgreSQL         │  │ Command/Query  │  │ - Elasticsearch    │</a:t>
            </a:r>
            <a:br/>
            <a:r>
              <a:rPr sz="900">
                <a:latin typeface="Consolas"/>
              </a:rPr>
              <a:t>│ - ACID Transactions  │  │ Sync           │  │ - Read Optimized   │</a:t>
            </a:r>
            <a:br/>
            <a:r>
              <a:rPr sz="900">
                <a:latin typeface="Consolas"/>
              </a:rPr>
              <a:t>└──────────────────────┘  └─────────────────┘  └──────────────────────┘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 -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>
              <a:defRPr b="1" sz="1600"/>
            </a:pPr>
            <a:r>
              <a:t>Vorteile ✅</a:t>
            </a:r>
          </a:p>
          <a:p>
            <a:pPr>
              <a:spcAft>
                <a:spcPts val="600"/>
              </a:spcAft>
            </a:pPr>
            <a:r>
              <a:t>• Performance: Optimized Data Models für Read/Write</a:t>
            </a:r>
          </a:p>
          <a:p>
            <a:pPr>
              <a:spcAft>
                <a:spcPts val="600"/>
              </a:spcAft>
            </a:pPr>
            <a:r>
              <a:t>• Skalierung: Read/Write Operations unabhängig skalierbar</a:t>
            </a:r>
          </a:p>
          <a:p>
            <a:pPr>
              <a:spcAft>
                <a:spcPts val="600"/>
              </a:spcAft>
            </a:pPr>
            <a:r>
              <a:t>• Complex Queries: Performance durch denormalized Read Models</a:t>
            </a:r>
          </a:p>
          <a:p>
            <a:pPr>
              <a:spcAft>
                <a:spcPts val="600"/>
              </a:spcAft>
            </a:pPr>
            <a:r>
              <a:t>• Event Sourcing Integration: Natürliche Kombination möglich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defRPr b="1" sz="1600"/>
            </a:pPr>
            <a:r>
              <a:t>Nachteile ❌</a:t>
            </a:r>
          </a:p>
          <a:p>
            <a:pPr>
              <a:spcAft>
                <a:spcPts val="600"/>
              </a:spcAft>
            </a:pPr>
            <a:r>
              <a:t>• Eventual Consistency: zwischen Read/Write Models</a:t>
            </a:r>
          </a:p>
          <a:p>
            <a:pPr>
              <a:spcAft>
                <a:spcPts val="600"/>
              </a:spcAft>
            </a:pPr>
            <a:r>
              <a:t>• Maintenance: Doppelte Data Models erhöhen Aufwand</a:t>
            </a:r>
          </a:p>
          <a:p>
            <a:pPr>
              <a:spcAft>
                <a:spcPts val="600"/>
              </a:spcAft>
            </a:pPr>
            <a:r>
              <a:t>• Synchronization: Event Sync zwischen Models komplex</a:t>
            </a:r>
          </a:p>
          <a:p>
            <a:pPr>
              <a:spcAft>
                <a:spcPts val="600"/>
              </a:spcAft>
            </a:pPr>
            <a:r>
              <a:t>• Over-Engineering: für simple CRUD Applications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Event Sourcing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Sourcing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nsolas"/>
              </a:rPr>
              <a:t>Commands            Events               Current State</a:t>
            </a:r>
            <a:br/>
            <a:r>
              <a:rPr sz="900">
                <a:latin typeface="Consolas"/>
              </a:rPr>
              <a:t>┌───────────┐    ┌─────────────┐      ┌─────────────────┐</a:t>
            </a:r>
            <a:br/>
            <a:r>
              <a:rPr sz="900">
                <a:latin typeface="Consolas"/>
              </a:rPr>
              <a:t>│ Create    │───&gt;│ DeviceCreated│───&gt; │                 │</a:t>
            </a:r>
            <a:br/>
            <a:r>
              <a:rPr sz="900">
                <a:latin typeface="Consolas"/>
              </a:rPr>
              <a:t>│ Device    │    │   Event     │     │     Current     │</a:t>
            </a:r>
            <a:br/>
            <a:r>
              <a:rPr sz="900">
                <a:latin typeface="Consolas"/>
              </a:rPr>
              <a:t>└───────────┘    └─────────────┘     │      State      │</a:t>
            </a:r>
            <a:br/>
            <a:r>
              <a:rPr sz="900">
                <a:latin typeface="Consolas"/>
              </a:rPr>
              <a:t>                                     │                 │</a:t>
            </a:r>
            <a:br/>
            <a:r>
              <a:rPr sz="900">
                <a:latin typeface="Consolas"/>
              </a:rPr>
              <a:t>┌───────────┐    ┌─────────────┐     │   (Projection   │</a:t>
            </a:r>
            <a:br/>
            <a:r>
              <a:rPr sz="900">
                <a:latin typeface="Consolas"/>
              </a:rPr>
              <a:t>│ Configure │───&gt;│ConfigChanged│───&gt; │   from Events)  │</a:t>
            </a:r>
            <a:br/>
            <a:r>
              <a:rPr sz="900">
                <a:latin typeface="Consolas"/>
              </a:rPr>
              <a:t>│ Device    │    │   Event     │     │                 │</a:t>
            </a:r>
            <a:br/>
            <a:r>
              <a:rPr sz="900">
                <a:latin typeface="Consolas"/>
              </a:rPr>
              <a:t>└───────────┘    └─────────────┘     └─────────────────┘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Circuit Breaker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Circuit Breaker State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nsolas"/>
              </a:rPr>
              <a:t>CLOSED                    OPEN                    HALF-OPEN</a:t>
            </a:r>
            <a:br/>
            <a:r>
              <a:rPr sz="900">
                <a:latin typeface="Consolas"/>
              </a:rPr>
              <a:t>┌─────────────────┐      ┌─────────────────┐      ┌─────────────────┐</a:t>
            </a:r>
            <a:br/>
            <a:r>
              <a:rPr sz="900">
                <a:latin typeface="Consolas"/>
              </a:rPr>
              <a:t>│ Normal          │      │ Service Down    │      │ Testing         │</a:t>
            </a:r>
            <a:br/>
            <a:r>
              <a:rPr sz="900">
                <a:latin typeface="Consolas"/>
              </a:rPr>
              <a:t>│ Operation       │─────&gt;│ Fast Fail       │─────&gt;│ Recovery        │</a:t>
            </a:r>
            <a:br/>
            <a:r>
              <a:rPr sz="900">
                <a:latin typeface="Consolas"/>
              </a:rPr>
              <a:t>│                 │      │                 │      │                 │</a:t>
            </a:r>
            <a:br/>
            <a:r>
              <a:rPr sz="900">
                <a:latin typeface="Consolas"/>
              </a:rPr>
              <a:t>│ Success Rate    │      │ Timeout Period  │      │ Limited Calls   │</a:t>
            </a:r>
            <a:br/>
            <a:r>
              <a:rPr sz="900">
                <a:latin typeface="Consolas"/>
              </a:rPr>
              <a:t>│ &gt; Threshold     │      │ Elapsed         │      │                 │</a:t>
            </a:r>
            <a:br/>
            <a:r>
              <a:rPr sz="900">
                <a:latin typeface="Consolas"/>
              </a:rPr>
              <a:t>└─────────────────┘      └─────────────────┘      └─────────────────┘</a:t>
            </a:r>
            <a:br/>
            <a:r>
              <a:rPr sz="900">
                <a:latin typeface="Consolas"/>
              </a:rPr>
              <a:t>         ▲                                                  │</a:t>
            </a:r>
            <a:br/>
            <a:r>
              <a:rPr sz="900">
                <a:latin typeface="Consolas"/>
              </a:rPr>
              <a:t>         └──────────────────────────────────────────────────┘</a:t>
            </a:r>
            <a:br/>
            <a:r>
              <a:rPr sz="900">
                <a:latin typeface="Consolas"/>
              </a:rPr>
              <a:t>                         Success Rate &gt; Threshold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Saga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Saga Pattern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nsolas"/>
              </a:rPr>
              <a:t>Choreography Saga:           Orchestration Saga:</a:t>
            </a:r>
            <a:br/>
            <a:r>
              <a:rPr sz="900">
                <a:latin typeface="Consolas"/>
              </a:rPr>
              <a:t>                            </a:t>
            </a:r>
            <a:br/>
            <a:r>
              <a:rPr sz="900">
                <a:latin typeface="Consolas"/>
              </a:rPr>
              <a:t>Service A ──&gt; Service B       ┌─────────────────┐</a:t>
            </a:r>
            <a:br/>
            <a:r>
              <a:rPr sz="900">
                <a:latin typeface="Consolas"/>
              </a:rPr>
              <a:t>    │             │          │ Saga Manager   │</a:t>
            </a:r>
            <a:br/>
            <a:r>
              <a:rPr sz="900">
                <a:latin typeface="Consolas"/>
              </a:rPr>
              <a:t>    ▼             ▼          │                 │</a:t>
            </a:r>
            <a:br/>
            <a:r>
              <a:rPr sz="900">
                <a:latin typeface="Consolas"/>
              </a:rPr>
              <a:t>Service C ──&gt; Service D      │ 1. Service A    │</a:t>
            </a:r>
            <a:br/>
            <a:r>
              <a:rPr sz="900">
                <a:latin typeface="Consolas"/>
              </a:rPr>
              <a:t>                             │ 2. Service B    │</a:t>
            </a:r>
            <a:br/>
            <a:r>
              <a:rPr sz="900">
                <a:latin typeface="Consolas"/>
              </a:rPr>
              <a:t>Event-driven,                │ 3. Service C    │</a:t>
            </a:r>
            <a:br/>
            <a:r>
              <a:rPr sz="900">
                <a:latin typeface="Consolas"/>
              </a:rPr>
              <a:t>Distributed control          │ 4. Rollback?    │</a:t>
            </a:r>
            <a:br/>
            <a:r>
              <a:rPr sz="900">
                <a:latin typeface="Consolas"/>
              </a:rPr>
              <a:t>                             └─────────────────┘</a:t>
            </a:r>
            <a:br/>
            <a:r>
              <a:rPr sz="900">
                <a:latin typeface="Consolas"/>
              </a:rPr>
              <a:t>                             </a:t>
            </a:r>
            <a:br/>
            <a:r>
              <a:rPr sz="900">
                <a:latin typeface="Consolas"/>
              </a:rPr>
              <a:t>                             Centralized control,</a:t>
            </a:r>
            <a:br/>
            <a:r>
              <a:rPr sz="900">
                <a:latin typeface="Consolas"/>
              </a:rPr>
              <a:t>                             Explicit workflow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API Gateway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nsolas"/>
              </a:rPr>
              <a:t>Client Requests</a:t>
            </a:r>
            <a:br/>
            <a:r>
              <a:rPr sz="900">
                <a:latin typeface="Consolas"/>
              </a:rPr>
              <a:t>               │</a:t>
            </a:r>
            <a:br/>
            <a:r>
              <a:rPr sz="900">
                <a:latin typeface="Consolas"/>
              </a:rPr>
              <a:t>               ▼</a:t>
            </a:r>
            <a:br/>
            <a:r>
              <a:rPr sz="900">
                <a:latin typeface="Consolas"/>
              </a:rPr>
              <a:t>    ┌─────────────────────┐</a:t>
            </a:r>
            <a:br/>
            <a:r>
              <a:rPr sz="900">
                <a:latin typeface="Consolas"/>
              </a:rPr>
              <a:t>    │   API Gateway       │</a:t>
            </a:r>
            <a:br/>
            <a:r>
              <a:rPr sz="900">
                <a:latin typeface="Consolas"/>
              </a:rPr>
              <a:t>    │                     │</a:t>
            </a:r>
            <a:br/>
            <a:r>
              <a:rPr sz="900">
                <a:latin typeface="Consolas"/>
              </a:rPr>
              <a:t>    │ - Authentication    │</a:t>
            </a:r>
            <a:br/>
            <a:r>
              <a:rPr sz="900">
                <a:latin typeface="Consolas"/>
              </a:rPr>
              <a:t>    │ - Authorization     │</a:t>
            </a:r>
            <a:br/>
            <a:r>
              <a:rPr sz="900">
                <a:latin typeface="Consolas"/>
              </a:rPr>
              <a:t>    │ - Rate Limiting     │</a:t>
            </a:r>
            <a:br/>
            <a:r>
              <a:rPr sz="900">
                <a:latin typeface="Consolas"/>
              </a:rPr>
              <a:t>    │ - Load Balancing    │</a:t>
            </a:r>
            <a:br/>
            <a:r>
              <a:rPr sz="900">
                <a:latin typeface="Consolas"/>
              </a:rPr>
              <a:t>    │ - Request Routing   │</a:t>
            </a:r>
            <a:br/>
            <a:r>
              <a:rPr sz="900">
                <a:latin typeface="Consolas"/>
              </a:rPr>
              <a:t>    │ - Response Caching  │</a:t>
            </a:r>
            <a:br/>
            <a:r>
              <a:rPr sz="900">
                <a:latin typeface="Consolas"/>
              </a:rPr>
              <a:t>    │ - Monitoring        │</a:t>
            </a:r>
            <a:br/>
            <a:r>
              <a:rPr sz="900">
                <a:latin typeface="Consolas"/>
              </a:rPr>
              <a:t>    └─────────────────────┘</a:t>
            </a:r>
            <a:br/>
            <a:r>
              <a:rPr sz="900">
                <a:latin typeface="Consolas"/>
              </a:rPr>
              <a:t>               │</a:t>
            </a:r>
            <a:br/>
            <a:r>
              <a:rPr sz="900">
                <a:latin typeface="Consolas"/>
              </a:rPr>
              <a:t>               ▼</a:t>
            </a:r>
            <a:br/>
            <a:r>
              <a:rPr sz="900">
                <a:latin typeface="Consolas"/>
              </a:rPr>
              <a:t>    ┌─────────┬─────────┬─────────┐</a:t>
            </a:r>
            <a:br/>
            <a:r>
              <a:rPr sz="900">
                <a:latin typeface="Consolas"/>
              </a:rPr>
              <a:t>    │Service A│Service B│Service C│</a:t>
            </a:r>
            <a:br/>
            <a:r>
              <a:rPr sz="900">
                <a:latin typeface="Consolas"/>
              </a:rPr>
              <a:t>    └─────────┴─────────┴─────────┘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Service Mesh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Mesh Architecture (Istio)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nsolas"/>
              </a:rPr>
              <a:t>┌──────────────────────────────────────────────────────┐</a:t>
            </a:r>
            <a:br/>
            <a:r>
              <a:rPr sz="900">
                <a:latin typeface="Consolas"/>
              </a:rPr>
              <a:t>│                Control Plane                         │</a:t>
            </a:r>
            <a:br/>
            <a:r>
              <a:rPr sz="900">
                <a:latin typeface="Consolas"/>
              </a:rPr>
              <a:t>│ ┌─────────────┐ ┌─────────────┐ ┌─────────────┐      │</a:t>
            </a:r>
            <a:br/>
            <a:r>
              <a:rPr sz="900">
                <a:latin typeface="Consolas"/>
              </a:rPr>
              <a:t>│ │   Pilot     │ │   Citadel   │ │   Mixer     │      │</a:t>
            </a:r>
            <a:br/>
            <a:r>
              <a:rPr sz="900">
                <a:latin typeface="Consolas"/>
              </a:rPr>
              <a:t>│ │ (Discovery) │ │ (Security)  │ │ (Telemetry) │      │</a:t>
            </a:r>
            <a:br/>
            <a:r>
              <a:rPr sz="900">
                <a:latin typeface="Consolas"/>
              </a:rPr>
              <a:t>│ └─────────────┘ └─────────────┘ └─────────────┘      │</a:t>
            </a:r>
            <a:br/>
            <a:r>
              <a:rPr sz="900">
                <a:latin typeface="Consolas"/>
              </a:rPr>
              <a:t>└──────────────────────────────────────────────────────┘</a:t>
            </a:r>
            <a:br/>
            <a:r>
              <a:rPr sz="900">
                <a:latin typeface="Consolas"/>
              </a:rPr>
              <a:t>                        │</a:t>
            </a:r>
            <a:br/>
            <a:r>
              <a:rPr sz="900">
                <a:latin typeface="Consolas"/>
              </a:rPr>
              <a:t>                        ▼ (Configuration)</a:t>
            </a:r>
            <a:br/>
            <a:r>
              <a:rPr sz="900">
                <a:latin typeface="Consolas"/>
              </a:rPr>
              <a:t>┌─────────────┐     ┌─────────────┐     ┌─────────────┐</a:t>
            </a:r>
            <a:br/>
            <a:r>
              <a:rPr sz="900">
                <a:latin typeface="Consolas"/>
              </a:rPr>
              <a:t>│ Service A   │     │ Service B   │     │ Service C   │</a:t>
            </a:r>
            <a:br/>
            <a:r>
              <a:rPr sz="900">
                <a:latin typeface="Consolas"/>
              </a:rPr>
              <a:t>│             │     │             │     │             │</a:t>
            </a:r>
            <a:br/>
            <a:r>
              <a:rPr sz="900">
                <a:latin typeface="Consolas"/>
              </a:rPr>
              <a:t>│ ┌─────────┐ │◄────┤ ┌─────────┐ │◄────┤ ┌─────────┐ │</a:t>
            </a:r>
            <a:br/>
            <a:r>
              <a:rPr sz="900">
                <a:latin typeface="Consolas"/>
              </a:rPr>
              <a:t>│ │ Proxy   │ │     │ │ Proxy   │ │     │ │ Proxy   │ │</a:t>
            </a:r>
            <a:br/>
            <a:r>
              <a:rPr sz="900">
                <a:latin typeface="Consolas"/>
              </a:rPr>
              <a:t>│ │(Envoy)  │ │     │ │(Envoy)  │ │     │ │(Envoy)  │ │</a:t>
            </a:r>
            <a:br/>
            <a:r>
              <a:rPr sz="900">
                <a:latin typeface="Consolas"/>
              </a:rPr>
              <a:t>│ └─────────┘ │     │ └─────────┘ │     │ └─────────┘ │</a:t>
            </a:r>
            <a:br/>
            <a:r>
              <a:rPr sz="900">
                <a:latin typeface="Consolas"/>
              </a:rPr>
              <a:t>└─────────────┘     └─────────────┘     └─────────────┘</a:t>
            </a:r>
            <a:br/>
            <a:br/>
            <a:r>
              <a:rPr sz="900">
                <a:latin typeface="Consolas"/>
              </a:rPr>
              <a:t>Data Plane: Envoy Proxies handle all traffic</a:t>
            </a:r>
            <a:br/>
            <a:r>
              <a:rPr sz="900">
                <a:latin typeface="Consolas"/>
              </a:rPr>
              <a:t>Control Plane: Configures and monitors proxies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Bulkhead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Bulkhead Pattern - Resource Isolation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nsolas"/>
              </a:rPr>
              <a:t>Thread Pools per Client Type:</a:t>
            </a:r>
            <a:br/>
            <a:r>
              <a:rPr sz="900">
                <a:latin typeface="Consolas"/>
              </a:rPr>
              <a:t>┌─────────────────────────────────────────────────┐</a:t>
            </a:r>
            <a:br/>
            <a:r>
              <a:rPr sz="900">
                <a:latin typeface="Consolas"/>
              </a:rPr>
              <a:t>│                Service                          │</a:t>
            </a:r>
            <a:br/>
            <a:r>
              <a:rPr sz="900">
                <a:latin typeface="Consolas"/>
              </a:rPr>
              <a:t>│                                                 │</a:t>
            </a:r>
            <a:br/>
            <a:r>
              <a:rPr sz="900">
                <a:latin typeface="Consolas"/>
              </a:rPr>
              <a:t>│ ┌─────────────┐ ┌─────────────┐ ┌─────────────┐ │</a:t>
            </a:r>
            <a:br/>
            <a:r>
              <a:rPr sz="900">
                <a:latin typeface="Consolas"/>
              </a:rPr>
              <a:t>│ │Premium      │ │Standard     │ │Basic        │ │</a:t>
            </a:r>
            <a:br/>
            <a:r>
              <a:rPr sz="900">
                <a:latin typeface="Consolas"/>
              </a:rPr>
              <a:t>│ │Clients      │ │Clients      │ │Clients      │ │</a:t>
            </a:r>
            <a:br/>
            <a:r>
              <a:rPr sz="900">
                <a:latin typeface="Consolas"/>
              </a:rPr>
              <a:t>│ │             │ │             │ │             │ │</a:t>
            </a:r>
            <a:br/>
            <a:r>
              <a:rPr sz="900">
                <a:latin typeface="Consolas"/>
              </a:rPr>
              <a:t>│ │Thread Pool  │ │Thread Pool  │ │Thread Pool  │ │</a:t>
            </a:r>
            <a:br/>
            <a:r>
              <a:rPr sz="900">
                <a:latin typeface="Consolas"/>
              </a:rPr>
              <a:t>│ │Size: 50     │ │Size: 30     │ │Size: 20     │ │</a:t>
            </a:r>
            <a:br/>
            <a:r>
              <a:rPr sz="900">
                <a:latin typeface="Consolas"/>
              </a:rPr>
              <a:t>│ └─────────────┘ └─────────────┘ └─────────────┘ │</a:t>
            </a:r>
            <a:br/>
            <a:r>
              <a:rPr sz="900">
                <a:latin typeface="Consolas"/>
              </a:rPr>
              <a:t>└─────────────────────────────────────────────────┘</a:t>
            </a:r>
            <a:br/>
            <a:br/>
            <a:r>
              <a:rPr sz="900">
                <a:latin typeface="Consolas"/>
              </a:rPr>
              <a:t>Benefit: Basic clients cannot starve Premium clients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Domain-Driven Design (DDD)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DDD Bounded Contexts - Telekom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nsolas"/>
              </a:rPr>
              <a:t>┌─────────────────┐    ┌─────────────────┐    ┌─────────────────┐</a:t>
            </a:r>
            <a:br/>
            <a:r>
              <a:rPr sz="900">
                <a:latin typeface="Consolas"/>
              </a:rPr>
              <a:t>│ Customer        │    │ Billing         │    │ Network         │</a:t>
            </a:r>
            <a:br/>
            <a:r>
              <a:rPr sz="900">
                <a:latin typeface="Consolas"/>
              </a:rPr>
              <a:t>│ Management      │    │ Context         │    │ Operations      │</a:t>
            </a:r>
            <a:br/>
            <a:r>
              <a:rPr sz="900">
                <a:latin typeface="Consolas"/>
              </a:rPr>
              <a:t>│                 │    │                 │    │                 │</a:t>
            </a:r>
            <a:br/>
            <a:r>
              <a:rPr sz="900">
                <a:latin typeface="Consolas"/>
              </a:rPr>
              <a:t>│ - Customer      │◄──►│ - Invoice       │◄──►│ - Device        │</a:t>
            </a:r>
            <a:br/>
            <a:r>
              <a:rPr sz="900">
                <a:latin typeface="Consolas"/>
              </a:rPr>
              <a:t>│ - Contract      │    │ - Payment       │    │ - Configuration │</a:t>
            </a:r>
            <a:br/>
            <a:r>
              <a:rPr sz="900">
                <a:latin typeface="Consolas"/>
              </a:rPr>
              <a:t>│ - Profile       │    │ - Tariff        │    │ - Monitoring    │</a:t>
            </a:r>
            <a:br/>
            <a:r>
              <a:rPr sz="900">
                <a:latin typeface="Consolas"/>
              </a:rPr>
              <a:t>└─────────────────┘    └─────────────────┘    └─────────────────┘</a:t>
            </a:r>
            <a:br/>
            <a:br/>
            <a:r>
              <a:rPr sz="900">
                <a:latin typeface="Consolas"/>
              </a:rPr>
              <a:t>Relationships:</a:t>
            </a:r>
            <a:br/>
            <a:r>
              <a:rPr sz="900">
                <a:latin typeface="Consolas"/>
              </a:rPr>
              <a:t>◄──► Anti-Corruption Layer (ACL)</a:t>
            </a:r>
            <a:br/>
            <a:r>
              <a:rPr sz="900">
                <a:latin typeface="Consolas"/>
              </a:rPr>
              <a:t>═══► Shared Kernel</a:t>
            </a:r>
            <a:br/>
            <a:r>
              <a:rPr sz="900">
                <a:latin typeface="Consolas"/>
              </a:rPr>
              <a:t>───► Customer-Supplier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Zusammenfassung - Part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**Pattern-Kombinationen nutzen:**</a:t>
            </a:r>
          </a:p>
          <a:p>
            <a:pPr lvl="1"/>
            <a:r>
              <a:t>• CQRS + Event Sourcing: Für Audit und Performance</a:t>
            </a:r>
          </a:p>
          <a:p>
            <a:pPr lvl="1"/>
            <a:r>
              <a:t>• Microservices + Service Mesh: Für Infrastructure Concerns</a:t>
            </a:r>
          </a:p>
          <a:p>
            <a:pPr lvl="1"/>
            <a:r>
              <a:t>• Circuit Breaker + Bulkhead: Für System Resilience</a:t>
            </a:r>
          </a:p>
          <a:p>
            <a:pPr lvl="1"/>
            <a:r>
              <a:t>• API Gateway + DDD: Für Business-oriented APIs</a:t>
            </a:r>
          </a:p>
          <a:p>
            <a:pPr/>
            <a:r>
              <a:t>**Evolution über Revolution:**</a:t>
            </a:r>
          </a:p>
          <a:p>
            <a:pPr lvl="1"/>
            <a:r>
              <a:t>• Start Simple: Layered Architecture für Prototypen</a:t>
            </a:r>
          </a:p>
          <a:p>
            <a:pPr lvl="1"/>
            <a:r>
              <a:t>• Scale Systematically: Microservices für große Teams</a:t>
            </a:r>
          </a:p>
          <a:p>
            <a:pPr lvl="1"/>
            <a:r>
              <a:t>• Optimize Specifically: CQRS/Event Sourcing für Performance</a:t>
            </a:r>
          </a:p>
          <a:p>
            <a:pPr/>
            <a:r>
              <a:t>**Telekom-spezifische Guidance:**</a:t>
            </a:r>
          </a:p>
          <a:p>
            <a:pPr/>
            <a:r>
              <a:t>✅ Network Operations: Event-Driven + CQRS</a:t>
            </a:r>
          </a:p>
          <a:p>
            <a:pPr/>
            <a:r>
              <a:t>✅ Customer Management: DDD + Event Sourcing</a:t>
            </a:r>
          </a:p>
          <a:p>
            <a:pPr/>
            <a:r>
              <a:t>✅ Billing Systems: Saga Pattern</a:t>
            </a:r>
          </a:p>
          <a:p>
            <a:pPr/>
            <a:r>
              <a:t>✅ Legacy Integration: Strangler Fig Pattern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Open Sans</vt:lpstr>
      <vt:lpstr>Open Sans Light</vt:lpstr>
      <vt:lpstr>Source Code Pro</vt:lpstr>
      <vt:lpstr>Custom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8</cp:revision>
  <dcterms:created xsi:type="dcterms:W3CDTF">2025-09-10T03:57:45Z</dcterms:created>
  <dcterms:modified xsi:type="dcterms:W3CDTF">2025-09-10T05:07:05Z</dcterms:modified>
</cp:coreProperties>
</file>