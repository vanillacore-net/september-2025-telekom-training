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5" Type="http://schemas.openxmlformats.org/officeDocument/2006/relationships/notesMaster" Target="notesMasters/notesMaster1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Architectural Patterns - Part 2: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CQRS (Command Query Responsibility Segregation):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CQRS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Event Sourcing: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Event Sourcing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Circuit Breaker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Circuit Breaker State Machine: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Saga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Saga Pattern Types: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API Gateway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API Gateway Architecture:</a:t>
            </a:r>
          </a:p>
          <a:p/>
          <a:p>
            <a:r>
              <a:t>VISUAL WALKTHROUGH:</a:t>
            </a:r>
          </a:p>
          <a:p>
            <a:r>
              <a:t>- Diagramm systematisch von links nach rechts durchgehen</a:t>
            </a:r>
          </a:p>
          <a:p>
            <a:r>
              <a:t>- Komponenten und deren Verantwortlichkeiten erklären</a:t>
            </a:r>
          </a:p>
          <a:p>
            <a:r>
              <a:t>- Data Flow und Control Flow unterscheiden</a:t>
            </a:r>
          </a:p>
          <a:p/>
          <a:p>
            <a:r>
              <a:t>TECHNICAL DEPTH:</a:t>
            </a:r>
          </a:p>
          <a:p>
            <a:r>
              <a:t>- Interfaces zwischen Komponenten detailliert erklären</a:t>
            </a:r>
          </a:p>
          <a:p>
            <a:r>
              <a:t>- Warum diese Struktur gewählt?</a:t>
            </a:r>
          </a:p>
          <a:p>
            <a:r>
              <a:t>- Alternative Architekturen kurz diskutieren</a:t>
            </a:r>
          </a:p>
          <a:p/>
          <a:p>
            <a:r>
              <a:t>SCALABILITY ASPECTS:</a:t>
            </a:r>
          </a:p>
          <a:p>
            <a:r>
              <a:t>- Wo sind die Bottlenecks in dieser Architektur?</a:t>
            </a:r>
          </a:p>
          <a:p>
            <a:r>
              <a:t>- Wie skaliert jede Komponente?</a:t>
            </a:r>
          </a:p>
          <a:p>
            <a:r>
              <a:t>- Horizontal vs. Vertical Scaling</a:t>
            </a:r>
          </a:p>
          <a:p/>
          <a:p>
            <a:r>
              <a:t>FAILURE SCENARIOS:</a:t>
            </a:r>
          </a:p>
          <a:p>
            <a:r>
              <a:t>- Was passiert wenn Komponente X ausfällt?</a:t>
            </a:r>
          </a:p>
          <a:p>
            <a:r>
              <a:t>- Resilience Patterns eingebaut?</a:t>
            </a:r>
          </a:p>
          <a:p>
            <a:r>
              <a:t>- Recovery Strategien</a:t>
            </a:r>
          </a:p>
          <a:p/>
          <a:p>
            <a:r>
              <a:t>IMPLEMENTATION HINTS:</a:t>
            </a:r>
          </a:p>
          <a:p>
            <a:r>
              <a:t>- Technology Mapping für jede Komponente</a:t>
            </a:r>
          </a:p>
          <a:p>
            <a:r>
              <a:t>- Deployment Considerations</a:t>
            </a:r>
          </a:p>
          <a:p>
            <a:r>
              <a:t>- Monitoring und Observability</a:t>
            </a:r>
          </a:p>
          <a:p/>
          <a:p>
            <a:r>
              <a:t>INTERACTIVE ELEMENT:</a:t>
            </a:r>
          </a:p>
          <a:p>
            <a:r>
              <a:t>- Fragen zur Architektur stellen</a:t>
            </a:r>
          </a:p>
          <a:p>
            <a:r>
              <a:t>- Erfahrungen der Teilnehmer abfragen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Service Mesh: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Service Mesh Architecture (Istio):</a:t>
            </a:r>
          </a:p>
          <a:p/>
          <a:p>
            <a:r>
              <a:t>VISUAL WALKTHROUGH:</a:t>
            </a:r>
          </a:p>
          <a:p>
            <a:r>
              <a:t>- Diagramm systematisch von links nach rechts durchgehen</a:t>
            </a:r>
          </a:p>
          <a:p>
            <a:r>
              <a:t>- Komponenten und deren Verantwortlichkeiten erklären</a:t>
            </a:r>
          </a:p>
          <a:p>
            <a:r>
              <a:t>- Data Flow und Control Flow unterscheiden</a:t>
            </a:r>
          </a:p>
          <a:p/>
          <a:p>
            <a:r>
              <a:t>TECHNICAL DEPTH:</a:t>
            </a:r>
          </a:p>
          <a:p>
            <a:r>
              <a:t>- Interfaces zwischen Komponenten detailliert erklären</a:t>
            </a:r>
          </a:p>
          <a:p>
            <a:r>
              <a:t>- Warum diese Struktur gewählt?</a:t>
            </a:r>
          </a:p>
          <a:p>
            <a:r>
              <a:t>- Alternative Architekturen kurz diskutieren</a:t>
            </a:r>
          </a:p>
          <a:p/>
          <a:p>
            <a:r>
              <a:t>SCALABILITY ASPECTS:</a:t>
            </a:r>
          </a:p>
          <a:p>
            <a:r>
              <a:t>- Wo sind die Bottlenecks in dieser Architektur?</a:t>
            </a:r>
          </a:p>
          <a:p>
            <a:r>
              <a:t>- Wie skaliert jede Komponente?</a:t>
            </a:r>
          </a:p>
          <a:p>
            <a:r>
              <a:t>- Horizontal vs. Vertical Scaling</a:t>
            </a:r>
          </a:p>
          <a:p/>
          <a:p>
            <a:r>
              <a:t>FAILURE SCENARIOS:</a:t>
            </a:r>
          </a:p>
          <a:p>
            <a:r>
              <a:t>- Was passiert wenn Komponente X ausfällt?</a:t>
            </a:r>
          </a:p>
          <a:p>
            <a:r>
              <a:t>- Resilience Patterns eingebaut?</a:t>
            </a:r>
          </a:p>
          <a:p>
            <a:r>
              <a:t>- Recovery Strategien</a:t>
            </a:r>
          </a:p>
          <a:p/>
          <a:p>
            <a:r>
              <a:t>IMPLEMENTATION HINTS:</a:t>
            </a:r>
          </a:p>
          <a:p>
            <a:r>
              <a:t>- Technology Mapping für jede Komponente</a:t>
            </a:r>
          </a:p>
          <a:p>
            <a:r>
              <a:t>- Deployment Considerations</a:t>
            </a:r>
          </a:p>
          <a:p>
            <a:r>
              <a:t>- Monitoring und Observability</a:t>
            </a:r>
          </a:p>
          <a:p/>
          <a:p>
            <a:r>
              <a:t>INTERACTIVE ELEMENT:</a:t>
            </a:r>
          </a:p>
          <a:p>
            <a:r>
              <a:t>- Fragen zur Architektur stellen</a:t>
            </a:r>
          </a:p>
          <a:p>
            <a:r>
              <a:t>- Erfahrungen der Teilnehmer abfragen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Bulkhead Pattern: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Bulkhead Pattern - Resource Isolation: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Domain-Driven Design (DDD):</a:t>
            </a:r>
          </a:p>
          <a:p/>
          <a:p>
            <a:r>
              <a:t>CONTENT OVERVIEW:</a:t>
            </a:r>
          </a:p>
          <a:p>
            <a:r>
              <a:t>- Hauptpunkte dieser Folie systematisch durchgehen</a:t>
            </a:r>
          </a:p>
          <a:p>
            <a:r>
              <a:t>- Verbindung zu vorherigen Folien aufzeigen</a:t>
            </a:r>
          </a:p>
          <a:p>
            <a:r>
              <a:t>- Context für kommende Folien setzen</a:t>
            </a:r>
          </a:p>
          <a:p/>
          <a:p>
            <a:r>
              <a:t>TELEKOM RELEVANZ:</a:t>
            </a:r>
          </a:p>
          <a:p>
            <a:r>
              <a:t>- Wie ist das für Telekom-Projekte relevant?</a:t>
            </a:r>
          </a:p>
          <a:p>
            <a:r>
              <a:t>- Konkrete Beispiele aus unserem Umfeld</a:t>
            </a:r>
          </a:p>
          <a:p>
            <a:r>
              <a:t>- Erfahrungen aus ähnlichen Implementierungen</a:t>
            </a:r>
          </a:p>
          <a:p/>
          <a:p>
            <a:r>
              <a:t>INTERAKTION:</a:t>
            </a:r>
          </a:p>
          <a:p>
            <a:r>
              <a:t>- Fragen an die Teilnehmer stellen</a:t>
            </a:r>
          </a:p>
          <a:p>
            <a:r>
              <a:t>- Erfahrungsaustausch fördern</a:t>
            </a:r>
          </a:p>
          <a:p>
            <a:r>
              <a:t>- Verständnis sicherstellen</a:t>
            </a:r>
          </a:p>
          <a:p/>
          <a:p>
            <a:r>
              <a:t>TECHNICAL DETAILS:</a:t>
            </a:r>
          </a:p>
          <a:p>
            <a:r>
              <a:t>- Wichtige technische Aspekte hervorheben</a:t>
            </a:r>
          </a:p>
          <a:p>
            <a:r>
              <a:t>- Best Practices erwähnen</a:t>
            </a:r>
          </a:p>
          <a:p>
            <a:r>
              <a:t>- Common Pitfalls vermeiden</a:t>
            </a:r>
          </a:p>
          <a:p/>
          <a:p>
            <a:r>
              <a:t>ÜBERLEITUNG:</a:t>
            </a:r>
          </a:p>
          <a:p>
            <a:r>
              <a:t>- Vorbereitung auf nächste Folie</a:t>
            </a:r>
          </a:p>
          <a:p>
            <a:r>
              <a:t>- Logischen Flow aufrechterhalten</a:t>
            </a:r>
          </a:p>
          <a:p>
            <a:r>
              <a:t>- Spannung für kommende Topics</a:t>
            </a:r>
          </a:p>
          <a:p/>
          <a:p>
            <a:r>
              <a:t>TIMING:</a:t>
            </a:r>
          </a:p>
          <a:p>
            <a:r>
              <a:t>- Passende Geschwindigkeit für Inhalt</a:t>
            </a:r>
          </a:p>
          <a:p>
            <a:r>
              <a:t>- Nicht zu schnell durch komplexe Themen</a:t>
            </a:r>
          </a:p>
          <a:p>
            <a:r>
              <a:t>- Zeit für Fragen einplanen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CQRS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CQRS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Event Sourcing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Circuit Breaker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Saga Pattern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API Gateway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Service Mesh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Bulkhead Pattern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Sprecher-Notizen für Domain-Driven Design Trade-offs:</a:t>
            </a:r>
          </a:p>
          <a:p/>
          <a:p>
            <a:r>
              <a:t>EINFÜHRUNG:</a:t>
            </a:r>
          </a:p>
          <a:p>
            <a:r>
              <a:t>- Kurz den Kontext des Patterns wiederholen</a:t>
            </a:r>
          </a:p>
          <a:p>
            <a:r>
              <a:t>- Betonen: Jede Architekturentscheidung hat Vor- und Nachteile</a:t>
            </a:r>
          </a:p>
          <a:p/>
          <a:p>
            <a:r>
              <a:t>VORTEILE (0 Punkte):</a:t>
            </a:r>
          </a:p>
          <a:p>
            <a:r>
              <a:t>- Jeden Vorteil mit konkreten Telekom-Beispielen untermauern</a:t>
            </a:r>
          </a:p>
          <a:p>
            <a:r>
              <a:t>- Bei Performance-Vorteilen: Zahlen und Metriken erwähnen</a:t>
            </a:r>
          </a:p>
          <a:p>
            <a:r>
              <a:t>- Bei Team-Vorteilen: Auswirkungen auf Entwicklungsprozesse erklären</a:t>
            </a:r>
          </a:p>
          <a:p/>
          <a:p>
            <a:r>
              <a:t>NACHTEILE (0 Punkte):</a:t>
            </a:r>
          </a:p>
          <a:p>
            <a:r>
              <a:t>- Ehrlich über Herausforderungen sprechen</a:t>
            </a:r>
          </a:p>
          <a:p>
            <a:r>
              <a:t>- Mitigation-Strategien für kritische Nachteile erwähnen</a:t>
            </a:r>
          </a:p>
          <a:p>
            <a:r>
              <a:t>- Kosten-Nutzen-Abwägung diskutieren</a:t>
            </a:r>
          </a:p>
          <a:p/>
          <a:p>
            <a:r>
              <a:t>TELEKOM-SPEZIFISCH:</a:t>
            </a:r>
          </a:p>
          <a:p>
            <a:r>
              <a:t>- Welche Nachteile sind für Telekom besonders relevant?</a:t>
            </a:r>
          </a:p>
          <a:p>
            <a:r>
              <a:t>- Gibt es interne Tools/Prozesse, die Nachteile abmildern?</a:t>
            </a:r>
          </a:p>
          <a:p>
            <a:r>
              <a:t>- Lessons learned aus ähnlichen Projekten erwähnen</a:t>
            </a:r>
          </a:p>
          <a:p/>
          <a:p>
            <a:r>
              <a:t>ÜBERLEITUNG:</a:t>
            </a:r>
          </a:p>
          <a:p>
            <a:r>
              <a:t>- Vorbereitung auf 'When to Use' Slide</a:t>
            </a:r>
          </a:p>
          <a:p>
            <a:r>
              <a:t>- Hint: Context ist entscheidend für Entscheidung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Architectural Patterns -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Enterprise Architecture Patterns für Skalierbarkeit und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CQRS (Command Query Responsibility Segregation)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CQRS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latin typeface="Consolas"/>
              </a:rPr>
              <a:t>Command Side              Event Store           Query Side</a:t>
            </a:r>
            <a:br>
              <a:rPr sz="6000" dirty="0"/>
            </a:br>
            <a:r>
              <a:rPr sz="2000" dirty="0">
                <a:latin typeface="Consolas"/>
              </a:rPr>
              <a:t>┌──────────────────────┐  ┌─────────────────┐  ┌──────────────────────┐</a:t>
            </a:r>
            <a:br>
              <a:rPr sz="6000" dirty="0"/>
            </a:br>
            <a:r>
              <a:rPr sz="2000" dirty="0">
                <a:latin typeface="Consolas"/>
              </a:rPr>
              <a:t>│ Write Model          │  │   Events       </a:t>
            </a:r>
            <a:r>
              <a:rPr lang="en-US" sz="2000" dirty="0">
                <a:latin typeface="Consolas"/>
              </a:rPr>
              <a:t> </a:t>
            </a:r>
            <a:r>
              <a:rPr sz="2000" dirty="0">
                <a:latin typeface="Consolas"/>
              </a:rPr>
              <a:t>│  │ Read Model        </a:t>
            </a:r>
            <a:r>
              <a:rPr lang="en-US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│</a:t>
            </a:r>
            <a:br>
              <a:rPr sz="6000" dirty="0"/>
            </a:br>
            <a:r>
              <a:rPr sz="2000" dirty="0">
                <a:latin typeface="Consolas"/>
              </a:rPr>
              <a:t>│                      │  │                 │  │                   </a:t>
            </a:r>
            <a:r>
              <a:rPr lang="en-US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│</a:t>
            </a:r>
            <a:br>
              <a:rPr sz="6000" dirty="0"/>
            </a:br>
            <a:r>
              <a:rPr sz="2000" dirty="0">
                <a:latin typeface="Consolas"/>
              </a:rPr>
              <a:t>│ - Normalized         │─&gt;│ Event Bus      </a:t>
            </a:r>
            <a:r>
              <a:rPr lang="en-US" sz="2000" dirty="0">
                <a:latin typeface="Consolas"/>
              </a:rPr>
              <a:t> </a:t>
            </a:r>
            <a:r>
              <a:rPr sz="2000" dirty="0">
                <a:latin typeface="Consolas"/>
              </a:rPr>
              <a:t>│─&gt;│ - Denormalized    </a:t>
            </a:r>
            <a:r>
              <a:rPr lang="en-US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│</a:t>
            </a:r>
            <a:br>
              <a:rPr sz="6000" dirty="0"/>
            </a:br>
            <a:r>
              <a:rPr sz="2000" dirty="0">
                <a:latin typeface="Consolas"/>
              </a:rPr>
              <a:t>│ - PostgreSQL         │  │ Command/Query  </a:t>
            </a:r>
            <a:r>
              <a:rPr lang="en-US" sz="2000" dirty="0">
                <a:latin typeface="Consolas"/>
              </a:rPr>
              <a:t> </a:t>
            </a:r>
            <a:r>
              <a:rPr sz="2000" dirty="0">
                <a:latin typeface="Consolas"/>
              </a:rPr>
              <a:t>│  │ - Elasticsearch   </a:t>
            </a:r>
            <a:r>
              <a:rPr lang="en-US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│</a:t>
            </a:r>
            <a:br>
              <a:rPr sz="6000" dirty="0"/>
            </a:br>
            <a:r>
              <a:rPr sz="2000" dirty="0">
                <a:latin typeface="Consolas"/>
              </a:rPr>
              <a:t>│ - ACID Transactions  │  │ Sync           </a:t>
            </a:r>
            <a:r>
              <a:rPr lang="en-US" sz="2000" dirty="0">
                <a:latin typeface="Consolas"/>
              </a:rPr>
              <a:t> </a:t>
            </a:r>
            <a:r>
              <a:rPr sz="2000" dirty="0">
                <a:latin typeface="Consolas"/>
              </a:rPr>
              <a:t>│  │ - Read Optimized  </a:t>
            </a:r>
            <a:r>
              <a:rPr lang="en-US" sz="2000" dirty="0">
                <a:latin typeface="Consolas"/>
              </a:rPr>
              <a:t>  </a:t>
            </a:r>
            <a:r>
              <a:rPr sz="2000" dirty="0">
                <a:latin typeface="Consolas"/>
              </a:rPr>
              <a:t> │</a:t>
            </a:r>
            <a:br>
              <a:rPr sz="6000" dirty="0"/>
            </a:br>
            <a:r>
              <a:rPr sz="2000" dirty="0">
                <a:latin typeface="Consolas"/>
              </a:rPr>
              <a:t>└──────────────────────┘  └─────────────────┘  └──────────────────────┘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Event Sourcing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Sourcing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latin typeface="Consolas"/>
              </a:rPr>
              <a:t>Commands            Events              Current State</a:t>
            </a:r>
            <a:br>
              <a:rPr sz="6600" dirty="0"/>
            </a:br>
            <a:r>
              <a:rPr dirty="0">
                <a:latin typeface="Consolas"/>
              </a:rPr>
              <a:t>┌───────────┐    ┌───────────</a:t>
            </a:r>
            <a:r>
              <a:rPr lang="en-US" dirty="0">
                <a:latin typeface="Consolas"/>
              </a:rPr>
              <a:t>─</a:t>
            </a:r>
            <a:r>
              <a:rPr dirty="0">
                <a:latin typeface="Consolas"/>
              </a:rPr>
              <a:t>──┐    ┌─────────────────┐</a:t>
            </a:r>
            <a:br>
              <a:rPr sz="6600" dirty="0"/>
            </a:br>
            <a:r>
              <a:rPr dirty="0">
                <a:latin typeface="Consolas"/>
              </a:rPr>
              <a:t>│ Create    │───&gt;│ </a:t>
            </a:r>
            <a:r>
              <a:rPr dirty="0" err="1">
                <a:latin typeface="Consolas"/>
              </a:rPr>
              <a:t>DeviceCreated</a:t>
            </a:r>
            <a:r>
              <a:rPr dirty="0">
                <a:latin typeface="Consolas"/>
              </a:rPr>
              <a:t>│───&gt;│                 │</a:t>
            </a:r>
            <a:br>
              <a:rPr sz="6600" dirty="0"/>
            </a:br>
            <a:r>
              <a:rPr dirty="0">
                <a:latin typeface="Consolas"/>
              </a:rPr>
              <a:t>│ Device    │    │   Event    </a:t>
            </a:r>
            <a:r>
              <a:rPr lang="en-US" dirty="0">
                <a:latin typeface="Consolas"/>
              </a:rPr>
              <a:t> </a:t>
            </a:r>
            <a:r>
              <a:rPr dirty="0">
                <a:latin typeface="Consolas"/>
              </a:rPr>
              <a:t> │    │     Current     │</a:t>
            </a:r>
            <a:br>
              <a:rPr sz="6600" dirty="0"/>
            </a:br>
            <a:r>
              <a:rPr dirty="0">
                <a:latin typeface="Consolas"/>
              </a:rPr>
              <a:t>└───────────┘    └───────────</a:t>
            </a:r>
            <a:r>
              <a:rPr lang="en-US" dirty="0">
                <a:latin typeface="Consolas"/>
              </a:rPr>
              <a:t>─</a:t>
            </a:r>
            <a:r>
              <a:rPr dirty="0">
                <a:latin typeface="Consolas"/>
              </a:rPr>
              <a:t>──┘    │      State      │</a:t>
            </a:r>
            <a:br>
              <a:rPr sz="6600" dirty="0"/>
            </a:br>
            <a:r>
              <a:rPr dirty="0">
                <a:latin typeface="Consolas"/>
              </a:rPr>
              <a:t>                                     │                 │</a:t>
            </a:r>
            <a:br>
              <a:rPr sz="6600" dirty="0"/>
            </a:br>
            <a:r>
              <a:rPr dirty="0">
                <a:latin typeface="Consolas"/>
              </a:rPr>
              <a:t>┌───────────┐    ┌─────────────</a:t>
            </a:r>
            <a:r>
              <a:rPr lang="en-US" dirty="0">
                <a:latin typeface="Consolas"/>
              </a:rPr>
              <a:t>─</a:t>
            </a:r>
            <a:r>
              <a:rPr dirty="0">
                <a:latin typeface="Consolas"/>
              </a:rPr>
              <a:t>┐    │   (Projection   │</a:t>
            </a:r>
            <a:br>
              <a:rPr sz="6600" dirty="0"/>
            </a:br>
            <a:r>
              <a:rPr dirty="0">
                <a:latin typeface="Consolas"/>
              </a:rPr>
              <a:t>│ Configure │───&gt;│</a:t>
            </a:r>
            <a:r>
              <a:rPr dirty="0" err="1">
                <a:latin typeface="Consolas"/>
              </a:rPr>
              <a:t>ConfigChanged</a:t>
            </a:r>
            <a:r>
              <a:rPr lang="en-US" dirty="0">
                <a:latin typeface="Consolas"/>
              </a:rPr>
              <a:t> </a:t>
            </a:r>
            <a:r>
              <a:rPr dirty="0">
                <a:latin typeface="Consolas"/>
              </a:rPr>
              <a:t>│───&gt;│   from Events)  │</a:t>
            </a:r>
            <a:br>
              <a:rPr sz="6600" dirty="0"/>
            </a:br>
            <a:r>
              <a:rPr dirty="0">
                <a:latin typeface="Consolas"/>
              </a:rPr>
              <a:t>│ Device    │    │   Event     </a:t>
            </a:r>
            <a:r>
              <a:rPr lang="en-US" dirty="0">
                <a:latin typeface="Consolas"/>
              </a:rPr>
              <a:t> </a:t>
            </a:r>
            <a:r>
              <a:rPr dirty="0">
                <a:latin typeface="Consolas"/>
              </a:rPr>
              <a:t>│    │                 │</a:t>
            </a:r>
            <a:br>
              <a:rPr sz="6600" dirty="0"/>
            </a:br>
            <a:r>
              <a:rPr dirty="0">
                <a:latin typeface="Consolas"/>
              </a:rPr>
              <a:t>└───────────┘    └─────────────</a:t>
            </a:r>
            <a:r>
              <a:rPr lang="en-US" dirty="0">
                <a:latin typeface="Consolas"/>
              </a:rPr>
              <a:t>─</a:t>
            </a:r>
            <a:r>
              <a:rPr dirty="0">
                <a:latin typeface="Consolas"/>
              </a:rPr>
              <a:t>┘   </a:t>
            </a:r>
            <a:r>
              <a:rPr lang="en-US" dirty="0">
                <a:latin typeface="Consolas"/>
              </a:rPr>
              <a:t> </a:t>
            </a:r>
            <a:r>
              <a:rPr dirty="0">
                <a:latin typeface="Consolas"/>
              </a:rPr>
              <a:t>└─────────────────┘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Circuit Breaker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latin typeface="Consolas"/>
              </a:rPr>
              <a:t>CLOSED                    OPEN                    HALF-OPEN</a:t>
            </a:r>
            <a:br>
              <a:rPr sz="6000" dirty="0"/>
            </a:br>
            <a:r>
              <a:rPr sz="2000" dirty="0">
                <a:latin typeface="Consolas"/>
              </a:rPr>
              <a:t>┌─────────────────┐      ┌─────────────────┐      ┌─────────────────┐</a:t>
            </a:r>
            <a:br>
              <a:rPr sz="6000" dirty="0"/>
            </a:br>
            <a:r>
              <a:rPr sz="2000" dirty="0">
                <a:latin typeface="Consolas"/>
              </a:rPr>
              <a:t>│ Normal          │      │ Service Down    │      │ Testing         │</a:t>
            </a:r>
            <a:br>
              <a:rPr sz="6000" dirty="0"/>
            </a:br>
            <a:r>
              <a:rPr sz="2000" dirty="0">
                <a:latin typeface="Consolas"/>
              </a:rPr>
              <a:t>│ Operation       │─────&gt;│ Fast Fail       │─────&gt;│ Recovery        │</a:t>
            </a:r>
            <a:br>
              <a:rPr sz="6000" dirty="0"/>
            </a:br>
            <a:r>
              <a:rPr sz="2000" dirty="0">
                <a:latin typeface="Consolas"/>
              </a:rPr>
              <a:t>│                 │      │                 │      │                 │</a:t>
            </a:r>
            <a:br>
              <a:rPr sz="6000" dirty="0"/>
            </a:br>
            <a:r>
              <a:rPr sz="2000" dirty="0">
                <a:latin typeface="Consolas"/>
              </a:rPr>
              <a:t>│ Success Rate    │      │ Timeout Period  │      │ Limited Calls   │</a:t>
            </a:r>
            <a:br>
              <a:rPr sz="6000" dirty="0"/>
            </a:br>
            <a:r>
              <a:rPr sz="2000" dirty="0">
                <a:latin typeface="Consolas"/>
              </a:rPr>
              <a:t>│ &gt; Threshold     │      │ Elapsed         │      │                 │</a:t>
            </a:r>
            <a:br>
              <a:rPr sz="6000" dirty="0"/>
            </a:br>
            <a:r>
              <a:rPr sz="2000" dirty="0">
                <a:latin typeface="Consolas"/>
              </a:rPr>
              <a:t>└─────────────────┘      └─────────────────┘      └─────────────────┘</a:t>
            </a:r>
            <a:br>
              <a:rPr sz="6000" dirty="0"/>
            </a:br>
            <a:r>
              <a:rPr sz="2000" dirty="0">
                <a:latin typeface="Consolas"/>
              </a:rPr>
              <a:t>         ▲                                                  │</a:t>
            </a:r>
            <a:br>
              <a:rPr sz="6000" dirty="0"/>
            </a:br>
            <a:r>
              <a:rPr sz="2000" dirty="0">
                <a:latin typeface="Consolas"/>
              </a:rPr>
              <a:t>         └──────────────────────────────────────────────────┘</a:t>
            </a:r>
            <a:br>
              <a:rPr sz="6000" dirty="0"/>
            </a:br>
            <a:r>
              <a:rPr sz="2000" dirty="0">
                <a:latin typeface="Consolas"/>
              </a:rPr>
              <a:t>                         Success Rate &gt;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Saga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Pattern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latin typeface="Consolas"/>
              </a:rPr>
              <a:t>Choreography Saga:           Orchestration Saga:</a:t>
            </a:r>
            <a:br>
              <a:rPr sz="6600" dirty="0"/>
            </a:br>
            <a:r>
              <a:rPr dirty="0">
                <a:latin typeface="Consolas"/>
              </a:rPr>
              <a:t>                            </a:t>
            </a:r>
            <a:br>
              <a:rPr sz="6600" dirty="0"/>
            </a:br>
            <a:r>
              <a:rPr dirty="0">
                <a:latin typeface="Consolas"/>
              </a:rPr>
              <a:t>Service A ──&gt; Service B      ┌─────────────────┐</a:t>
            </a:r>
            <a:br>
              <a:rPr sz="6600" dirty="0"/>
            </a:br>
            <a:r>
              <a:rPr dirty="0">
                <a:latin typeface="Consolas"/>
              </a:rPr>
              <a:t>    │             │          │ Saga Manager   </a:t>
            </a:r>
            <a:r>
              <a:rPr lang="en-US" dirty="0">
                <a:latin typeface="Consolas"/>
              </a:rPr>
              <a:t> </a:t>
            </a:r>
            <a:r>
              <a:rPr dirty="0">
                <a:latin typeface="Consolas"/>
              </a:rPr>
              <a:t>│</a:t>
            </a:r>
            <a:br>
              <a:rPr sz="6600" dirty="0"/>
            </a:br>
            <a:r>
              <a:rPr dirty="0">
                <a:latin typeface="Consolas"/>
              </a:rPr>
              <a:t>    ▼             ▼         </a:t>
            </a:r>
            <a:r>
              <a:rPr lang="en-US" sz="2000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│</a:t>
            </a:r>
            <a:r>
              <a:rPr dirty="0">
                <a:latin typeface="Consolas"/>
              </a:rPr>
              <a:t>                 │</a:t>
            </a:r>
            <a:br>
              <a:rPr sz="6600" dirty="0"/>
            </a:br>
            <a:r>
              <a:rPr dirty="0">
                <a:latin typeface="Consolas"/>
              </a:rPr>
              <a:t>Service C ──&gt; Service D      │ 1. Service A    │</a:t>
            </a:r>
            <a:br>
              <a:rPr sz="6600" dirty="0"/>
            </a:br>
            <a:r>
              <a:rPr dirty="0">
                <a:latin typeface="Consolas"/>
              </a:rPr>
              <a:t>                             │ 2. Service B    │</a:t>
            </a:r>
            <a:br>
              <a:rPr sz="6600" dirty="0"/>
            </a:br>
            <a:r>
              <a:rPr dirty="0">
                <a:latin typeface="Consolas"/>
              </a:rPr>
              <a:t>Event-driven,                │ 3. Service C    │</a:t>
            </a:r>
            <a:br>
              <a:rPr sz="6600" dirty="0"/>
            </a:br>
            <a:r>
              <a:rPr dirty="0">
                <a:latin typeface="Consolas"/>
              </a:rPr>
              <a:t>Distributed control          │ 4. Rollback?    │</a:t>
            </a:r>
            <a:br>
              <a:rPr sz="6600" dirty="0"/>
            </a:br>
            <a:r>
              <a:rPr dirty="0">
                <a:latin typeface="Consolas"/>
              </a:rPr>
              <a:t>                             └─────────────────┘</a:t>
            </a:r>
            <a:br>
              <a:rPr sz="6600" dirty="0"/>
            </a:br>
            <a:r>
              <a:rPr dirty="0">
                <a:latin typeface="Consolas"/>
              </a:rPr>
              <a:t>                             </a:t>
            </a:r>
            <a:br>
              <a:rPr sz="6600" dirty="0"/>
            </a:br>
            <a:r>
              <a:rPr dirty="0">
                <a:latin typeface="Consolas"/>
              </a:rPr>
              <a:t>                             Centralized control,</a:t>
            </a:r>
            <a:br>
              <a:rPr sz="6600" dirty="0"/>
            </a:br>
            <a:r>
              <a:rPr dirty="0">
                <a:latin typeface="Consolas"/>
              </a:rPr>
              <a:t>                             Explicit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Gateway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Consolas"/>
              </a:rPr>
              <a:t>Client Requests</a:t>
            </a:r>
            <a:br>
              <a:rPr sz="5400" dirty="0"/>
            </a:br>
            <a:r>
              <a:rPr sz="1800" dirty="0">
                <a:latin typeface="Consolas"/>
              </a:rPr>
              <a:t>               │</a:t>
            </a:r>
            <a:br>
              <a:rPr sz="5400" dirty="0"/>
            </a:br>
            <a:r>
              <a:rPr sz="1800" dirty="0">
                <a:latin typeface="Consolas"/>
              </a:rPr>
              <a:t>               ▼</a:t>
            </a:r>
            <a:br>
              <a:rPr sz="5400" dirty="0"/>
            </a:br>
            <a:r>
              <a:rPr sz="1800" dirty="0">
                <a:latin typeface="Consolas"/>
              </a:rPr>
              <a:t>    ┌─────────────────────┐</a:t>
            </a:r>
            <a:br>
              <a:rPr sz="5400" dirty="0"/>
            </a:br>
            <a:r>
              <a:rPr sz="1800" dirty="0">
                <a:latin typeface="Consolas"/>
              </a:rPr>
              <a:t>    │   API Gateway       │</a:t>
            </a:r>
            <a:br>
              <a:rPr sz="5400" dirty="0"/>
            </a:br>
            <a:r>
              <a:rPr sz="1800" dirty="0">
                <a:latin typeface="Consolas"/>
              </a:rPr>
              <a:t>    │                     │</a:t>
            </a:r>
            <a:br>
              <a:rPr sz="5400" dirty="0"/>
            </a:br>
            <a:r>
              <a:rPr sz="1800" dirty="0">
                <a:latin typeface="Consolas"/>
              </a:rPr>
              <a:t>    │ - Authentication    │</a:t>
            </a:r>
            <a:br>
              <a:rPr sz="5400" dirty="0"/>
            </a:br>
            <a:r>
              <a:rPr sz="1800" dirty="0">
                <a:latin typeface="Consolas"/>
              </a:rPr>
              <a:t>    │ - Authorization     │</a:t>
            </a:r>
            <a:br>
              <a:rPr sz="5400" dirty="0"/>
            </a:br>
            <a:r>
              <a:rPr sz="1800" dirty="0">
                <a:latin typeface="Consolas"/>
              </a:rPr>
              <a:t>    │ - Rate Limiting     │</a:t>
            </a:r>
            <a:br>
              <a:rPr sz="5400" dirty="0"/>
            </a:br>
            <a:r>
              <a:rPr sz="1800" dirty="0">
                <a:latin typeface="Consolas"/>
              </a:rPr>
              <a:t>    │ - Load Balancing    │</a:t>
            </a:r>
            <a:br>
              <a:rPr sz="5400" dirty="0"/>
            </a:br>
            <a:r>
              <a:rPr sz="1800" dirty="0">
                <a:latin typeface="Consolas"/>
              </a:rPr>
              <a:t>    │ - Request Routing   │</a:t>
            </a:r>
            <a:br>
              <a:rPr sz="5400" dirty="0"/>
            </a:br>
            <a:r>
              <a:rPr sz="1800" dirty="0">
                <a:latin typeface="Consolas"/>
              </a:rPr>
              <a:t>    │ - Response Caching  │</a:t>
            </a:r>
            <a:br>
              <a:rPr sz="5400" dirty="0"/>
            </a:br>
            <a:r>
              <a:rPr sz="1800" dirty="0">
                <a:latin typeface="Consolas"/>
              </a:rPr>
              <a:t>    │ - Monitoring        │</a:t>
            </a:r>
            <a:br>
              <a:rPr sz="5400" dirty="0"/>
            </a:br>
            <a:r>
              <a:rPr sz="1800" dirty="0">
                <a:latin typeface="Consolas"/>
              </a:rPr>
              <a:t>    └─────────────────────┘</a:t>
            </a:r>
            <a:br>
              <a:rPr sz="5400" dirty="0"/>
            </a:br>
            <a:r>
              <a:rPr sz="1800" dirty="0">
                <a:latin typeface="Consolas"/>
              </a:rPr>
              <a:t>               │</a:t>
            </a:r>
            <a:br>
              <a:rPr sz="5400" dirty="0"/>
            </a:br>
            <a:r>
              <a:rPr sz="1800" dirty="0">
                <a:latin typeface="Consolas"/>
              </a:rPr>
              <a:t>               ▼</a:t>
            </a:r>
            <a:br>
              <a:rPr sz="5400" dirty="0"/>
            </a:br>
            <a:r>
              <a:rPr sz="1800" dirty="0">
                <a:latin typeface="Consolas"/>
              </a:rPr>
              <a:t>    ┌─────────┬─────────┬─────────┐</a:t>
            </a:r>
            <a:br>
              <a:rPr sz="5400" dirty="0"/>
            </a:br>
            <a:r>
              <a:rPr sz="1800" dirty="0">
                <a:latin typeface="Consolas"/>
              </a:rPr>
              <a:t>    │Service </a:t>
            </a:r>
            <a:r>
              <a:rPr sz="1800" dirty="0" err="1">
                <a:latin typeface="Consolas"/>
              </a:rPr>
              <a:t>A│Service</a:t>
            </a:r>
            <a:r>
              <a:rPr sz="1800" dirty="0">
                <a:latin typeface="Consolas"/>
              </a:rPr>
              <a:t> </a:t>
            </a:r>
            <a:r>
              <a:rPr sz="1800" dirty="0" err="1">
                <a:latin typeface="Consolas"/>
              </a:rPr>
              <a:t>B│Service</a:t>
            </a:r>
            <a:r>
              <a:rPr sz="1800" dirty="0">
                <a:latin typeface="Consolas"/>
              </a:rPr>
              <a:t> C│</a:t>
            </a:r>
            <a:br>
              <a:rPr sz="5400" dirty="0"/>
            </a:br>
            <a:r>
              <a:rPr sz="1800" dirty="0">
                <a:latin typeface="Consolas"/>
              </a:rPr>
              <a:t>    └─────────┴─────────┴─────────┘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 Mesh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Mesh Architecture (Istio)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Consolas"/>
              </a:rPr>
              <a:t>┌──────────────────────────────────────────────────────┐</a:t>
            </a:r>
            <a:br>
              <a:rPr sz="4400" dirty="0"/>
            </a:br>
            <a:r>
              <a:rPr sz="1400" dirty="0">
                <a:latin typeface="Consolas"/>
              </a:rPr>
              <a:t>│                Control Plane                         │</a:t>
            </a:r>
            <a:br>
              <a:rPr sz="4400" dirty="0"/>
            </a:br>
            <a:r>
              <a:rPr sz="1400" dirty="0">
                <a:latin typeface="Consolas"/>
              </a:rPr>
              <a:t>│ ┌─────────────┐ ┌─────────────┐ ┌─────────────┐      │</a:t>
            </a:r>
            <a:br>
              <a:rPr sz="4400" dirty="0"/>
            </a:br>
            <a:r>
              <a:rPr sz="1400" dirty="0">
                <a:latin typeface="Consolas"/>
              </a:rPr>
              <a:t>│ │   Pilot     │ │   Citadel   │ │   Mixer     │      │</a:t>
            </a:r>
            <a:br>
              <a:rPr sz="4400" dirty="0"/>
            </a:br>
            <a:r>
              <a:rPr sz="1400" dirty="0">
                <a:latin typeface="Consolas"/>
              </a:rPr>
              <a:t>│ │ (Discovery) │ │ (Security)  │ │ (Telemetry) │      │</a:t>
            </a:r>
            <a:br>
              <a:rPr sz="4400" dirty="0"/>
            </a:br>
            <a:r>
              <a:rPr sz="1400" dirty="0">
                <a:latin typeface="Consolas"/>
              </a:rPr>
              <a:t>│ └─────────────┘ └─────────────┘ └─────────────┘      │</a:t>
            </a:r>
            <a:br>
              <a:rPr sz="4400" dirty="0"/>
            </a:br>
            <a:r>
              <a:rPr sz="1400" dirty="0">
                <a:latin typeface="Consolas"/>
              </a:rPr>
              <a:t>└──────────────────────────────────────────────────────┘</a:t>
            </a:r>
            <a:br>
              <a:rPr sz="4400" dirty="0"/>
            </a:br>
            <a:r>
              <a:rPr sz="1400" dirty="0">
                <a:latin typeface="Consolas"/>
              </a:rPr>
              <a:t>                        │</a:t>
            </a:r>
            <a:br>
              <a:rPr sz="4400" dirty="0"/>
            </a:br>
            <a:r>
              <a:rPr sz="1400" dirty="0">
                <a:latin typeface="Consolas"/>
              </a:rPr>
              <a:t>                        ▼ (Configuration)</a:t>
            </a:r>
            <a:br>
              <a:rPr sz="4400" dirty="0"/>
            </a:br>
            <a:r>
              <a:rPr sz="1400" dirty="0">
                <a:latin typeface="Consolas"/>
              </a:rPr>
              <a:t>┌─────────────┐     ┌─────────────┐     ┌─────────────┐</a:t>
            </a:r>
            <a:br>
              <a:rPr sz="4400" dirty="0"/>
            </a:br>
            <a:r>
              <a:rPr sz="1400" dirty="0">
                <a:latin typeface="Consolas"/>
              </a:rPr>
              <a:t>│ Service A   │     │ Service B   │     │ Service C   │</a:t>
            </a:r>
            <a:br>
              <a:rPr sz="4400" dirty="0"/>
            </a:br>
            <a:r>
              <a:rPr sz="1400" dirty="0">
                <a:latin typeface="Consolas"/>
              </a:rPr>
              <a:t>│             │     │             │     │             │</a:t>
            </a:r>
            <a:br>
              <a:rPr sz="4400" dirty="0"/>
            </a:br>
            <a:r>
              <a:rPr sz="1400" dirty="0">
                <a:latin typeface="Consolas"/>
              </a:rPr>
              <a:t>│ ┌─────────┐ │◄────┤ ┌─────────┐ │◄────┤ ┌─────────┐ │</a:t>
            </a:r>
            <a:br>
              <a:rPr sz="4400" dirty="0"/>
            </a:br>
            <a:r>
              <a:rPr sz="1400" dirty="0">
                <a:latin typeface="Consolas"/>
              </a:rPr>
              <a:t>│ │ Proxy   │ │     │ │ Proxy   │ │     │ │ Proxy   │ │</a:t>
            </a:r>
            <a:br>
              <a:rPr sz="4400" dirty="0"/>
            </a:br>
            <a:r>
              <a:rPr sz="1400" dirty="0">
                <a:latin typeface="Consolas"/>
              </a:rPr>
              <a:t>│ │(Envoy)  │ │     │ │(Envoy)  │ │     │ │(Envoy)  │ │</a:t>
            </a:r>
            <a:br>
              <a:rPr sz="4400" dirty="0"/>
            </a:br>
            <a:r>
              <a:rPr sz="1400" dirty="0">
                <a:latin typeface="Consolas"/>
              </a:rPr>
              <a:t>│ └─────────┘ │     │ └─────────┘ │     │ └─────────┘ │</a:t>
            </a:r>
            <a:br>
              <a:rPr sz="4400" dirty="0"/>
            </a:br>
            <a:r>
              <a:rPr sz="1400" dirty="0">
                <a:latin typeface="Consolas"/>
              </a:rPr>
              <a:t>└─────────────┘     └─────────────┘     └─────────────┘</a:t>
            </a:r>
            <a:br>
              <a:rPr sz="4400" dirty="0"/>
            </a:br>
            <a:br>
              <a:rPr sz="4400" dirty="0"/>
            </a:br>
            <a:r>
              <a:rPr sz="1400" dirty="0">
                <a:latin typeface="Consolas"/>
              </a:rPr>
              <a:t>Data Plane: Envoy Proxies handle all traffic</a:t>
            </a:r>
            <a:br>
              <a:rPr sz="4400" dirty="0"/>
            </a:br>
            <a:r>
              <a:rPr sz="1400" dirty="0">
                <a:latin typeface="Consolas"/>
              </a:rPr>
              <a:t>Control Plane: Configures and monitors proxies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Bulkhead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Bulkhead Pattern - Resource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Consolas"/>
              </a:rPr>
              <a:t>Thread Pools per Client Type:</a:t>
            </a:r>
            <a:br>
              <a:rPr sz="5400" dirty="0"/>
            </a:br>
            <a:r>
              <a:rPr sz="1800" dirty="0">
                <a:latin typeface="Consolas"/>
              </a:rPr>
              <a:t>┌─────────────────────────────────────────────────┐</a:t>
            </a:r>
            <a:br>
              <a:rPr sz="5400" dirty="0"/>
            </a:br>
            <a:r>
              <a:rPr sz="1800" dirty="0">
                <a:latin typeface="Consolas"/>
              </a:rPr>
              <a:t>│                Service                          │</a:t>
            </a:r>
            <a:br>
              <a:rPr sz="5400" dirty="0"/>
            </a:br>
            <a:r>
              <a:rPr sz="1800" dirty="0">
                <a:latin typeface="Consolas"/>
              </a:rPr>
              <a:t>│                                                 │</a:t>
            </a:r>
            <a:br>
              <a:rPr sz="5400" dirty="0"/>
            </a:br>
            <a:r>
              <a:rPr sz="1800" dirty="0">
                <a:latin typeface="Consolas"/>
              </a:rPr>
              <a:t>│ ┌─────────────┐ ┌─────────────┐ ┌─────────────┐ │</a:t>
            </a:r>
            <a:br>
              <a:rPr sz="5400" dirty="0"/>
            </a:br>
            <a:r>
              <a:rPr sz="1800" dirty="0">
                <a:latin typeface="Consolas"/>
              </a:rPr>
              <a:t>│ │Premium      │ │Standard     │ │Basic        │ │</a:t>
            </a:r>
            <a:br>
              <a:rPr sz="5400" dirty="0"/>
            </a:br>
            <a:r>
              <a:rPr sz="1800" dirty="0">
                <a:latin typeface="Consolas"/>
              </a:rPr>
              <a:t>│ │Clients      │ │Clients      │ │Clients      │ │</a:t>
            </a:r>
            <a:br>
              <a:rPr sz="5400" dirty="0"/>
            </a:br>
            <a:r>
              <a:rPr sz="1800" dirty="0">
                <a:latin typeface="Consolas"/>
              </a:rPr>
              <a:t>│ │             │ │             │ │             │ │</a:t>
            </a:r>
            <a:br>
              <a:rPr sz="5400" dirty="0"/>
            </a:br>
            <a:r>
              <a:rPr sz="1800" dirty="0">
                <a:latin typeface="Consolas"/>
              </a:rPr>
              <a:t>│ │Thread Pool  │ │Thread Pool  │ │Thread Pool  │ │</a:t>
            </a:r>
            <a:br>
              <a:rPr sz="5400" dirty="0"/>
            </a:br>
            <a:r>
              <a:rPr sz="1800" dirty="0">
                <a:latin typeface="Consolas"/>
              </a:rPr>
              <a:t>│ │Size: 50     │ │Size: 30     │ │Size: 20     │ │</a:t>
            </a:r>
            <a:br>
              <a:rPr sz="5400" dirty="0"/>
            </a:br>
            <a:r>
              <a:rPr sz="1800" dirty="0">
                <a:latin typeface="Consolas"/>
              </a:rPr>
              <a:t>│ └─────────────┘ └─────────────┘ └─────────────┘ │</a:t>
            </a:r>
            <a:br>
              <a:rPr sz="5400" dirty="0"/>
            </a:br>
            <a:r>
              <a:rPr sz="1800" dirty="0">
                <a:latin typeface="Consolas"/>
              </a:rPr>
              <a:t>└─────────────────────────────────────────────────┘</a:t>
            </a:r>
            <a:br>
              <a:rPr sz="5400" dirty="0"/>
            </a:br>
            <a:br>
              <a:rPr sz="5400" dirty="0"/>
            </a:br>
            <a:r>
              <a:rPr sz="1800" dirty="0">
                <a:latin typeface="Consolas"/>
              </a:rPr>
              <a:t>Benefit: Basic clients cannot starve Premium clients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Domain-Driven Design (DDD)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CQRS -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CQRS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Sourcing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Pattern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Mesh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Bulkhead Pattern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Domain-Driven Design - Vorteile/Nachteile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807</Words>
  <Application>Microsoft Macintosh PowerPoint</Application>
  <PresentationFormat>Widescreen</PresentationFormat>
  <Paragraphs>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Consolas</vt:lpstr>
      <vt:lpstr>Open Sans</vt:lpstr>
      <vt:lpstr>Open Sans Light</vt:lpstr>
      <vt:lpstr>Source Code Pro</vt:lpstr>
      <vt:lpstr>Custom Design</vt:lpstr>
      <vt:lpstr>Architectural Patterns - Part 2</vt:lpstr>
      <vt:lpstr>CQRS (Command Query Responsibility Segregation)</vt:lpstr>
      <vt:lpstr>CQRS Pattern</vt:lpstr>
      <vt:lpstr>CQRS - Trade-offs</vt:lpstr>
      <vt:lpstr>Event Sourcing</vt:lpstr>
      <vt:lpstr>Event Sourcing Pattern</vt:lpstr>
      <vt:lpstr>Circuit Breaker Pattern</vt:lpstr>
      <vt:lpstr>Circuit Breaker State Machine</vt:lpstr>
      <vt:lpstr>Saga Pattern</vt:lpstr>
      <vt:lpstr>Saga Pattern Types</vt:lpstr>
      <vt:lpstr>API Gateway Pattern</vt:lpstr>
      <vt:lpstr>API Gateway Architecture</vt:lpstr>
      <vt:lpstr>Service Mesh</vt:lpstr>
      <vt:lpstr>Service Mesh Architecture (Istio)</vt:lpstr>
      <vt:lpstr>Bulkhead Pattern</vt:lpstr>
      <vt:lpstr>Bulkhead Pattern - Resource Isolation</vt:lpstr>
      <vt:lpstr>Domain-Driven Design (DDD)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12</cp:revision>
  <dcterms:created xsi:type="dcterms:W3CDTF">2025-09-10T03:57:45Z</dcterms:created>
  <dcterms:modified xsi:type="dcterms:W3CDTF">2025-09-10T18:33:58Z</dcterms:modified>
</cp:coreProperties>
</file>