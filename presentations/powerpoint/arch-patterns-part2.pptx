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sldIdLst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31"/>
    <p:sldId id="274" r:id="rId30"/>
    <p:sldId id="275" r:id="rId29"/>
    <p:sldId id="276" r:id="rId28"/>
    <p:sldId id="277" r:id="rId27"/>
    <p:sldId id="278" r:id="rId26"/>
    <p:sldId id="279" r:id="rId24"/>
    <p:sldId id="280" r:id="rId23"/>
    <p:sldId id="281" r:id="rId5"/>
    <p:sldId id="282" r:id="rId41"/>
    <p:sldId id="283" r:id="rId42"/>
    <p:sldId id="284" r:id="rId43"/>
    <p:sldId id="285" r:id="rId44"/>
    <p:sldId id="286" r:id="rId45"/>
    <p:sldId id="287" r:id="rId46"/>
    <p:sldId id="288" r:id="rId47"/>
    <p:sldId id="289" r:id="rId48"/>
    <p:sldId id="290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25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24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22.xml"/><Relationship Id="rId27" Type="http://schemas.openxmlformats.org/officeDocument/2006/relationships/slide" Target="slides/slide21.xml"/><Relationship Id="rId28" Type="http://schemas.openxmlformats.org/officeDocument/2006/relationships/slide" Target="slides/slide20.xml"/><Relationship Id="rId29" Type="http://schemas.openxmlformats.org/officeDocument/2006/relationships/slide" Target="slides/slide19.xml"/><Relationship Id="rId30" Type="http://schemas.openxmlformats.org/officeDocument/2006/relationships/slide" Target="slides/slide18.xml"/><Relationship Id="rId31" Type="http://schemas.openxmlformats.org/officeDocument/2006/relationships/slide" Target="slides/slide17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Architectural Patterns - Part 2: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CQRS (Command Query Responsibility Segregation):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CQRS Pattern: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Event Sourcing: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Event Sourcing Pattern: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Circuit Breaker Pattern: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Circuit Breaker State Machine: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Saga Pattern: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Saga Pattern Types: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API Gateway Pattern: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API Gateway Architecture: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Service Mesh: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Service Mesh Architecture (Istio):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Bulkhead Pattern: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Bulkhead Pattern - Resource Isolation: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Domain-Driven Design (DDD):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Architectural Patterns - Part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/>
          </a:bodyPr>
          <a:lstStyle/>
          <a:p>
            <a:r>
              <a:t>Enterprise Architecture Patterns für Skalierbarkeit und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CQRS (Command Query Responsibility Segregation)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CQRS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latin typeface="Consolas"/>
              </a:rPr>
              <a:t>Command Side              Event Store           Query Side</a:t>
            </a:r>
            <a:br>
              <a:rPr sz="6000" dirty="0"/>
            </a:br>
            <a:r>
              <a:rPr sz="2000" dirty="0">
                <a:latin typeface="Consolas"/>
              </a:rPr>
              <a:t>┌──────────────────────┐  ┌─────────────────┐  ┌──────────────────────┐</a:t>
            </a:r>
            <a:br>
              <a:rPr sz="6000" dirty="0"/>
            </a:br>
            <a:r>
              <a:rPr sz="2000" dirty="0">
                <a:latin typeface="Consolas"/>
              </a:rPr>
              <a:t>│ Write Model          │  │   Events       </a:t>
            </a:r>
            <a:r>
              <a:rPr lang="en-US" sz="2000" dirty="0">
                <a:latin typeface="Consolas"/>
              </a:rPr>
              <a:t> </a:t>
            </a:r>
            <a:r>
              <a:rPr sz="2000" dirty="0">
                <a:latin typeface="Consolas"/>
              </a:rPr>
              <a:t>│  │ Read Model      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│                      │  │                 │  │                 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│ - Normalized         │─&gt;│ Event Bus      </a:t>
            </a:r>
            <a:r>
              <a:rPr lang="en-US" sz="2000" dirty="0">
                <a:latin typeface="Consolas"/>
              </a:rPr>
              <a:t> </a:t>
            </a:r>
            <a:r>
              <a:rPr sz="2000" dirty="0">
                <a:latin typeface="Consolas"/>
              </a:rPr>
              <a:t>│─&gt;│ - Denormalized  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│ - PostgreSQL         │  │ Command/Query  </a:t>
            </a:r>
            <a:r>
              <a:rPr lang="en-US" sz="2000" dirty="0">
                <a:latin typeface="Consolas"/>
              </a:rPr>
              <a:t> </a:t>
            </a:r>
            <a:r>
              <a:rPr sz="2000" dirty="0">
                <a:latin typeface="Consolas"/>
              </a:rPr>
              <a:t>│  │ - Elasticsearch 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│ - ACID Transactions  │  │ Sync           </a:t>
            </a:r>
            <a:r>
              <a:rPr lang="en-US" sz="2000" dirty="0">
                <a:latin typeface="Consolas"/>
              </a:rPr>
              <a:t> </a:t>
            </a:r>
            <a:r>
              <a:rPr sz="2000" dirty="0">
                <a:latin typeface="Consolas"/>
              </a:rPr>
              <a:t>│  │ - Read Optimized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└──────────────────────┘  └─────────────────┘  └──────────────────────┘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Event Sourcing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Sourcing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latin typeface="Consolas"/>
              </a:rPr>
              <a:t>Commands            Events              Current State</a:t>
            </a:r>
            <a:br>
              <a:rPr sz="6600" dirty="0"/>
            </a:br>
            <a:r>
              <a:rPr dirty="0">
                <a:latin typeface="Consolas"/>
              </a:rPr>
              <a:t>┌───────────┐    ┌───────────</a:t>
            </a:r>
            <a:r>
              <a:rPr lang="en-US" dirty="0">
                <a:latin typeface="Consolas"/>
              </a:rPr>
              <a:t>─</a:t>
            </a:r>
            <a:r>
              <a:rPr dirty="0">
                <a:latin typeface="Consolas"/>
              </a:rPr>
              <a:t>──┐    ┌─────────────────┐</a:t>
            </a:r>
            <a:br>
              <a:rPr sz="6600" dirty="0"/>
            </a:br>
            <a:r>
              <a:rPr dirty="0">
                <a:latin typeface="Consolas"/>
              </a:rPr>
              <a:t>│ Create    │───&gt;│ </a:t>
            </a:r>
            <a:r>
              <a:rPr dirty="0" err="1">
                <a:latin typeface="Consolas"/>
              </a:rPr>
              <a:t>DeviceCreated</a:t>
            </a:r>
            <a:r>
              <a:rPr dirty="0">
                <a:latin typeface="Consolas"/>
              </a:rPr>
              <a:t>│───&gt;│                 │</a:t>
            </a:r>
            <a:br>
              <a:rPr sz="6600" dirty="0"/>
            </a:br>
            <a:r>
              <a:rPr dirty="0">
                <a:latin typeface="Consolas"/>
              </a:rPr>
              <a:t>│ Device    │    │   Event    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 │    │     Current     │</a:t>
            </a:r>
            <a:br>
              <a:rPr sz="6600" dirty="0"/>
            </a:br>
            <a:r>
              <a:rPr dirty="0">
                <a:latin typeface="Consolas"/>
              </a:rPr>
              <a:t>└───────────┘    └───────────</a:t>
            </a:r>
            <a:r>
              <a:rPr lang="en-US" dirty="0">
                <a:latin typeface="Consolas"/>
              </a:rPr>
              <a:t>─</a:t>
            </a:r>
            <a:r>
              <a:rPr dirty="0">
                <a:latin typeface="Consolas"/>
              </a:rPr>
              <a:t>──┘    │      State      │</a:t>
            </a:r>
            <a:br>
              <a:rPr sz="6600" dirty="0"/>
            </a:br>
            <a:r>
              <a:rPr dirty="0">
                <a:latin typeface="Consolas"/>
              </a:rPr>
              <a:t>                                     │                 │</a:t>
            </a:r>
            <a:br>
              <a:rPr sz="6600" dirty="0"/>
            </a:br>
            <a:r>
              <a:rPr dirty="0">
                <a:latin typeface="Consolas"/>
              </a:rPr>
              <a:t>┌───────────┐    ┌─────────────</a:t>
            </a:r>
            <a:r>
              <a:rPr lang="en-US" dirty="0">
                <a:latin typeface="Consolas"/>
              </a:rPr>
              <a:t>─</a:t>
            </a:r>
            <a:r>
              <a:rPr dirty="0">
                <a:latin typeface="Consolas"/>
              </a:rPr>
              <a:t>┐    │   (Projection   │</a:t>
            </a:r>
            <a:br>
              <a:rPr sz="6600" dirty="0"/>
            </a:br>
            <a:r>
              <a:rPr dirty="0">
                <a:latin typeface="Consolas"/>
              </a:rPr>
              <a:t>│ Configure │───&gt;│</a:t>
            </a:r>
            <a:r>
              <a:rPr dirty="0" err="1">
                <a:latin typeface="Consolas"/>
              </a:rPr>
              <a:t>ConfigChanged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│───&gt;│   from Events)  │</a:t>
            </a:r>
            <a:br>
              <a:rPr sz="6600" dirty="0"/>
            </a:br>
            <a:r>
              <a:rPr dirty="0">
                <a:latin typeface="Consolas"/>
              </a:rPr>
              <a:t>│ Device    │    │   Event     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│    │                 │</a:t>
            </a:r>
            <a:br>
              <a:rPr sz="6600" dirty="0"/>
            </a:br>
            <a:r>
              <a:rPr dirty="0">
                <a:latin typeface="Consolas"/>
              </a:rPr>
              <a:t>└───────────┘    └─────────────</a:t>
            </a:r>
            <a:r>
              <a:rPr lang="en-US" dirty="0">
                <a:latin typeface="Consolas"/>
              </a:rPr>
              <a:t>─</a:t>
            </a:r>
            <a:r>
              <a:rPr dirty="0">
                <a:latin typeface="Consolas"/>
              </a:rPr>
              <a:t>┘   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└─────────────────┘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Circuit Breaker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Circuit Breaker State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latin typeface="Consolas"/>
              </a:rPr>
              <a:t>CLOSED                    OPEN                    HALF-OPEN</a:t>
            </a:r>
            <a:br>
              <a:rPr sz="6000" dirty="0"/>
            </a:br>
            <a:r>
              <a:rPr sz="2000" dirty="0">
                <a:latin typeface="Consolas"/>
              </a:rPr>
              <a:t>┌─────────────────┐      ┌─────────────────┐      ┌─────────────────┐</a:t>
            </a:r>
            <a:br>
              <a:rPr sz="6000" dirty="0"/>
            </a:br>
            <a:r>
              <a:rPr sz="2000" dirty="0">
                <a:latin typeface="Consolas"/>
              </a:rPr>
              <a:t>│ Normal          │      │ Service Down    │      │ Testing         │</a:t>
            </a:r>
            <a:br>
              <a:rPr sz="6000" dirty="0"/>
            </a:br>
            <a:r>
              <a:rPr sz="2000" dirty="0">
                <a:latin typeface="Consolas"/>
              </a:rPr>
              <a:t>│ Operation       │─────&gt;│ Fast Fail       │─────&gt;│ Recovery        │</a:t>
            </a:r>
            <a:br>
              <a:rPr sz="6000" dirty="0"/>
            </a:br>
            <a:r>
              <a:rPr sz="2000" dirty="0">
                <a:latin typeface="Consolas"/>
              </a:rPr>
              <a:t>│                 │      │                 │      │                 │</a:t>
            </a:r>
            <a:br>
              <a:rPr sz="6000" dirty="0"/>
            </a:br>
            <a:r>
              <a:rPr sz="2000" dirty="0">
                <a:latin typeface="Consolas"/>
              </a:rPr>
              <a:t>│ Success Rate    │      │ Timeout Period  │      │ Limited Calls   │</a:t>
            </a:r>
            <a:br>
              <a:rPr sz="6000" dirty="0"/>
            </a:br>
            <a:r>
              <a:rPr sz="2000" dirty="0">
                <a:latin typeface="Consolas"/>
              </a:rPr>
              <a:t>│ &gt; Threshold     │      │ Elapsed         │      │                 │</a:t>
            </a:r>
            <a:br>
              <a:rPr sz="6000" dirty="0"/>
            </a:br>
            <a:r>
              <a:rPr sz="2000" dirty="0">
                <a:latin typeface="Consolas"/>
              </a:rPr>
              <a:t>└─────────────────┘      └─────────────────┘      └─────────────────┘</a:t>
            </a:r>
            <a:br>
              <a:rPr sz="6000" dirty="0"/>
            </a:br>
            <a:r>
              <a:rPr sz="2000" dirty="0">
                <a:latin typeface="Consolas"/>
              </a:rPr>
              <a:t>         ▲                                                  │</a:t>
            </a:r>
            <a:br>
              <a:rPr sz="6000" dirty="0"/>
            </a:br>
            <a:r>
              <a:rPr sz="2000" dirty="0">
                <a:latin typeface="Consolas"/>
              </a:rPr>
              <a:t>         └──────────────────────────────────────────────────┘</a:t>
            </a:r>
            <a:br>
              <a:rPr sz="6000" dirty="0"/>
            </a:br>
            <a:r>
              <a:rPr sz="2000" dirty="0">
                <a:latin typeface="Consolas"/>
              </a:rPr>
              <a:t>                         Success Rate &gt; Threshold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Saga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Saga Pattern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latin typeface="Consolas"/>
              </a:rPr>
              <a:t>Choreography Saga:           Orchestration Saga:</a:t>
            </a:r>
            <a:br>
              <a:rPr sz="6600" dirty="0"/>
            </a:br>
            <a:r>
              <a:rPr dirty="0">
                <a:latin typeface="Consolas"/>
              </a:rPr>
              <a:t>                            </a:t>
            </a:r>
            <a:br>
              <a:rPr sz="6600" dirty="0"/>
            </a:br>
            <a:r>
              <a:rPr dirty="0">
                <a:latin typeface="Consolas"/>
              </a:rPr>
              <a:t>Service A ──&gt; Service B      ┌─────────────────┐</a:t>
            </a:r>
            <a:br>
              <a:rPr sz="6600" dirty="0"/>
            </a:br>
            <a:r>
              <a:rPr dirty="0">
                <a:latin typeface="Consolas"/>
              </a:rPr>
              <a:t>    │             │          │ Saga Manager   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│</a:t>
            </a:r>
            <a:br>
              <a:rPr sz="6600" dirty="0"/>
            </a:br>
            <a:r>
              <a:rPr dirty="0">
                <a:latin typeface="Consolas"/>
              </a:rPr>
              <a:t>    ▼             ▼         </a:t>
            </a:r>
            <a:r>
              <a:rPr lang="en-US" sz="2000" dirty="0">
                <a:latin typeface="Consolas"/>
              </a:rPr>
              <a:t> </a:t>
            </a:r>
            <a:r>
              <a:rPr lang="en-US" dirty="0">
                <a:latin typeface="Consolas"/>
              </a:rPr>
              <a:t>│</a:t>
            </a:r>
            <a:r>
              <a:rPr dirty="0">
                <a:latin typeface="Consolas"/>
              </a:rPr>
              <a:t>                 │</a:t>
            </a:r>
            <a:br>
              <a:rPr sz="6600" dirty="0"/>
            </a:br>
            <a:r>
              <a:rPr dirty="0">
                <a:latin typeface="Consolas"/>
              </a:rPr>
              <a:t>Service C ──&gt; Service D      │ 1. Service A    │</a:t>
            </a:r>
            <a:br>
              <a:rPr sz="6600" dirty="0"/>
            </a:br>
            <a:r>
              <a:rPr dirty="0">
                <a:latin typeface="Consolas"/>
              </a:rPr>
              <a:t>                             │ 2. Service B    │</a:t>
            </a:r>
            <a:br>
              <a:rPr sz="6600" dirty="0"/>
            </a:br>
            <a:r>
              <a:rPr dirty="0">
                <a:latin typeface="Consolas"/>
              </a:rPr>
              <a:t>Event-driven,                │ 3. Service C    │</a:t>
            </a:r>
            <a:br>
              <a:rPr sz="6600" dirty="0"/>
            </a:br>
            <a:r>
              <a:rPr dirty="0">
                <a:latin typeface="Consolas"/>
              </a:rPr>
              <a:t>Distributed control          │ 4. Rollback?    │</a:t>
            </a:r>
            <a:br>
              <a:rPr sz="6600" dirty="0"/>
            </a:br>
            <a:r>
              <a:rPr dirty="0">
                <a:latin typeface="Consolas"/>
              </a:rPr>
              <a:t>                             └─────────────────┘</a:t>
            </a:r>
            <a:br>
              <a:rPr sz="6600" dirty="0"/>
            </a:br>
            <a:r>
              <a:rPr dirty="0">
                <a:latin typeface="Consolas"/>
              </a:rPr>
              <a:t>                             </a:t>
            </a:r>
            <a:br>
              <a:rPr sz="6600" dirty="0"/>
            </a:br>
            <a:r>
              <a:rPr dirty="0">
                <a:latin typeface="Consolas"/>
              </a:rPr>
              <a:t>                             Centralized control,</a:t>
            </a:r>
            <a:br>
              <a:rPr sz="6600" dirty="0"/>
            </a:br>
            <a:r>
              <a:rPr dirty="0">
                <a:latin typeface="Consolas"/>
              </a:rPr>
              <a:t>                             Explicit workflow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API Gateway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Gateway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latin typeface="Consolas"/>
              </a:rPr>
              <a:t>Client Requests</a:t>
            </a:r>
            <a:br>
              <a:rPr sz="5400" dirty="0"/>
            </a:br>
            <a:r>
              <a:rPr sz="1800" dirty="0">
                <a:latin typeface="Consolas"/>
              </a:rPr>
              <a:t>               │</a:t>
            </a:r>
            <a:br>
              <a:rPr sz="5400" dirty="0"/>
            </a:br>
            <a:r>
              <a:rPr sz="1800" dirty="0">
                <a:latin typeface="Consolas"/>
              </a:rPr>
              <a:t>               ▼</a:t>
            </a:r>
            <a:br>
              <a:rPr sz="5400" dirty="0"/>
            </a:br>
            <a:r>
              <a:rPr sz="1800" dirty="0">
                <a:latin typeface="Consolas"/>
              </a:rPr>
              <a:t>    ┌─────────────────────┐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    │   API Gateway       │</a:t>
            </a:r>
            <a:br>
              <a:rPr sz="5400" dirty="0"/>
            </a:br>
            <a:r>
              <a:rPr sz="1800" dirty="0">
                <a:latin typeface="Consolas"/>
              </a:rPr>
              <a:t>    │                     │</a:t>
            </a:r>
            <a:br>
              <a:rPr sz="5400" dirty="0"/>
            </a:br>
            <a:r>
              <a:rPr sz="1800" dirty="0">
                <a:latin typeface="Consolas"/>
              </a:rPr>
              <a:t>    │ - Authentication    │</a:t>
            </a:r>
            <a:br>
              <a:rPr sz="5400" dirty="0"/>
            </a:br>
            <a:r>
              <a:rPr sz="1800" dirty="0">
                <a:latin typeface="Consolas"/>
              </a:rPr>
              <a:t>    │ - Authorization     │</a:t>
            </a:r>
            <a:br>
              <a:rPr sz="5400" dirty="0"/>
            </a:br>
            <a:r>
              <a:rPr sz="1800" dirty="0">
                <a:latin typeface="Consolas"/>
              </a:rPr>
              <a:t>    │ - Rate Limiting     │</a:t>
            </a:r>
            <a:br>
              <a:rPr sz="5400" dirty="0"/>
            </a:br>
            <a:r>
              <a:rPr sz="1800" dirty="0">
                <a:latin typeface="Consolas"/>
              </a:rPr>
              <a:t>    │ - Load Balancing    │</a:t>
            </a:r>
            <a:br>
              <a:rPr sz="5400" dirty="0"/>
            </a:br>
            <a:r>
              <a:rPr sz="1800" dirty="0">
                <a:latin typeface="Consolas"/>
              </a:rPr>
              <a:t>    │ - Request Routing   │</a:t>
            </a:r>
            <a:br>
              <a:rPr sz="5400" dirty="0"/>
            </a:br>
            <a:r>
              <a:rPr sz="1800" dirty="0">
                <a:latin typeface="Consolas"/>
              </a:rPr>
              <a:t>    │ - Response Caching  │</a:t>
            </a:r>
            <a:br>
              <a:rPr sz="5400" dirty="0"/>
            </a:br>
            <a:r>
              <a:rPr sz="1800" dirty="0">
                <a:latin typeface="Consolas"/>
              </a:rPr>
              <a:t>    │ - Monitoring        │</a:t>
            </a:r>
            <a:br>
              <a:rPr sz="5400" dirty="0"/>
            </a:br>
            <a:r>
              <a:rPr sz="1800" dirty="0">
                <a:latin typeface="Consolas"/>
              </a:rPr>
              <a:t>    └─────────────────────┘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               │</a:t>
            </a:r>
            <a:br>
              <a:rPr sz="5400" dirty="0"/>
            </a:br>
            <a:r>
              <a:rPr sz="1800" dirty="0">
                <a:latin typeface="Consolas"/>
              </a:rPr>
              <a:t>               ▼</a:t>
            </a:r>
            <a:br>
              <a:rPr sz="5400" dirty="0"/>
            </a:br>
            <a:r>
              <a:rPr sz="1800" dirty="0">
                <a:latin typeface="Consolas"/>
              </a:rPr>
              <a:t>    ┌─────────┬─────────┬─────────┐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    │Service </a:t>
            </a:r>
            <a:r>
              <a:rPr sz="1800" dirty="0" err="1">
                <a:latin typeface="Consolas"/>
              </a:rPr>
              <a:t>A│Service</a:t>
            </a:r>
            <a:r>
              <a:rPr sz="1800" dirty="0">
                <a:latin typeface="Consolas"/>
              </a:rPr>
              <a:t> </a:t>
            </a:r>
            <a:r>
              <a:rPr sz="1800" dirty="0" err="1">
                <a:latin typeface="Consolas"/>
              </a:rPr>
              <a:t>B│Service</a:t>
            </a:r>
            <a:r>
              <a:rPr sz="1800" dirty="0">
                <a:latin typeface="Consolas"/>
              </a:rPr>
              <a:t> C│</a:t>
            </a:r>
            <a:br>
              <a:rPr sz="5400" dirty="0"/>
            </a:br>
            <a:r>
              <a:rPr sz="1800" dirty="0">
                <a:latin typeface="Consolas"/>
              </a:rPr>
              <a:t>    └─────────┴─────────┴─────────┘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Service Mesh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Mesh Architecture (Istio)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latin typeface="Consolas"/>
              </a:rPr>
              <a:t>┌──────────────────────────────────────────────────────┐</a:t>
            </a:r>
            <a:br>
              <a:rPr sz="4400" dirty="0"/>
            </a:br>
            <a:r>
              <a:rPr sz="1400" dirty="0">
                <a:latin typeface="Consolas"/>
              </a:rPr>
              <a:t>│                Control Plane                         │</a:t>
            </a:r>
            <a:br>
              <a:rPr sz="4400" dirty="0"/>
            </a:br>
            <a:r>
              <a:rPr sz="1400" dirty="0">
                <a:latin typeface="Consolas"/>
              </a:rPr>
              <a:t>│ ┌─────────────┐ ┌─────────────┐ ┌─────────────┐      │</a:t>
            </a:r>
            <a:br>
              <a:rPr sz="4400" dirty="0"/>
            </a:br>
            <a:r>
              <a:rPr sz="1400" dirty="0">
                <a:latin typeface="Consolas"/>
              </a:rPr>
              <a:t>│ │   Pilot     │ │   Citadel   │ │   Mixer     │      │</a:t>
            </a:r>
            <a:br>
              <a:rPr sz="4400" dirty="0"/>
            </a:br>
            <a:r>
              <a:rPr sz="1400" dirty="0">
                <a:latin typeface="Consolas"/>
              </a:rPr>
              <a:t>│ │ (Discovery) │ │ (Security)  │ │ (Telemetry) │      │</a:t>
            </a:r>
            <a:br>
              <a:rPr sz="4400" dirty="0"/>
            </a:br>
            <a:r>
              <a:rPr sz="1400" dirty="0">
                <a:latin typeface="Consolas"/>
              </a:rPr>
              <a:t>│ └─────────────┘ └─────────────┘ └─────────────┘      │</a:t>
            </a:r>
            <a:br>
              <a:rPr sz="4400" dirty="0"/>
            </a:br>
            <a:r>
              <a:rPr sz="1400" dirty="0">
                <a:latin typeface="Consolas"/>
              </a:rPr>
              <a:t>└──────────────────────────────────────────────────────┘</a:t>
            </a:r>
            <a:br>
              <a:rPr sz="4400" dirty="0"/>
            </a:br>
            <a:r>
              <a:rPr sz="1400" dirty="0">
                <a:latin typeface="Consolas"/>
              </a:rPr>
              <a:t>                       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    ▼ (Configuration)</a:t>
            </a:r>
            <a:br>
              <a:rPr sz="4400" dirty="0"/>
            </a:br>
            <a:r>
              <a:rPr sz="1400" dirty="0">
                <a:latin typeface="Consolas"/>
              </a:rPr>
              <a:t>┌─────────────┐     ┌─────────────┐     ┌─────────────┐</a:t>
            </a:r>
            <a:br>
              <a:rPr sz="4400" dirty="0"/>
            </a:br>
            <a:r>
              <a:rPr sz="1400" dirty="0">
                <a:latin typeface="Consolas"/>
              </a:rPr>
              <a:t>│ Service A   │     │ Service B   │     │ Service C 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│             │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┌─────────┐ │◄────┤ ┌─────────┐ │◄────┤ ┌─────────┐ │</a:t>
            </a:r>
            <a:br>
              <a:rPr sz="4400" dirty="0"/>
            </a:br>
            <a:r>
              <a:rPr sz="1400" dirty="0">
                <a:latin typeface="Consolas"/>
              </a:rPr>
              <a:t>│ │ Proxy   │ │     │ │ Proxy   │ │     │ │ Proxy   │ │</a:t>
            </a:r>
            <a:br>
              <a:rPr sz="4400" dirty="0"/>
            </a:br>
            <a:r>
              <a:rPr sz="1400" dirty="0">
                <a:latin typeface="Consolas"/>
              </a:rPr>
              <a:t>│ │(Envoy)  │ │     │ │(Envoy)  │ │     │ │(Envoy)  │ │</a:t>
            </a:r>
            <a:br>
              <a:rPr sz="4400" dirty="0"/>
            </a:br>
            <a:r>
              <a:rPr sz="1400" dirty="0">
                <a:latin typeface="Consolas"/>
              </a:rPr>
              <a:t>│ └─────────┘ │     │ └─────────┘ │     │ └─────────┘ │</a:t>
            </a:r>
            <a:br>
              <a:rPr sz="4400" dirty="0"/>
            </a:br>
            <a:r>
              <a:rPr sz="1400" dirty="0">
                <a:latin typeface="Consolas"/>
              </a:rPr>
              <a:t>└─────────────┘     └─────────────┘     └─────────────┘</a:t>
            </a:r>
            <a:br>
              <a:rPr sz="4400" dirty="0"/>
            </a:br>
            <a:br>
              <a:rPr sz="4400" dirty="0"/>
            </a:br>
            <a:r>
              <a:rPr sz="1400" dirty="0">
                <a:latin typeface="Consolas"/>
              </a:rPr>
              <a:t>Data Plane: Envoy Proxies handle all traffic</a:t>
            </a:r>
            <a:br>
              <a:rPr sz="4400" dirty="0"/>
            </a:br>
            <a:r>
              <a:rPr sz="1400" dirty="0">
                <a:latin typeface="Consolas"/>
              </a:rPr>
              <a:t>Control Plane: Configures and monitors proxies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Bulkhead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Bulkhead Pattern - Resource Isolation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latin typeface="Consolas"/>
              </a:rPr>
              <a:t>Thread Pools per Client Type:</a:t>
            </a:r>
            <a:br>
              <a:rPr sz="5400" dirty="0"/>
            </a:br>
            <a:r>
              <a:rPr sz="1800" dirty="0">
                <a:latin typeface="Consolas"/>
              </a:rPr>
              <a:t>┌─────────────────────────────────────────────────┐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│                Service                          │</a:t>
            </a:r>
            <a:br>
              <a:rPr sz="5400" dirty="0"/>
            </a:br>
            <a:r>
              <a:rPr sz="1800" dirty="0">
                <a:latin typeface="Consolas"/>
              </a:rPr>
              <a:t>│                                                 │</a:t>
            </a:r>
            <a:br>
              <a:rPr sz="5400" dirty="0"/>
            </a:br>
            <a:r>
              <a:rPr sz="1800" dirty="0">
                <a:latin typeface="Consolas"/>
              </a:rPr>
              <a:t>│ ┌─────────────┐ ┌─────────────┐ ┌─────────────┐ │</a:t>
            </a:r>
            <a:br>
              <a:rPr sz="5400" dirty="0"/>
            </a:br>
            <a:r>
              <a:rPr sz="1800" dirty="0">
                <a:latin typeface="Consolas"/>
              </a:rPr>
              <a:t>│ │Premium      │ │Standard     │ │Basic        │ │</a:t>
            </a:r>
            <a:br>
              <a:rPr sz="5400" dirty="0"/>
            </a:br>
            <a:r>
              <a:rPr sz="1800" dirty="0">
                <a:latin typeface="Consolas"/>
              </a:rPr>
              <a:t>│ │Clients      │ │Clients      │ │Clients      │ │</a:t>
            </a:r>
            <a:br>
              <a:rPr sz="5400" dirty="0"/>
            </a:br>
            <a:r>
              <a:rPr sz="1800" dirty="0">
                <a:latin typeface="Consolas"/>
              </a:rPr>
              <a:t>│ │             │ │             │ │             │ │</a:t>
            </a:r>
            <a:br>
              <a:rPr sz="5400" dirty="0"/>
            </a:br>
            <a:r>
              <a:rPr sz="1800" dirty="0">
                <a:latin typeface="Consolas"/>
              </a:rPr>
              <a:t>│ │Thread Pool  │ │Thread Pool  │ │Thread Pool  │ │</a:t>
            </a:r>
            <a:br>
              <a:rPr sz="5400" dirty="0"/>
            </a:br>
            <a:r>
              <a:rPr sz="1800" dirty="0">
                <a:latin typeface="Consolas"/>
              </a:rPr>
              <a:t>│ │Size: 50     │ │Size: 30     │ │Size: 20     │ │</a:t>
            </a:r>
            <a:br>
              <a:rPr sz="5400" dirty="0"/>
            </a:br>
            <a:r>
              <a:rPr sz="1800" dirty="0">
                <a:latin typeface="Consolas"/>
              </a:rPr>
              <a:t>│ └─────────────┘ └─────────────┘ └─────────────┘ │</a:t>
            </a:r>
            <a:br>
              <a:rPr sz="5400" dirty="0"/>
            </a:br>
            <a:r>
              <a:rPr sz="1800" dirty="0">
                <a:latin typeface="Consolas"/>
              </a:rPr>
              <a:t>└─────────────────────────────────────────────────┘</a:t>
            </a:r>
            <a:br>
              <a:rPr sz="5400" dirty="0"/>
            </a:br>
            <a:br>
              <a:rPr sz="5400" dirty="0"/>
            </a:br>
            <a:r>
              <a:rPr sz="1800" dirty="0">
                <a:latin typeface="Consolas"/>
              </a:rPr>
              <a:t>Benefit: Basic clients cannot starve Premium clients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Domain-Driven Design (DDD)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CQRS -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CQRS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Sourcing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Circuit Breaker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Saga Pattern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Gateway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Mesh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Bulkhead Pattern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Domain-Driven Design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CQRS - Trade-offs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Optimierte Read und Write Models</a:t>
            </a:r>
          </a:p>
          <a:p>
            <a:pPr>
              <a:spcAft>
                <a:spcPts val="600"/>
              </a:spcAft>
              <a:defRPr sz="1400"/>
            </a:pPr>
            <a:r>
              <a:t>• Unabhängige Skalierung von Queries und Commands</a:t>
            </a:r>
          </a:p>
          <a:p>
            <a:pPr>
              <a:spcAft>
                <a:spcPts val="600"/>
              </a:spcAft>
              <a:defRPr sz="1400"/>
            </a:pPr>
            <a:r>
              <a:t>• Bessere Performance durch spezialisierte Datenmodelle</a:t>
            </a:r>
          </a:p>
          <a:p>
            <a:pPr>
              <a:spcAft>
                <a:spcPts val="600"/>
              </a:spcAft>
              <a:defRPr sz="1400"/>
            </a:pPr>
            <a:r>
              <a:t>• Event Sourcing Integration möglich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Erhöhte Komplexität der Architektur</a:t>
            </a:r>
          </a:p>
          <a:p>
            <a:pPr>
              <a:spcAft>
                <a:spcPts val="600"/>
              </a:spcAft>
              <a:defRPr sz="1400"/>
            </a:pPr>
            <a:r>
              <a:t>• Eventual Consistency zwischen Read/Write</a:t>
            </a:r>
          </a:p>
          <a:p>
            <a:pPr>
              <a:spcAft>
                <a:spcPts val="600"/>
              </a:spcAft>
              <a:defRPr sz="1400"/>
            </a:pPr>
            <a:r>
              <a:t>• Synchronisation der Models erforderlich</a:t>
            </a:r>
          </a:p>
          <a:p>
            <a:pPr>
              <a:spcAft>
                <a:spcPts val="600"/>
              </a:spcAft>
              <a:defRPr sz="1400"/>
            </a:pPr>
            <a:r>
              <a:t>• Mehr Code und Infrastruktur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CQRS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Optimierte Read und Write Models</a:t>
            </a:r>
          </a:p>
          <a:p>
            <a:pPr>
              <a:spcAft>
                <a:spcPts val="600"/>
              </a:spcAft>
              <a:defRPr sz="1400"/>
            </a:pPr>
            <a:r>
              <a:t>• Unabhängige Skalierung von Queries und Commands</a:t>
            </a:r>
          </a:p>
          <a:p>
            <a:pPr>
              <a:spcAft>
                <a:spcPts val="600"/>
              </a:spcAft>
              <a:defRPr sz="1400"/>
            </a:pPr>
            <a:r>
              <a:t>• Bessere Performance durch spezialisierte Datenmodelle</a:t>
            </a:r>
          </a:p>
          <a:p>
            <a:pPr>
              <a:spcAft>
                <a:spcPts val="600"/>
              </a:spcAft>
              <a:defRPr sz="1400"/>
            </a:pPr>
            <a:r>
              <a:t>• Event Sourcing Integration möglich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Erhöhte Komplexität der Architektur</a:t>
            </a:r>
          </a:p>
          <a:p>
            <a:pPr>
              <a:spcAft>
                <a:spcPts val="600"/>
              </a:spcAft>
              <a:defRPr sz="1400"/>
            </a:pPr>
            <a:r>
              <a:t>• Eventual Consistency zwischen Read/Write</a:t>
            </a:r>
          </a:p>
          <a:p>
            <a:pPr>
              <a:spcAft>
                <a:spcPts val="600"/>
              </a:spcAft>
              <a:defRPr sz="1400"/>
            </a:pPr>
            <a:r>
              <a:t>• Synchronisation der Models erforderlich</a:t>
            </a:r>
          </a:p>
          <a:p>
            <a:pPr>
              <a:spcAft>
                <a:spcPts val="600"/>
              </a:spcAft>
              <a:defRPr sz="1400"/>
            </a:pPr>
            <a:r>
              <a:t>• Mehr Code und Infrastruktur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Event Sourcing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Vollständige Audit Trail automatisch</a:t>
            </a:r>
          </a:p>
          <a:p>
            <a:pPr>
              <a:spcAft>
                <a:spcPts val="600"/>
              </a:spcAft>
              <a:defRPr sz="1400"/>
            </a:pPr>
            <a:r>
              <a:t>• Time Travel und Event Replay möglich</a:t>
            </a:r>
          </a:p>
          <a:p>
            <a:pPr>
              <a:spcAft>
                <a:spcPts val="600"/>
              </a:spcAft>
              <a:defRPr sz="1400"/>
            </a:pPr>
            <a:r>
              <a:t>• Debugging durch Event History</a:t>
            </a:r>
          </a:p>
          <a:p>
            <a:pPr>
              <a:spcAft>
                <a:spcPts val="600"/>
              </a:spcAft>
              <a:defRPr sz="1400"/>
            </a:pPr>
            <a:r>
              <a:t>• Integration mit CQRS natural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Event Store Management komplex</a:t>
            </a:r>
          </a:p>
          <a:p>
            <a:pPr>
              <a:spcAft>
                <a:spcPts val="600"/>
              </a:spcAft>
              <a:defRPr sz="1400"/>
            </a:pPr>
            <a:r>
              <a:t>• Schema Evolution schwierig</a:t>
            </a:r>
          </a:p>
          <a:p>
            <a:pPr>
              <a:spcAft>
                <a:spcPts val="600"/>
              </a:spcAft>
              <a:defRPr sz="1400"/>
            </a:pPr>
            <a:r>
              <a:t>• Snapshot Management erforderlich</a:t>
            </a:r>
          </a:p>
          <a:p>
            <a:pPr>
              <a:spcAft>
                <a:spcPts val="600"/>
              </a:spcAft>
              <a:defRPr sz="1400"/>
            </a:pPr>
            <a:r>
              <a:t>• GDPR Compliance herausfordernd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Circuit Breaker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Schnelles Fail-Fast Verhalten</a:t>
            </a:r>
          </a:p>
          <a:p>
            <a:pPr>
              <a:spcAft>
                <a:spcPts val="600"/>
              </a:spcAft>
              <a:defRPr sz="1400"/>
            </a:pPr>
            <a:r>
              <a:t>• System Stabilität bei Ausfällen</a:t>
            </a:r>
          </a:p>
          <a:p>
            <a:pPr>
              <a:spcAft>
                <a:spcPts val="600"/>
              </a:spcAft>
              <a:defRPr sz="1400"/>
            </a:pPr>
            <a:r>
              <a:t>• Automatische Recovery Mechanismen</a:t>
            </a:r>
          </a:p>
          <a:p>
            <a:pPr>
              <a:spcAft>
                <a:spcPts val="600"/>
              </a:spcAft>
              <a:defRPr sz="1400"/>
            </a:pPr>
            <a:r>
              <a:t>• Cascading Failures Prevention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Threshold Tuning erforderlich</a:t>
            </a:r>
          </a:p>
          <a:p>
            <a:pPr>
              <a:spcAft>
                <a:spcPts val="600"/>
              </a:spcAft>
              <a:defRPr sz="1400"/>
            </a:pPr>
            <a:r>
              <a:t>• False Positives möglich</a:t>
            </a:r>
          </a:p>
          <a:p>
            <a:pPr>
              <a:spcAft>
                <a:spcPts val="600"/>
              </a:spcAft>
              <a:defRPr sz="1400"/>
            </a:pPr>
            <a:r>
              <a:t>• Additional Monitoring Layer</a:t>
            </a:r>
          </a:p>
          <a:p>
            <a:pPr>
              <a:spcAft>
                <a:spcPts val="600"/>
              </a:spcAft>
              <a:defRPr sz="1400"/>
            </a:pPr>
            <a:r>
              <a:t>• Complexity in Error Handling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Saga Pattern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Distributed Transaction Management</a:t>
            </a:r>
          </a:p>
          <a:p>
            <a:pPr>
              <a:spcAft>
                <a:spcPts val="600"/>
              </a:spcAft>
              <a:defRPr sz="1400"/>
            </a:pPr>
            <a:r>
              <a:t>• Compensation Logic für Rollbacks</a:t>
            </a:r>
          </a:p>
          <a:p>
            <a:pPr>
              <a:spcAft>
                <a:spcPts val="600"/>
              </a:spcAft>
              <a:defRPr sz="1400"/>
            </a:pPr>
            <a:r>
              <a:t>• Keine 2PC Lock Requirements</a:t>
            </a:r>
          </a:p>
          <a:p>
            <a:pPr>
              <a:spcAft>
                <a:spcPts val="600"/>
              </a:spcAft>
              <a:defRPr sz="1400"/>
            </a:pPr>
            <a:r>
              <a:t>• Bessere Performance als 2PC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Komplexe Compensation Logic</a:t>
            </a:r>
          </a:p>
          <a:p>
            <a:pPr>
              <a:spcAft>
                <a:spcPts val="600"/>
              </a:spcAft>
              <a:defRPr sz="1400"/>
            </a:pPr>
            <a:r>
              <a:t>• Debugging schwierig</a:t>
            </a:r>
          </a:p>
          <a:p>
            <a:pPr>
              <a:spcAft>
                <a:spcPts val="600"/>
              </a:spcAft>
              <a:defRPr sz="1400"/>
            </a:pPr>
            <a:r>
              <a:t>• Partial Failure Handling</a:t>
            </a:r>
          </a:p>
          <a:p>
            <a:pPr>
              <a:spcAft>
                <a:spcPts val="600"/>
              </a:spcAft>
              <a:defRPr sz="1400"/>
            </a:pPr>
            <a:r>
              <a:t>• Testing der Compensation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API Gateway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Single Entry Point für Clients</a:t>
            </a:r>
          </a:p>
          <a:p>
            <a:pPr>
              <a:spcAft>
                <a:spcPts val="600"/>
              </a:spcAft>
              <a:defRPr sz="1400"/>
            </a:pPr>
            <a:r>
              <a:t>• Cross-Cutting Concerns zentral</a:t>
            </a:r>
          </a:p>
          <a:p>
            <a:pPr>
              <a:spcAft>
                <a:spcPts val="600"/>
              </a:spcAft>
              <a:defRPr sz="1400"/>
            </a:pPr>
            <a:r>
              <a:t>• API Composition möglich</a:t>
            </a:r>
          </a:p>
          <a:p>
            <a:pPr>
              <a:spcAft>
                <a:spcPts val="600"/>
              </a:spcAft>
              <a:defRPr sz="1400"/>
            </a:pPr>
            <a:r>
              <a:t>• Backend Service Abstraktion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Single Point of Failure</a:t>
            </a:r>
          </a:p>
          <a:p>
            <a:pPr>
              <a:spcAft>
                <a:spcPts val="600"/>
              </a:spcAft>
              <a:defRPr sz="1400"/>
            </a:pPr>
            <a:r>
              <a:t>• Additional Latency Layer</a:t>
            </a:r>
          </a:p>
          <a:p>
            <a:pPr>
              <a:spcAft>
                <a:spcPts val="600"/>
              </a:spcAft>
              <a:defRPr sz="1400"/>
            </a:pPr>
            <a:r>
              <a:t>• Deployment Koordination</a:t>
            </a:r>
          </a:p>
          <a:p>
            <a:pPr>
              <a:spcAft>
                <a:spcPts val="600"/>
              </a:spcAft>
              <a:defRPr sz="1400"/>
            </a:pPr>
            <a:r>
              <a:t>• Gateway Bottleneck möglich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Service Mesh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Service-to-Service Security</a:t>
            </a:r>
          </a:p>
          <a:p>
            <a:pPr>
              <a:spcAft>
                <a:spcPts val="600"/>
              </a:spcAft>
              <a:defRPr sz="1400"/>
            </a:pPr>
            <a:r>
              <a:t>• Automatic Load Balancing</a:t>
            </a:r>
          </a:p>
          <a:p>
            <a:pPr>
              <a:spcAft>
                <a:spcPts val="600"/>
              </a:spcAft>
              <a:defRPr sz="1400"/>
            </a:pPr>
            <a:r>
              <a:t>• Observability out-of-the-box</a:t>
            </a:r>
          </a:p>
          <a:p>
            <a:pPr>
              <a:spcAft>
                <a:spcPts val="600"/>
              </a:spcAft>
              <a:defRPr sz="1400"/>
            </a:pPr>
            <a:r>
              <a:t>• Traffic Management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Operational Overhead</a:t>
            </a:r>
          </a:p>
          <a:p>
            <a:pPr>
              <a:spcAft>
                <a:spcPts val="600"/>
              </a:spcAft>
              <a:defRPr sz="1400"/>
            </a:pPr>
            <a:r>
              <a:t>• Resource Consumption (Sidecars)</a:t>
            </a:r>
          </a:p>
          <a:p>
            <a:pPr>
              <a:spcAft>
                <a:spcPts val="600"/>
              </a:spcAft>
              <a:defRPr sz="1400"/>
            </a:pPr>
            <a:r>
              <a:t>• Learning Curve hoch</a:t>
            </a:r>
          </a:p>
          <a:p>
            <a:pPr>
              <a:spcAft>
                <a:spcPts val="600"/>
              </a:spcAft>
              <a:defRPr sz="1400"/>
            </a:pPr>
            <a:r>
              <a:t>• Debugging Complexity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Bulkhead Pattern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Fault Isolation zwischen Components</a:t>
            </a:r>
          </a:p>
          <a:p>
            <a:pPr>
              <a:spcAft>
                <a:spcPts val="600"/>
              </a:spcAft>
              <a:defRPr sz="1400"/>
            </a:pPr>
            <a:r>
              <a:t>• Resource Protection</a:t>
            </a:r>
          </a:p>
          <a:p>
            <a:pPr>
              <a:spcAft>
                <a:spcPts val="600"/>
              </a:spcAft>
              <a:defRPr sz="1400"/>
            </a:pPr>
            <a:r>
              <a:t>• Predictable Performance</a:t>
            </a:r>
          </a:p>
          <a:p>
            <a:pPr>
              <a:spcAft>
                <a:spcPts val="600"/>
              </a:spcAft>
              <a:defRPr sz="1400"/>
            </a:pPr>
            <a:r>
              <a:t>• Prevents Resource Exhaustion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Resource Underutilization möglich</a:t>
            </a:r>
          </a:p>
          <a:p>
            <a:pPr>
              <a:spcAft>
                <a:spcPts val="600"/>
              </a:spcAft>
              <a:defRPr sz="1400"/>
            </a:pPr>
            <a:r>
              <a:t>• Configuration Complexity</a:t>
            </a:r>
          </a:p>
          <a:p>
            <a:pPr>
              <a:spcAft>
                <a:spcPts val="600"/>
              </a:spcAft>
              <a:defRPr sz="1400"/>
            </a:pPr>
            <a:r>
              <a:t>• More Infrastructure Required</a:t>
            </a:r>
          </a:p>
          <a:p>
            <a:pPr>
              <a:spcAft>
                <a:spcPts val="600"/>
              </a:spcAft>
              <a:defRPr sz="1400"/>
            </a:pPr>
            <a:r>
              <a:t>• Monitoring Overhead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Domain-Driven Design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Klare Bounded Contexts</a:t>
            </a:r>
          </a:p>
          <a:p>
            <a:pPr>
              <a:spcAft>
                <a:spcPts val="600"/>
              </a:spcAft>
              <a:defRPr sz="1400"/>
            </a:pPr>
            <a:r>
              <a:t>• Ubiquitous Language etabliert</a:t>
            </a:r>
          </a:p>
          <a:p>
            <a:pPr>
              <a:spcAft>
                <a:spcPts val="600"/>
              </a:spcAft>
              <a:defRPr sz="1400"/>
            </a:pPr>
            <a:r>
              <a:t>• Business-IT Alignment</a:t>
            </a:r>
          </a:p>
          <a:p>
            <a:pPr>
              <a:spcAft>
                <a:spcPts val="600"/>
              </a:spcAft>
              <a:defRPr sz="1400"/>
            </a:pPr>
            <a:r>
              <a:t>• Modulare Struktur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Steile Learning Curve</a:t>
            </a:r>
          </a:p>
          <a:p>
            <a:pPr>
              <a:spcAft>
                <a:spcPts val="600"/>
              </a:spcAft>
              <a:defRPr sz="1400"/>
            </a:pPr>
            <a:r>
              <a:t>• Upfront Design Investment</a:t>
            </a:r>
          </a:p>
          <a:p>
            <a:pPr>
              <a:spcAft>
                <a:spcPts val="600"/>
              </a:spcAft>
              <a:defRPr sz="1400"/>
            </a:pPr>
            <a:r>
              <a:t>• Domain Expert Availability</a:t>
            </a:r>
          </a:p>
          <a:p>
            <a:pPr>
              <a:spcAft>
                <a:spcPts val="600"/>
              </a:spcAft>
              <a:defRPr sz="1400"/>
            </a:pPr>
            <a:r>
              <a:t>• Over-Engineering Gefahr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</TotalTime>
  <Words>807</Words>
  <Application>Microsoft Macintosh PowerPoint</Application>
  <PresentationFormat>Widescreen</PresentationFormat>
  <Paragraphs>35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Consolas</vt:lpstr>
      <vt:lpstr>Open Sans</vt:lpstr>
      <vt:lpstr>Open Sans Light</vt:lpstr>
      <vt:lpstr>Source Code Pro</vt:lpstr>
      <vt:lpstr>Custom Design</vt:lpstr>
      <vt:lpstr>Architectural Patterns - Part 2</vt:lpstr>
      <vt:lpstr>CQRS (Command Query Responsibility Segregation)</vt:lpstr>
      <vt:lpstr>CQRS Pattern</vt:lpstr>
      <vt:lpstr>CQRS - Trade-offs</vt:lpstr>
      <vt:lpstr>Event Sourcing</vt:lpstr>
      <vt:lpstr>Event Sourcing Pattern</vt:lpstr>
      <vt:lpstr>Circuit Breaker Pattern</vt:lpstr>
      <vt:lpstr>Circuit Breaker State Machine</vt:lpstr>
      <vt:lpstr>Saga Pattern</vt:lpstr>
      <vt:lpstr>Saga Pattern Types</vt:lpstr>
      <vt:lpstr>API Gateway Pattern</vt:lpstr>
      <vt:lpstr>API Gateway Architecture</vt:lpstr>
      <vt:lpstr>Service Mesh</vt:lpstr>
      <vt:lpstr>Service Mesh Architecture (Istio)</vt:lpstr>
      <vt:lpstr>Bulkhead Pattern</vt:lpstr>
      <vt:lpstr>Bulkhead Pattern - Resource Isolation</vt:lpstr>
      <vt:lpstr>Domain-Driven Design (DDD)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Samaschke, Karsten</dc:creator>
  <cp:lastModifiedBy>Samaschke, Karsten</cp:lastModifiedBy>
  <cp:revision>12</cp:revision>
  <dcterms:created xsi:type="dcterms:W3CDTF">2025-09-10T03:57:45Z</dcterms:created>
  <dcterms:modified xsi:type="dcterms:W3CDTF">2025-09-10T18:33:58Z</dcterms:modified>
</cp:coreProperties>
</file>