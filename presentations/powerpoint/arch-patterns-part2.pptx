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3"/>
    <p:sldId id="274" r:id="rId24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*Separate Read and Write Models für Performance-Optimierung*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*Separate Read and Write Models für Performance-Optimierung*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*Immutable Event Log als Single Source of Truth*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*Immutable Event Log als Single Source of Truth*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*Unified Entry Point für Microservices*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*Infrastructure Layer für Service-to-Service Communication*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*Infrastructure Layer für Service-to-Service Communication*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*Fault Tolerance für External Service Dependencies*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*Enterprise Architecture Patterns für Skalierbarkeit und Integration*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t>Enterprise Architecture Patterns für Skalierbarkeit und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CQRS (Command Query Responsibility Segregation)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Command Side              Event Store           Query Side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┌──────────────────────┐  ┌─────────────────┐  ┌──────────────────────┐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Write Model          │  │   Events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Read Model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     │  │                 │  │           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Normalized         │─&gt;│ Event Bus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│─&gt;│ - Denormalized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PostgreSQL         │  │ Command/Query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Elasticsearch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ACID Transactions  │  │ Sync    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Read Optimized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└──────────────────────┘  └─────────────────┘  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Vorteile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Performance: Optimized Data Models für Read/Write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Skalierung</a:t>
            </a:r>
            <a:r>
              <a:rPr sz="1800" dirty="0"/>
              <a:t>: Read/Write Operations </a:t>
            </a:r>
            <a:r>
              <a:rPr sz="1800" dirty="0" err="1"/>
              <a:t>unabhängig</a:t>
            </a:r>
            <a:r>
              <a:rPr sz="1800" dirty="0"/>
              <a:t> </a:t>
            </a:r>
            <a:r>
              <a:rPr sz="1800" dirty="0" err="1"/>
              <a:t>skalierbar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Complex Queries: Performance </a:t>
            </a:r>
            <a:r>
              <a:rPr sz="1800" dirty="0" err="1"/>
              <a:t>durch</a:t>
            </a:r>
            <a:r>
              <a:rPr sz="1800" dirty="0"/>
              <a:t> denormalized Read Models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Event Sourcing Integration: </a:t>
            </a:r>
            <a:r>
              <a:rPr sz="1800" dirty="0" err="1"/>
              <a:t>Natürliche</a:t>
            </a:r>
            <a:r>
              <a:rPr sz="1800" dirty="0"/>
              <a:t> </a:t>
            </a:r>
            <a:r>
              <a:rPr sz="1800" dirty="0" err="1"/>
              <a:t>Kombination</a:t>
            </a:r>
            <a:r>
              <a:rPr sz="1800" dirty="0"/>
              <a:t> </a:t>
            </a:r>
            <a:r>
              <a:rPr sz="1800" dirty="0" err="1"/>
              <a:t>möglich</a:t>
            </a:r>
            <a:endParaRPr sz="18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Nachteile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Eventual Consistency: </a:t>
            </a:r>
            <a:r>
              <a:rPr sz="1800" dirty="0" err="1"/>
              <a:t>zwischen</a:t>
            </a:r>
            <a:r>
              <a:rPr sz="1800" dirty="0"/>
              <a:t> Read/Write Models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Maintenance: </a:t>
            </a:r>
            <a:r>
              <a:rPr sz="1800" dirty="0" err="1"/>
              <a:t>Doppelte</a:t>
            </a:r>
            <a:r>
              <a:rPr sz="1800" dirty="0"/>
              <a:t> Data Models </a:t>
            </a:r>
            <a:r>
              <a:rPr sz="1800" dirty="0" err="1"/>
              <a:t>erhöhen</a:t>
            </a:r>
            <a:r>
              <a:rPr sz="1800" dirty="0"/>
              <a:t> </a:t>
            </a:r>
            <a:r>
              <a:rPr sz="1800" dirty="0" err="1"/>
              <a:t>Aufwand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Synchronization: Event Sync </a:t>
            </a:r>
            <a:r>
              <a:rPr sz="1800" dirty="0" err="1"/>
              <a:t>zwischen</a:t>
            </a:r>
            <a:r>
              <a:rPr sz="1800" dirty="0"/>
              <a:t> Models </a:t>
            </a:r>
            <a:r>
              <a:rPr sz="1800" dirty="0" err="1"/>
              <a:t>komplex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Over-Engineering: für simple CRUD Applications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Commands            Events              Current State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──┐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│ Create    │───&gt;│ </a:t>
            </a:r>
            <a:r>
              <a:rPr dirty="0" err="1">
                <a:latin typeface="Consolas"/>
              </a:rPr>
              <a:t>DeviceCreated</a:t>
            </a:r>
            <a:r>
              <a:rPr dirty="0">
                <a:latin typeface="Consolas"/>
              </a:rPr>
              <a:t>│───&gt;│               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 │    │     Current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──┘    │      State  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        │                 │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┐    │   (Projection   │</a:t>
            </a:r>
            <a:br>
              <a:rPr sz="6600" dirty="0"/>
            </a:br>
            <a:r>
              <a:rPr dirty="0">
                <a:latin typeface="Consolas"/>
              </a:rPr>
              <a:t>│ Configure │───&gt;│</a:t>
            </a:r>
            <a:r>
              <a:rPr dirty="0" err="1">
                <a:latin typeface="Consolas"/>
              </a:rPr>
              <a:t>ConfigChanged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│───&gt;│   from Events)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    │            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┘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└─────────────────┘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CLOSED                    OPEN                    HALF-OPEN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┌─────────────────┐      ┌─────────────────┐      ┌─────────────────┐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Normal          │      │ Service Down    │      │ Testing         │</a:t>
            </a:r>
            <a:br>
              <a:rPr sz="6000" dirty="0"/>
            </a:br>
            <a:r>
              <a:rPr sz="2000" dirty="0">
                <a:latin typeface="Consolas"/>
              </a:rPr>
              <a:t>│ Operation       │─────&gt;│ Fast Fail       │─────&gt;│ Recovery       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│      │        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│ Success Rate    │      │ Timeout Period  │      │ Limited Calls   │</a:t>
            </a:r>
            <a:br>
              <a:rPr sz="6000" dirty="0"/>
            </a:br>
            <a:r>
              <a:rPr sz="2000" dirty="0">
                <a:latin typeface="Consolas"/>
              </a:rPr>
              <a:t>│ &gt; Threshold     │      │ Elapsed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└─────────────────┘      └─────────────────┘      └─────────────────┘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▲                                                  │</a:t>
            </a:r>
            <a:br>
              <a:rPr sz="6000" dirty="0"/>
            </a:br>
            <a:r>
              <a:rPr sz="2000" dirty="0">
                <a:latin typeface="Consolas"/>
              </a:rPr>
              <a:t>         └──────────────────────────────────────────────────┘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                Success Rate &gt; Threshold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Choreography Saga:           Orchestration Saga:</a:t>
            </a:r>
            <a:br>
              <a:rPr sz="6600" dirty="0"/>
            </a:br>
            <a:r>
              <a:rPr dirty="0">
                <a:latin typeface="Consolas"/>
              </a:rPr>
              <a:t>                            </a:t>
            </a:r>
            <a:br>
              <a:rPr sz="6600" dirty="0"/>
            </a:br>
            <a:r>
              <a:rPr dirty="0">
                <a:latin typeface="Consolas"/>
              </a:rPr>
              <a:t>Service A ──&gt; Service B  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    │             │          │ Saga Manager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</a:t>
            </a:r>
            <a:br>
              <a:rPr sz="6600" dirty="0"/>
            </a:br>
            <a:r>
              <a:rPr dirty="0">
                <a:latin typeface="Consolas"/>
              </a:rPr>
              <a:t>    ▼             ▼         </a:t>
            </a:r>
            <a:r>
              <a:rPr lang="en-US" sz="2000" dirty="0">
                <a:latin typeface="Consolas"/>
              </a:rPr>
              <a:t> </a:t>
            </a:r>
            <a:r>
              <a:rPr lang="en-US" dirty="0">
                <a:latin typeface="Consolas"/>
              </a:rPr>
              <a:t>│</a:t>
            </a:r>
            <a:r>
              <a:rPr dirty="0">
                <a:latin typeface="Consolas"/>
              </a:rPr>
              <a:t>                 │</a:t>
            </a:r>
            <a:br>
              <a:rPr sz="6600" dirty="0"/>
            </a:br>
            <a:r>
              <a:rPr dirty="0">
                <a:latin typeface="Consolas"/>
              </a:rPr>
              <a:t>Service C ──&gt; Service D      │ 1. Service A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│ 2. Service B    │</a:t>
            </a:r>
            <a:br>
              <a:rPr sz="6600" dirty="0"/>
            </a:br>
            <a:r>
              <a:rPr dirty="0">
                <a:latin typeface="Consolas"/>
              </a:rPr>
              <a:t>Event-driven,                │ 3. Service C    │</a:t>
            </a:r>
            <a:br>
              <a:rPr sz="6600" dirty="0"/>
            </a:br>
            <a:r>
              <a:rPr dirty="0">
                <a:latin typeface="Consolas"/>
              </a:rPr>
              <a:t>Distributed control          │ 4. Rollback?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└─────────────────┘</a:t>
            </a:r>
            <a:br>
              <a:rPr sz="6600" dirty="0"/>
            </a:br>
            <a:r>
              <a:rPr dirty="0">
                <a:latin typeface="Consolas"/>
              </a:rPr>
              <a:t>                             </a:t>
            </a:r>
            <a:br>
              <a:rPr sz="6600" dirty="0"/>
            </a:br>
            <a:r>
              <a:rPr dirty="0">
                <a:latin typeface="Consolas"/>
              </a:rPr>
              <a:t>                             Centralized control,</a:t>
            </a:r>
            <a:br>
              <a:rPr sz="6600" dirty="0"/>
            </a:br>
            <a:r>
              <a:rPr dirty="0">
                <a:latin typeface="Consolas"/>
              </a:rPr>
              <a:t>                             Explicit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Client Requests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   API Gateway       │</a:t>
            </a:r>
            <a:br>
              <a:rPr sz="5400" dirty="0"/>
            </a:br>
            <a:r>
              <a:rPr sz="1800" dirty="0">
                <a:latin typeface="Consolas"/>
              </a:rPr>
              <a:t>    │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│ - Authentication    │</a:t>
            </a:r>
            <a:br>
              <a:rPr sz="5400" dirty="0"/>
            </a:br>
            <a:r>
              <a:rPr sz="1800" dirty="0">
                <a:latin typeface="Consolas"/>
              </a:rPr>
              <a:t>    │ - Authorization     │</a:t>
            </a:r>
            <a:br>
              <a:rPr sz="5400" dirty="0"/>
            </a:br>
            <a:r>
              <a:rPr sz="1800" dirty="0">
                <a:latin typeface="Consolas"/>
              </a:rPr>
              <a:t>    │ - Rate Limiting     │</a:t>
            </a:r>
            <a:br>
              <a:rPr sz="5400" dirty="0"/>
            </a:br>
            <a:r>
              <a:rPr sz="1800" dirty="0">
                <a:latin typeface="Consolas"/>
              </a:rPr>
              <a:t>    │ - Load Balancing    │</a:t>
            </a:r>
            <a:br>
              <a:rPr sz="5400" dirty="0"/>
            </a:br>
            <a:r>
              <a:rPr sz="1800" dirty="0">
                <a:latin typeface="Consolas"/>
              </a:rPr>
              <a:t>    │ - Request Routing   │</a:t>
            </a:r>
            <a:br>
              <a:rPr sz="5400" dirty="0"/>
            </a:br>
            <a:r>
              <a:rPr sz="1800" dirty="0">
                <a:latin typeface="Consolas"/>
              </a:rPr>
              <a:t>    │ - Response Caching  │</a:t>
            </a:r>
            <a:br>
              <a:rPr sz="5400" dirty="0"/>
            </a:br>
            <a:r>
              <a:rPr sz="1800" dirty="0">
                <a:latin typeface="Consolas"/>
              </a:rPr>
              <a:t>    │ - Monitoring        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┌─────────┬─────────┬─────────┐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│Service </a:t>
            </a:r>
            <a:r>
              <a:rPr sz="1800" dirty="0" err="1">
                <a:latin typeface="Consolas"/>
              </a:rPr>
              <a:t>A│Service</a:t>
            </a:r>
            <a:r>
              <a:rPr sz="1800" dirty="0">
                <a:latin typeface="Consolas"/>
              </a:rPr>
              <a:t> </a:t>
            </a:r>
            <a:r>
              <a:rPr sz="1800" dirty="0" err="1">
                <a:latin typeface="Consolas"/>
              </a:rPr>
              <a:t>B│Service</a:t>
            </a:r>
            <a:r>
              <a:rPr sz="1800" dirty="0">
                <a:latin typeface="Consolas"/>
              </a:rPr>
              <a:t> C│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└─────────┴─────────┴─────────┘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Architecture (Istio)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┌──────────────────────────────────────────────────────┐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              Control Plane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┌─────────────┐ ┌─────────────┐ ┌─────────────┐      │</a:t>
            </a:r>
            <a:br>
              <a:rPr sz="4400" dirty="0"/>
            </a:br>
            <a:r>
              <a:rPr sz="1400" dirty="0">
                <a:latin typeface="Consolas"/>
              </a:rPr>
              <a:t>│ │   Pilot     │ │   Citadel   │ │   Mixer     │      │</a:t>
            </a:r>
            <a:br>
              <a:rPr sz="4400" dirty="0"/>
            </a:br>
            <a:r>
              <a:rPr sz="1400" dirty="0">
                <a:latin typeface="Consolas"/>
              </a:rPr>
              <a:t>│ │ (Discovery) │ │ (Security)  │ │ (Telemetry) │     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└─────────────┘ └─────────────┘ └─────────────┘ 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└──────────────────────────────────────────────────────┘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▼ (Configuration)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 ┌─────────────┐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Service A   │     │ Service B   │     │ Service C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│             │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┌─────────┐ │◄────┤ ┌─────────┐ │◄────┤ ┌─────────┐ │</a:t>
            </a:r>
            <a:br>
              <a:rPr sz="4400" dirty="0"/>
            </a:br>
            <a:r>
              <a:rPr sz="1400" dirty="0">
                <a:latin typeface="Consolas"/>
              </a:rPr>
              <a:t>│ │ Proxy   │ │     │ │ Proxy   │ │     │ │ Proxy   │ │</a:t>
            </a:r>
            <a:br>
              <a:rPr sz="4400" dirty="0"/>
            </a:br>
            <a:r>
              <a:rPr sz="1400" dirty="0">
                <a:latin typeface="Consolas"/>
              </a:rPr>
              <a:t>│ │(Envoy)  │ │     │ │(Envoy)  │ │     │ │(Envoy)  │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└─────────┘ │     │ └─────────┘ │     │ └─────────┘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└─────────────┘     └─────────────┘</a:t>
            </a:r>
            <a:br>
              <a:rPr sz="4400" dirty="0"/>
            </a:br>
            <a:br>
              <a:rPr sz="4400" dirty="0"/>
            </a:br>
            <a:r>
              <a:rPr sz="1400" dirty="0">
                <a:latin typeface="Consolas"/>
              </a:rPr>
              <a:t>Data Plane: Envoy Proxies handle all traffic</a:t>
            </a:r>
            <a:br>
              <a:rPr sz="4400" dirty="0"/>
            </a:br>
            <a:r>
              <a:rPr sz="1400" dirty="0">
                <a:latin typeface="Consolas"/>
              </a:rPr>
              <a:t>Control Plane: Configures and monitors proxies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Resource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Thread Pools per Client Type: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             Service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                    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┌─────────────┐ ┌─────────────┐ ┌─────────────┐ │</a:t>
            </a:r>
            <a:br>
              <a:rPr sz="5400" dirty="0"/>
            </a:br>
            <a:r>
              <a:rPr sz="1800" dirty="0">
                <a:latin typeface="Consolas"/>
              </a:rPr>
              <a:t>│ │Premium      │ │Standard     │ │Basic        │ │</a:t>
            </a:r>
            <a:br>
              <a:rPr sz="5400" dirty="0"/>
            </a:br>
            <a:r>
              <a:rPr sz="1800" dirty="0">
                <a:latin typeface="Consolas"/>
              </a:rPr>
              <a:t>│ │Clients      │ │Clients      │ │Clients      │ │</a:t>
            </a:r>
            <a:br>
              <a:rPr sz="5400" dirty="0"/>
            </a:br>
            <a:r>
              <a:rPr sz="1800" dirty="0">
                <a:latin typeface="Consolas"/>
              </a:rPr>
              <a:t>│ │             │ │             │ │             │ │</a:t>
            </a:r>
            <a:br>
              <a:rPr sz="5400" dirty="0"/>
            </a:br>
            <a:r>
              <a:rPr sz="1800" dirty="0">
                <a:latin typeface="Consolas"/>
              </a:rPr>
              <a:t>│ │Thread Pool  │ │Thread Pool  │ │Thread Pool  │ │</a:t>
            </a:r>
            <a:br>
              <a:rPr sz="5400" dirty="0"/>
            </a:br>
            <a:r>
              <a:rPr sz="1800" dirty="0">
                <a:latin typeface="Consolas"/>
              </a:rPr>
              <a:t>│ │Size: 50     │ │Size: 30     │ │Size: 20     │ │</a:t>
            </a:r>
            <a:br>
              <a:rPr sz="5400" dirty="0"/>
            </a:br>
            <a:r>
              <a:rPr sz="1800" dirty="0">
                <a:latin typeface="Consolas"/>
              </a:rPr>
              <a:t>│ └─────────────┘ └─────────────┘ └─────────────┘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5400" dirty="0"/>
            </a:br>
            <a:br>
              <a:rPr sz="5400" dirty="0"/>
            </a:br>
            <a:r>
              <a:rPr sz="1800" dirty="0">
                <a:latin typeface="Consolas"/>
              </a:rPr>
              <a:t>Benefit: Basic clients cannot starve Premium clients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(DDD)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CQRS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Performance: Optimized Data Models für Read/Write Operations</a:t>
            </a:r>
          </a:p>
          <a:p>
            <a:pPr>
              <a:defRPr sz="1600"/>
            </a:pPr>
            <a:r>
              <a:t>• Skalierung: Read/Write Operations unabhängig skalierbar</a:t>
            </a:r>
          </a:p>
          <a:p>
            <a:pPr>
              <a:defRPr sz="1600"/>
            </a:pPr>
            <a:r>
              <a:t>• Complex Queries: Performance durch denormalized Read Models</a:t>
            </a:r>
          </a:p>
          <a:p>
            <a:pPr>
              <a:defRPr sz="1600"/>
            </a:pPr>
            <a:r>
              <a:t>• Event Sourcing Integration: Natürliche Kombination möglich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Eventual Consistency: zwischen Read/Write Models</a:t>
            </a:r>
          </a:p>
          <a:p>
            <a:pPr>
              <a:defRPr sz="1600"/>
            </a:pPr>
            <a:r>
              <a:t>• Maintenance: Doppelte Data Models erhöhen Aufwand</a:t>
            </a:r>
          </a:p>
          <a:p>
            <a:pPr>
              <a:defRPr sz="1600"/>
            </a:pPr>
            <a:r>
              <a:t>• Synchronization: Event Sync zwischen Models komplex</a:t>
            </a:r>
          </a:p>
          <a:p>
            <a:pPr>
              <a:defRPr sz="1600"/>
            </a:pPr>
            <a:r>
              <a:t>• Over-Engineering: für simple CRUD 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Event Store für reliable Command/Query Sync</a:t>
            </a:r>
          </a:p>
          <a:p>
            <a:pPr>
              <a:defRPr sz="1400"/>
            </a:pPr>
            <a:r>
              <a:t>• Read Model Rebuild Strategy bei Schema Changes</a:t>
            </a:r>
          </a:p>
          <a:p>
            <a:pPr>
              <a:defRPr sz="1400"/>
            </a:pPr>
            <a:r>
              <a:t>• Monitoring von Read/Write Model Sync Lag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Event Sourcing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Complete Audit Trail: für Compliance</a:t>
            </a:r>
          </a:p>
          <a:p>
            <a:pPr>
              <a:defRPr sz="1600"/>
            </a:pPr>
            <a:r>
              <a:t>• Time Travel: für Debugging und Analysis</a:t>
            </a:r>
          </a:p>
          <a:p>
            <a:pPr>
              <a:defRPr sz="1600"/>
            </a:pPr>
            <a:r>
              <a:t>• Event Replay: für verschiedene Projections</a:t>
            </a:r>
          </a:p>
          <a:p>
            <a:pPr>
              <a:defRPr sz="1600"/>
            </a:pPr>
            <a:r>
              <a:t>• Natural fit: für Event-Driven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Storage Requirements: wachsen monoton</a:t>
            </a:r>
          </a:p>
          <a:p>
            <a:pPr>
              <a:defRPr sz="1600"/>
            </a:pPr>
            <a:r>
              <a:t>• Event Schema Evolution: challenging</a:t>
            </a:r>
          </a:p>
          <a:p>
            <a:pPr>
              <a:defRPr sz="1600"/>
            </a:pPr>
            <a:r>
              <a:t>• Query Performance: für Complex Projections</a:t>
            </a:r>
          </a:p>
          <a:p>
            <a:pPr>
              <a:defRPr sz="1600"/>
            </a:pPr>
            <a:r>
              <a:t>• Learning Curve: für Traditional SQL 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Event Store Snapshots für Performance</a:t>
            </a:r>
          </a:p>
          <a:p>
            <a:pPr>
              <a:defRPr sz="1400"/>
            </a:pPr>
            <a:r>
              <a:t>• Event Schema Versioning Strategy</a:t>
            </a:r>
          </a:p>
          <a:p>
            <a:pPr>
              <a:defRPr sz="1400"/>
            </a:pPr>
            <a:r>
              <a:t>• Projection Rebuild für Schema Changes</a:t>
            </a:r>
          </a:p>
          <a:p>
            <a:pPr>
              <a:defRPr sz="1400"/>
            </a:pPr>
            <a:r>
              <a:t>• Event Store Backup und Recovery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Circuit Breaker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Verhindert Cascading Failures in verteilten Systemen</a:t>
            </a:r>
          </a:p>
          <a:p>
            <a:pPr>
              <a:defRPr sz="1600"/>
            </a:pPr>
            <a:r>
              <a:t>• Schnelles Fail-Fast Verhalten statt langsame Timeouts</a:t>
            </a:r>
          </a:p>
          <a:p>
            <a:pPr>
              <a:defRPr sz="1600"/>
            </a:pPr>
            <a:r>
              <a:t>• Automatische Recovery durch Health Checks</a:t>
            </a:r>
          </a:p>
          <a:p>
            <a:pPr>
              <a:defRPr sz="1600"/>
            </a:pPr>
            <a:r>
              <a:t>• Monitoring und Alerting für Service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Zusätzliche Complexity in Service Integration</a:t>
            </a:r>
          </a:p>
          <a:p>
            <a:pPr>
              <a:defRPr sz="1600"/>
            </a:pPr>
            <a:r>
              <a:t>• Konfiguration von Thresholds und Timeouts erforderlich</a:t>
            </a:r>
          </a:p>
          <a:p>
            <a:pPr>
              <a:defRPr sz="1600"/>
            </a:pPr>
            <a:r>
              <a:t>• False Positives können zu unnötigen Ausfällen führen</a:t>
            </a:r>
          </a:p>
          <a:p>
            <a:pPr>
              <a:defRPr sz="1600"/>
            </a:pPr>
            <a:r>
              <a:t>• Debugging wird komplexer durch zusätzliche Abstraction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Saga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Verteilte Transaktionen ohne 2-Phase-Commit</a:t>
            </a:r>
          </a:p>
          <a:p>
            <a:pPr>
              <a:defRPr sz="1600"/>
            </a:pPr>
            <a:r>
              <a:t>• Bessere Performance als traditionelle ACID Transaktionen</a:t>
            </a:r>
          </a:p>
          <a:p>
            <a:pPr>
              <a:defRPr sz="1600"/>
            </a:pPr>
            <a:r>
              <a:t>• Flexible Compensation Logic für Rollbacks</a:t>
            </a:r>
          </a:p>
          <a:p>
            <a:pPr>
              <a:defRPr sz="1600"/>
            </a:pPr>
            <a:r>
              <a:t>• Natürliche Integration mit Event-Driven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Eventual Consistency statt ACID Guarantees</a:t>
            </a:r>
          </a:p>
          <a:p>
            <a:pPr>
              <a:defRPr sz="1600"/>
            </a:pPr>
            <a:r>
              <a:t>• Komplexe Rollback Logic (Compensating Actions)</a:t>
            </a:r>
          </a:p>
          <a:p>
            <a:pPr>
              <a:defRPr sz="1600"/>
            </a:pPr>
            <a:r>
              <a:t>• Debugging von Saga Flows schwierig</a:t>
            </a:r>
          </a:p>
          <a:p>
            <a:pPr>
              <a:defRPr sz="1600"/>
            </a:pPr>
            <a:r>
              <a:t>• Zusätzlicher Overhead für State Management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API Gateway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Zentraler Entry Point für alle Client Requests</a:t>
            </a:r>
          </a:p>
          <a:p>
            <a:pPr>
              <a:defRPr sz="1600"/>
            </a:pPr>
            <a:r>
              <a:t>• Cross-cutting Concerns (Auth, Logging, Rate Limiting) zentral</a:t>
            </a:r>
          </a:p>
          <a:p>
            <a:pPr>
              <a:defRPr sz="1600"/>
            </a:pPr>
            <a:r>
              <a:t>• Service Discovery Abstraktion für Clients</a:t>
            </a:r>
          </a:p>
          <a:p>
            <a:pPr>
              <a:defRPr sz="1600"/>
            </a:pPr>
            <a:r>
              <a:t>• API Versioning und Evolution vereinfacht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Single Point of Failure ohne High Availability</a:t>
            </a:r>
          </a:p>
          <a:p>
            <a:pPr>
              <a:defRPr sz="1600"/>
            </a:pPr>
            <a:r>
              <a:t>• Performance Bottleneck bei hohem Traffic</a:t>
            </a:r>
          </a:p>
          <a:p>
            <a:pPr>
              <a:defRPr sz="1600"/>
            </a:pPr>
            <a:r>
              <a:t>• Zusätzliche Latency durch Proxy Layer</a:t>
            </a:r>
          </a:p>
          <a:p>
            <a:pPr>
              <a:defRPr sz="1600"/>
            </a:pPr>
            <a:r>
              <a:t>• Gateway selbst wird zu komplexem System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Service Mesh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Infrastructure Layer für Service Communication</a:t>
            </a:r>
          </a:p>
          <a:p>
            <a:pPr>
              <a:defRPr sz="1600"/>
            </a:pPr>
            <a:r>
              <a:t>• Automatisches mTLS und Service Security</a:t>
            </a:r>
          </a:p>
          <a:p>
            <a:pPr>
              <a:defRPr sz="1600"/>
            </a:pPr>
            <a:r>
              <a:t>• Distributed Tracing und Observability out-of-the-box</a:t>
            </a:r>
          </a:p>
          <a:p>
            <a:pPr>
              <a:defRPr sz="1600"/>
            </a:pPr>
            <a:r>
              <a:t>• Traffic Management ohne Code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Hohe operationale Komplexität</a:t>
            </a:r>
          </a:p>
          <a:p>
            <a:pPr>
              <a:defRPr sz="1600"/>
            </a:pPr>
            <a:r>
              <a:t>• Zusätzliche Latency durch Proxy Layer</a:t>
            </a:r>
          </a:p>
          <a:p>
            <a:pPr>
              <a:defRPr sz="1600"/>
            </a:pPr>
            <a:r>
              <a:t>• Steile Lernkurve für Operations Teams</a:t>
            </a:r>
          </a:p>
          <a:p>
            <a:pPr>
              <a:defRPr sz="1600"/>
            </a:pPr>
            <a:r>
              <a:t>• Resource Overhead durch Sidecar Proxies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Bulkhead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Isolation von Critical Resources</a:t>
            </a:r>
          </a:p>
          <a:p>
            <a:pPr>
              <a:defRPr sz="1600"/>
            </a:pPr>
            <a:r>
              <a:t>• Ein problematischer Client kann andere nicht beeinträchtigen</a:t>
            </a:r>
          </a:p>
          <a:p>
            <a:pPr>
              <a:defRPr sz="1600"/>
            </a:pPr>
            <a:r>
              <a:t>• Verbesserte System Resilience</a:t>
            </a:r>
          </a:p>
          <a:p>
            <a:pPr>
              <a:defRPr sz="1600"/>
            </a:pPr>
            <a:r>
              <a:t>• Priorisierung von wichtigen Clients möglich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Reduced Resource Utilization durch Isolation</a:t>
            </a:r>
          </a:p>
          <a:p>
            <a:pPr>
              <a:defRPr sz="1600"/>
            </a:pPr>
            <a:r>
              <a:t>• Complexity bei Resource Pool Management</a:t>
            </a:r>
          </a:p>
          <a:p>
            <a:pPr>
              <a:defRPr sz="1600"/>
            </a:pPr>
            <a:r>
              <a:t>• Schwierige Konfiguration von Pool Sizes</a:t>
            </a:r>
          </a:p>
          <a:p>
            <a:pPr>
              <a:defRPr sz="1600"/>
            </a:pPr>
            <a:r>
              <a:t>• Monitoring von mehreren Resource Pools erforderlich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Domain-Driven Design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Ubiquitous Language zwischen Business und Tech</a:t>
            </a:r>
          </a:p>
          <a:p>
            <a:pPr>
              <a:defRPr sz="1600"/>
            </a:pPr>
            <a:r>
              <a:t>• Bounded Context für klare Domain Grenzen</a:t>
            </a:r>
          </a:p>
          <a:p>
            <a:pPr>
              <a:defRPr sz="1600"/>
            </a:pPr>
            <a:r>
              <a:t>• Complex Domain Logic durch Domain Models</a:t>
            </a:r>
          </a:p>
          <a:p>
            <a:pPr>
              <a:defRPr sz="1600"/>
            </a:pPr>
            <a:r>
              <a:t>• Bessere Alignment zwischen Code und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Hoher Initial Investment für Domain Modeling</a:t>
            </a:r>
          </a:p>
          <a:p>
            <a:pPr>
              <a:defRPr sz="1600"/>
            </a:pPr>
            <a:r>
              <a:t>• Erfordert enge Zusammenarbeit mit Domain Experts</a:t>
            </a:r>
          </a:p>
          <a:p>
            <a:pPr>
              <a:defRPr sz="1600"/>
            </a:pPr>
            <a:r>
              <a:t>• Kann zu Over-Engineering bei einfachen Domains führen</a:t>
            </a:r>
          </a:p>
          <a:p>
            <a:pPr>
              <a:defRPr sz="1600"/>
            </a:pPr>
            <a:r>
              <a:t>• Steile Lernkurve für traditionelle CRUD Entwickler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807</Words>
  <Application>Microsoft Macintosh PowerPoint</Application>
  <PresentationFormat>Widescreen</PresentationFormat>
  <Paragraphs>35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2</vt:lpstr>
      <vt:lpstr>CQRS (Command Query Responsibility Segregation)</vt:lpstr>
      <vt:lpstr>CQRS Pattern</vt:lpstr>
      <vt:lpstr>CQRS - Trade-offs</vt:lpstr>
      <vt:lpstr>Event Sourcing</vt:lpstr>
      <vt:lpstr>Event Sourcing Pattern</vt:lpstr>
      <vt:lpstr>Circuit Breaker Pattern</vt:lpstr>
      <vt:lpstr>Circuit Breaker State Machine</vt:lpstr>
      <vt:lpstr>Saga Pattern</vt:lpstr>
      <vt:lpstr>Saga Pattern Types</vt:lpstr>
      <vt:lpstr>API Gateway Pattern</vt:lpstr>
      <vt:lpstr>API Gateway Architecture</vt:lpstr>
      <vt:lpstr>Service Mesh</vt:lpstr>
      <vt:lpstr>Service Mesh Architecture (Istio)</vt:lpstr>
      <vt:lpstr>Bulkhead Pattern</vt:lpstr>
      <vt:lpstr>Bulkhead Pattern - Resource Isolation</vt:lpstr>
      <vt:lpstr>Domain-Driven Design (DDD)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12</cp:revision>
  <dcterms:created xsi:type="dcterms:W3CDTF">2025-09-10T03:57:45Z</dcterms:created>
  <dcterms:modified xsi:type="dcterms:W3CDTF">2025-09-10T18:33:58Z</dcterms:modified>
</cp:coreProperties>
</file>