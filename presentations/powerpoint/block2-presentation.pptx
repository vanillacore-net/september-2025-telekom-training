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9" d="100"/>
          <a:sy n="129" d="100"/>
        </p:scale>
        <p:origin x="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Deutsche Telekom bietet verschiedenste Tarif-Optionen: Datenvolumen-Upgrades, Roaming-Pakete, Streaming-Services, Hotspot-Zugang. Der naive OOP-Ansatz führt zu exponentieller Klassenzahl.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mathematische Problem: Bei nur 10 Tarif-Optionen entstehen 1.024 Klassen! Dies verletzt fundamental das Open/Closed Principle.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Decorator Pattern löst das Problem durch Komposition statt Vererbung. Ein Tarif-Objekt wird von "Decorator"-Objekten umschlossen, die jeweils eine zusätzliche Funktion bereitstellen.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Jeder Decorator implementiert dieselbe Schnittstelle wie das umhüllte Objekt - so können Decorators beliebig geschachtelt werden. Factory Pattern übernimmt die Objektkomposition und versteckt die Komplexität.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Telekom verkauft komplexe Familien-Strukturen mit verschachtelten Abhängigkeiten. Separate Klassen für jede Konstellation führen zu kombinatorischer Explosion.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Komplexitäts-Dilemma: Wie behandeln wir Einzeltarife und Gruppen-Tarife einheitlich? Naive Ansätze scheitern an kombinatorischer Explosion.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Composite Pattern behandelt Einzelobjekte und Objektsammlungen einheitlich. Ein Familien-Tarif wird genauso behandelt wie ein Einzel-Tarif.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Transparente Rekursion: TariffGroup "weiß" nicht, ob Kinder Leafs oder Composites sind. Visitor Pattern kann für Performance-Optimierung bei tiefen Hierarchien eingesetzt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Eine einfache Tarif-Bestellung erfordert Koordination von 15+ Microservices. Client-Code wird unlesesbar und untestbar.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Komplexitäts-Dilemma: Jede Service-Änderung bricht den Client. Deployment-Abhängigkeiten werden unbeherrschbar.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Facade Pattern erstellt eine "einfache" Schnittstelle vor einem "komplexen" Subsystem. Client-Sicht: 1 Methode statt 15 Service-Calls.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Facade vs. Microservice Gateway: Façade ist ein architektonisches Pattern, Gateway ist infrastrukturell. Circuit Breaker, Timeout Management und Parallelisierung können integriert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Legacy-Datenbanken sind oft der Flaschenhals moderner Systeme. Hochfrequente Zugriffe führen zu Cascading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Latenz-Spirale: 1000+ Customer-Abfragen pro Sekunde multipliziert mit 200ms = System-Kollaps.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Proxy Pattern stellt einen "Stellvertreter" vor ein teures Objekt. Der Proxy kann Caching, Lazy Loading, Security etc. transparent hinzufügen.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Cache-Hit-Rate von 99.5%+ ist realistisch = 2000x Performance-Verbesserung. Security Proxy kann Authorization und Audit-Logging transparent implementieren.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 50+ Millionen Kunden entstehen massive Datenmengen. Redundante Tarif-Beschreibungen werden millionenfach dupliziert = Gigabytes verschwendeter Speicher.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Mathematisches Dilemma: 50 Millionen Kunden × 2KB = 100GB RAM nur für Customer-Objekte. Redundante Daten vervielfachen den Speicher-Bedarf exponentiell.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Flyweight Pattern trennt "geteilte" von "individuellen" Daten. Objekte mit identischen Properties werden nur einmal gespeichert.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Messbare Ergebnisse: 77% Memory-Ersparnis! Von 103GB auf 24GB RAM-Verbrauch. Nur 50 Flyweight-Objekte statt 50 Millionen redundante Tarif-Kopien.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Patterns ergänzen sich perfekt: Komplexe Business-Domänen werden durch Pattern-Kombination beherrschbar. Factory + Decorator lösen gemeinsam das Problem der flexiblen Objektzusammensetzung.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Enterprise-Tauglichkeit erfordert mehr als Design Patterns: Monitoring, Resilience, Distributed Systems Patterns und observability sind kritisch für Production-Einsatz.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2 zeigt: Structural Patterns sind nicht nur akademische Konzepte, sondern lösen reale Enterprise-Performance und -Wartungsprobleme. Die Kombination mehrerer Patterns ist oft mächtiger als einzelne Pattern-Anwendung.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7193-AE5D-4968-BAF6-3656BE156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70169"/>
            <a:ext cx="9144000" cy="895972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86BB9-FD07-7E5E-44C6-0A574C54E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58216"/>
            <a:ext cx="9144000" cy="5525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B45C3DAA-2C1B-4B03-DCD5-CEA9A48DC3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302560" y="2321640"/>
            <a:ext cx="1586880" cy="22147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214E46-3795-F2C4-2D6A-4DF0C15ACEDA}"/>
              </a:ext>
            </a:extLst>
          </p:cNvPr>
          <p:cNvSpPr/>
          <p:nvPr userDrawn="1"/>
        </p:nvSpPr>
        <p:spPr>
          <a:xfrm>
            <a:off x="10416209" y="-1"/>
            <a:ext cx="1610139" cy="1918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99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D443-8D62-99E4-BE59-A33D1ABDD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80720"/>
            <a:ext cx="9144000" cy="687250"/>
          </a:xfrm>
          <a:prstGeom prst="rect">
            <a:avLst/>
          </a:prstGeom>
        </p:spPr>
        <p:txBody>
          <a:bodyPr anchor="b"/>
          <a:lstStyle>
            <a:lvl1pPr algn="ctr">
              <a:defRPr sz="36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9BB70-AB0C-EB4F-73E7-686FB01CE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60045"/>
            <a:ext cx="9144000" cy="4332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C62A5225-6C59-0F22-28CB-A0E9926764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498782" y="2595496"/>
            <a:ext cx="1194437" cy="16670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E3CF7D-A3E7-417D-2594-BEB7DA122EAC}"/>
              </a:ext>
            </a:extLst>
          </p:cNvPr>
          <p:cNvSpPr/>
          <p:nvPr userDrawn="1"/>
        </p:nvSpPr>
        <p:spPr>
          <a:xfrm>
            <a:off x="10416209" y="-1"/>
            <a:ext cx="1610139" cy="1918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13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0DB9-59A8-CF17-BB9B-F72B0FAB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" y="365125"/>
            <a:ext cx="10088220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D29E-375A-0909-2E62-2F6CBC44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06B1-97FA-B22F-65EC-94B636B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8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0DB9-59A8-CF17-BB9B-F72B0FAB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" y="365125"/>
            <a:ext cx="10088220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D29E-375A-0909-2E62-2F6CBC44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06B1-97FA-B22F-65EC-94B636B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27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Bullet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3F90-FBB0-1588-E79D-EB61EC04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91647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056B7-03C2-B71C-2EDA-0359D9415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322" y="1825625"/>
            <a:ext cx="5582478" cy="4667250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A315-0D02-B709-C30A-483144A24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536096" cy="4667250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FACF-99F9-6EC6-9746-B8C7A0FB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5096" y="6492874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84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3F90-FBB0-1588-E79D-EB61EC04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91647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056B7-03C2-B71C-2EDA-0359D9415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322" y="1825625"/>
            <a:ext cx="5582478" cy="46672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A315-0D02-B709-C30A-483144A24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536096" cy="4667250"/>
          </a:xfrm>
        </p:spPr>
        <p:txBody>
          <a:bodyPr/>
          <a:lstStyle>
            <a:lvl1pPr marL="0" indent="0"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FACF-99F9-6EC6-9746-B8C7A0FB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5096" y="6492874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9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0D7-65B1-D72F-0D21-4B04BD3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8" y="365125"/>
            <a:ext cx="1011140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97DE5-2F32-14FA-E76B-D744B262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888" y="1681163"/>
            <a:ext cx="55436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CDEA-3150-6B79-5CAA-316A2BEDE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888" y="2505074"/>
            <a:ext cx="5543687" cy="3987799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35CEA-A4A2-208B-B279-70AC76B65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591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0417B-357A-1441-1081-878E1A3E9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565913" cy="3987800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AAD1C-C9FB-8ECD-9D67-E4F2C569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4913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7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0D7-65B1-D72F-0D21-4B04BD3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8" y="365125"/>
            <a:ext cx="1011140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97DE5-2F32-14FA-E76B-D744B262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888" y="1681163"/>
            <a:ext cx="55436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CDEA-3150-6B79-5CAA-316A2BEDE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888" y="2505074"/>
            <a:ext cx="5543687" cy="3987799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35CEA-A4A2-208B-B279-70AC76B65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591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0417B-357A-1441-1081-878E1A3E9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565913" cy="3987800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AAD1C-C9FB-8ECD-9D67-E4F2C569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4913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F1FF-93BF-4CCF-926B-0576DF6B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118035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39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F1FF-93BF-4CCF-926B-0576DF6B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118035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FAE5E-51A7-801C-5D44-B6AB89FF0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1pPr>
            <a:lvl2pPr marL="457200" indent="0">
              <a:buNone/>
              <a:defRPr sz="20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2pPr>
            <a:lvl3pPr marL="914400" indent="0">
              <a:buNone/>
              <a:defRPr sz="18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3pPr>
            <a:lvl4pPr marL="1371600" indent="0">
              <a:buNone/>
              <a:defRPr sz="16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4pPr>
            <a:lvl5pPr marL="1828800" indent="0">
              <a:buNone/>
              <a:defRPr sz="16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3E47A-69A0-8F49-E63F-B87255EE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94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0A35E-A630-2C0F-48C4-334D4CCF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7739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36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E0C0-D32D-13D4-8621-9FED9847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" y="457200"/>
            <a:ext cx="4364521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F3171-700D-AC09-57D2-7CE376F6C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525108" cy="543325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D5D4F-5251-A419-B3B6-3E776795B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504" y="2057400"/>
            <a:ext cx="4364521" cy="43632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C4C30-205A-2492-192B-B806843E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9874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4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ED0A-CB71-BE95-6D74-70732531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" y="407504"/>
            <a:ext cx="7146235" cy="1282147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386B-F71F-624B-D60E-1519DE75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12765" y="0"/>
            <a:ext cx="4479235" cy="6858000"/>
          </a:xfrm>
        </p:spPr>
        <p:txBody>
          <a:bodyPr anchor="ctr" anchorCtr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6256-41DC-0D7B-7119-A2460887C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504" y="1816443"/>
            <a:ext cx="7146235" cy="4703627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5832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ED0A-CB71-BE95-6D74-70732531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209" y="407504"/>
            <a:ext cx="5854148" cy="1282147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386B-F71F-624B-D60E-1519DE75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9942"/>
            <a:ext cx="4479235" cy="6858000"/>
          </a:xfrm>
        </p:spPr>
        <p:txBody>
          <a:bodyPr anchor="ctr" anchorCtr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6256-41DC-0D7B-7119-A2460887C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01209" y="1816444"/>
            <a:ext cx="7026958" cy="4676432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193BDEA3-6F5B-33C7-1FE1-589B04B9C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9874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282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9312B-648F-07C4-1C1A-87F50DC9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B8739-0CD2-1439-97E1-AFE668843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2DFFE-3F1B-D665-A941-E6705F464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172EA-F3A5-C440-8FDE-A5EAD26928A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36DDDAD4-6DBF-843D-79CB-7A2FBAC6A16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lum/>
            <a:alphaModFix/>
          </a:blip>
          <a:srcRect/>
          <a:stretch>
            <a:fillRect/>
          </a:stretch>
        </p:blipFill>
        <p:spPr>
          <a:xfrm>
            <a:off x="10619994" y="0"/>
            <a:ext cx="1101857" cy="153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599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63" r:id="rId3"/>
    <p:sldLayoutId id="2147483675" r:id="rId4"/>
    <p:sldLayoutId id="2147483665" r:id="rId5"/>
    <p:sldLayoutId id="2147483676" r:id="rId6"/>
    <p:sldLayoutId id="2147483666" r:id="rId7"/>
    <p:sldLayoutId id="2147483677" r:id="rId8"/>
    <p:sldLayoutId id="2147483667" r:id="rId9"/>
    <p:sldLayoutId id="2147483672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34343"/>
        </a:buClr>
        <a:buFont typeface="Arial" panose="020B0604020202020204" pitchFamily="34" charset="0"/>
        <a:buChar char="•"/>
        <a:defRPr sz="2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24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20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1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1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Block 2: Structural Patterns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Pattern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Decorator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nsolas"/>
              </a:rPr>
              <a:t>// Exponentielles Wachstum-Problem</a:t>
            </a:r>
          </a:p>
          <a:p>
            <a:r>
              <a:rPr sz="1400">
                <a:latin typeface="Consolas"/>
              </a:rPr>
              <a:t>BasicTariff</a:t>
            </a:r>
          </a:p>
          <a:p>
            <a:r>
              <a:rPr sz="1400">
                <a:latin typeface="Consolas"/>
              </a:rPr>
              <a:t>BasicTariffWithData</a:t>
            </a:r>
          </a:p>
          <a:p>
            <a:r>
              <a:rPr sz="1400">
                <a:latin typeface="Consolas"/>
              </a:rPr>
              <a:t>BasicTariffWithDataAndRoaming  </a:t>
            </a:r>
          </a:p>
          <a:p>
            <a:r>
              <a:rPr sz="1400">
                <a:latin typeface="Consolas"/>
              </a:rPr>
              <a:t>// Bei n Features = 2^n Klassen!</a:t>
            </a:r>
          </a:p>
          <a:p>
            <a:r>
              <a:rPr sz="1400">
                <a:latin typeface="Consolas"/>
              </a:rPr>
              <a:t>// Vererbungs-Explosion</a:t>
            </a:r>
          </a:p>
          <a:p>
            <a:r>
              <a:rPr sz="1400">
                <a:latin typeface="Consolas"/>
              </a:rPr>
              <a:t>public class BasicTariffWithDataAndRoamingAndHotspot </a:t>
            </a:r>
          </a:p>
          <a:p>
            <a:r>
              <a:rPr sz="1400">
                <a:latin typeface="Consolas"/>
              </a:rPr>
              <a:t>    extends BasicTariffWithDataAndRoaming {</a:t>
            </a:r>
          </a:p>
          <a:p>
            <a:r>
              <a:rPr sz="1400">
                <a:latin typeface="Consolas"/>
              </a:rPr>
              <a:t>    // Bei nur 10 Tarif-Optionen entstehen 1.024 Klassen!</a:t>
            </a:r>
          </a:p>
          <a:p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Klassen-Explosion**: Bei n Features entstehen 2^n Klassen</a:t>
            </a:r>
          </a:p>
          <a:p>
            <a:r>
              <a:t>Code-Duplikation**: Bugfixes müssen in hunderten Klassen repliziert werden</a:t>
            </a:r>
          </a:p>
          <a:p>
            <a:r>
              <a:t>Open/Closed Verletzung**: Jede neue Option erfordert Dutzende neuer Klassen</a:t>
            </a:r>
          </a:p>
          <a:p>
            <a:r>
              <a:t>Wartungs-Alptraum**: Änderungen propagieren durch die gesamte Hierarchie</a:t>
            </a:r>
          </a:p>
          <a:p>
            <a:r>
              <a:t>Kombinatorisches Problem**: Unmöglich alle Feature-Kombinationen zu modellieren</a:t>
            </a:r>
          </a:p>
          <a:p>
            <a:r>
              <a:t>Tight Coupling**: Features sind fest mit Basis-Implementierung gekoppelt</a:t>
            </a:r>
          </a:p>
          <a:p>
            <a:r>
              <a:t>Inflexibilität**: Keine zur-Laufzeit-Konfiguration von Features möglich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Lösung: Decorator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Komposition über Vererbung**: Objekte zur Laufzeit "umhüllen"</a:t>
            </a:r>
          </a:p>
          <a:p>
            <a:r>
              <a:t>Gemeinsame Schnittstelle**: Component-Interface für einheitliche Behandlung</a:t>
            </a:r>
          </a:p>
          <a:p>
            <a:r>
              <a:t>Transparente Erweiterung**: Decorators sind für Clients unsichtbar</a:t>
            </a:r>
          </a:p>
          <a:p>
            <a:r>
              <a:t>Beliebige Kombinierbarkeit**: Features können flexibel kombiniert werden</a:t>
            </a:r>
          </a:p>
          <a:p>
            <a:r>
              <a:t>Einzelne Verantwortung**: Jeder Decorator fügt genau ein Feature hinzu</a:t>
            </a:r>
          </a:p>
          <a:p>
            <a:r>
              <a:t>Zur-Laufzeit-Konfiguration**: Dynamische Objekt-Zusammensetzung</a:t>
            </a:r>
          </a:p>
          <a:p>
            <a:r>
              <a:t>Template Method Integration**: Abstraktes Decorator-Rückgrat für Standards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Implementierung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nsolas"/>
              </a:rPr>
              <a:t>// Gemeinsame Schnittstelle</a:t>
            </a:r>
          </a:p>
          <a:p>
            <a:r>
              <a:rPr sz="1400">
                <a:latin typeface="Consolas"/>
              </a:rPr>
              <a:t>public interface TariffService {</a:t>
            </a:r>
          </a:p>
          <a:p>
            <a:r>
              <a:rPr sz="1400">
                <a:latin typeface="Consolas"/>
              </a:rPr>
              <a:t>    BigDecimal calculatePrice();</a:t>
            </a:r>
          </a:p>
          <a:p>
            <a:r>
              <a:rPr sz="1400">
                <a:latin typeface="Consolas"/>
              </a:rPr>
              <a:t>    Set getFeatures(); </a:t>
            </a:r>
          </a:p>
          <a:p>
            <a:r>
              <a:rPr sz="1400">
                <a:latin typeface="Consolas"/>
              </a:rPr>
              <a:t>}</a:t>
            </a:r>
          </a:p>
          <a:p>
            <a:r>
              <a:rPr sz="1400">
                <a:latin typeface="Consolas"/>
              </a:rPr>
              <a:t>// Abstrakter Decorator</a:t>
            </a:r>
          </a:p>
          <a:p>
            <a:r>
              <a:rPr sz="1400">
                <a:latin typeface="Consolas"/>
              </a:rPr>
              <a:t>public abstract class TariffDecorator implements TariffService {</a:t>
            </a:r>
          </a:p>
          <a:p>
            <a:r>
              <a:rPr sz="1400">
                <a:latin typeface="Consolas"/>
              </a:rPr>
              <a:t>    protected final TariffService decoratedTariff;</a:t>
            </a:r>
          </a:p>
          <a:p>
            <a:r>
              <a:rPr sz="1400">
                <a:latin typeface="Consolas"/>
              </a:rPr>
              <a:t>    public BigDecimal calculatePrice() {</a:t>
            </a:r>
          </a:p>
          <a:p>
            <a:r>
              <a:rPr sz="1400">
                <a:latin typeface="Consolas"/>
              </a:rPr>
              <a:t>        return decoratedTariff.calculatePrice(); // Delegation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}</a:t>
            </a:r>
          </a:p>
          <a:p>
            <a:r>
              <a:rPr sz="1400">
                <a:latin typeface="Consolas"/>
              </a:rPr>
              <a:t>// Konkreter Decorator  </a:t>
            </a:r>
          </a:p>
          <a:p>
            <a:r>
              <a:rPr sz="1400">
                <a:latin typeface="Consolas"/>
              </a:rPr>
              <a:t>public class DataOptionDecorator extends TariffDecorator {</a:t>
            </a:r>
          </a:p>
          <a:p>
            <a:r>
              <a:rPr sz="1400">
                <a:latin typeface="Consolas"/>
              </a:rPr>
              <a:t>    private final BigDecimal dataPrice;</a:t>
            </a:r>
          </a:p>
          <a:p>
            <a:r>
              <a:rPr sz="1400">
                <a:latin typeface="Consolas"/>
              </a:rPr>
              <a:t>    @Override</a:t>
            </a:r>
          </a:p>
          <a:p>
            <a:r>
              <a:rPr sz="1400">
                <a:latin typeface="Consolas"/>
              </a:rPr>
              <a:t>    public BigDecimal calculatePrice() {</a:t>
            </a:r>
          </a:p>
          <a:p>
            <a:r>
              <a:rPr sz="1400">
                <a:latin typeface="Consolas"/>
              </a:rPr>
              <a:t>        return super.calculatePrice().add(dataPrice); // Erweiterung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nsolas"/>
              </a:rPr>
              <a:t>// Separate Behandlung für Einzeltarife vs. Gruppen</a:t>
            </a:r>
          </a:p>
          <a:p>
            <a:r>
              <a:rPr sz="1400">
                <a:latin typeface="Consolas"/>
              </a:rPr>
              <a:t>public class TariffService {</a:t>
            </a:r>
          </a:p>
          <a:p>
            <a:r>
              <a:rPr sz="1400">
                <a:latin typeface="Consolas"/>
              </a:rPr>
              <a:t>    public void processOrder(Object tariff) {</a:t>
            </a:r>
          </a:p>
          <a:p>
            <a:r>
              <a:rPr sz="1400">
                <a:latin typeface="Consolas"/>
              </a:rPr>
              <a:t>        if (tariff instanceof IndividualTariff) {</a:t>
            </a:r>
          </a:p>
          <a:p>
            <a:r>
              <a:rPr sz="1400">
                <a:latin typeface="Consolas"/>
              </a:rPr>
              <a:t>            IndividualTariff individual = (IndividualTariff) tariff;</a:t>
            </a:r>
          </a:p>
          <a:p>
            <a:r>
              <a:rPr sz="1400">
                <a:latin typeface="Consolas"/>
              </a:rPr>
              <a:t>            // Individuelle Verarbeitung</a:t>
            </a:r>
          </a:p>
          <a:p>
            <a:r>
              <a:rPr sz="1400">
                <a:latin typeface="Consolas"/>
              </a:rPr>
              <a:t>        } else if (tariff instanceof FamilyTariff) {</a:t>
            </a:r>
          </a:p>
          <a:p>
            <a:r>
              <a:rPr sz="1400">
                <a:latin typeface="Consolas"/>
              </a:rPr>
              <a:t>            FamilyTariff family = (FamilyTariff) tariff;</a:t>
            </a:r>
          </a:p>
          <a:p>
            <a:r>
              <a:rPr sz="1400">
                <a:latin typeface="Consolas"/>
              </a:rPr>
              <a:t>            // Familiengruppen-spezifische Logik</a:t>
            </a:r>
          </a:p>
          <a:p>
            <a:r>
              <a:rPr sz="1400">
                <a:latin typeface="Consolas"/>
              </a:rPr>
              <a:t>            for (IndividualTariff member : family.getMembers()) {</a:t>
            </a:r>
          </a:p>
          <a:p>
            <a:r>
              <a:rPr sz="1400">
                <a:latin typeface="Consolas"/>
              </a:rPr>
              <a:t>                // Rekursive Verarbeitung...</a:t>
            </a:r>
          </a:p>
          <a:p>
            <a:r>
              <a:rPr sz="1400">
                <a:latin typeface="Consolas"/>
              </a:rPr>
              <a:t>            }</a:t>
            </a:r>
          </a:p>
          <a:p>
            <a:r>
              <a:rPr sz="1400">
                <a:latin typeface="Consolas"/>
              </a:rPr>
              <a:t>        }</a:t>
            </a:r>
          </a:p>
          <a:p>
            <a:r>
              <a:rPr sz="1400">
                <a:latin typeface="Consolas"/>
              </a:rPr>
              <a:t>        // Komplexe If-Verschachtelung für alle Tarif-Typen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Type-Checking Nightmare**: Instanceof-Checks überall im Code</a:t>
            </a:r>
          </a:p>
          <a:p>
            <a:r>
              <a:t>Rekursive Logik-Duplikation**: Gleiche Traversierung in jeder Methode</a:t>
            </a:r>
          </a:p>
          <a:p>
            <a:r>
              <a:t>Kombinatorische Explosion**: Neue Tarif-Typen = neue If-Zweige überall</a:t>
            </a:r>
          </a:p>
          <a:p>
            <a:r>
              <a:t>Client-Komplexität**: Clients müssen alle Tarif-Typen kennen</a:t>
            </a:r>
          </a:p>
          <a:p>
            <a:r>
              <a:t>Tight Coupling**: Client-Code gekoppelt an konkrete Tarif-Typen</a:t>
            </a:r>
          </a:p>
          <a:p>
            <a:r>
              <a:t>Inkonsistente Behandlung**: Verschiedene Logik für ähnliche Operationen</a:t>
            </a:r>
          </a:p>
          <a:p>
            <a:r>
              <a:t>Schwer erweiterbar**: Neue Hierarchie-Ebenen = massive Code-Änderungen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Lösung: Composite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Einheitliche Behandlung**: Einzelobjekte und Sammlungen identisch behandeln</a:t>
            </a:r>
          </a:p>
          <a:p>
            <a:r>
              <a:t>Rekursive Struktur**: Composites können andere Composites enthalten</a:t>
            </a:r>
          </a:p>
          <a:p>
            <a:r>
              <a:t>Transparenz für Client**: Client arbeitet nur mit Component-Interface</a:t>
            </a:r>
          </a:p>
          <a:p>
            <a:r>
              <a:t>Natürliche Hierarchie-Abbildung**: Teil-Ganzes-Beziehungen elegant modelliert</a:t>
            </a:r>
          </a:p>
          <a:p>
            <a:r>
              <a:t>Liskov Substitution**: Blätter und Äste vollständig austauschbar</a:t>
            </a:r>
          </a:p>
          <a:p>
            <a:r>
              <a:t>Funktionale Aggregation**: Stream-API macht Traversierung elegant</a:t>
            </a:r>
          </a:p>
          <a:p>
            <a:r>
              <a:t>Strategy Pattern Integration**: Gruppen-Rabatte bleiben austauschbar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Implementierung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nsolas"/>
              </a:rPr>
              <a:t>// Component-Interface</a:t>
            </a:r>
          </a:p>
          <a:p>
            <a:r>
              <a:rPr sz="1400">
                <a:latin typeface="Consolas"/>
              </a:rPr>
              <a:t>public interface TariffComponent {</a:t>
            </a:r>
          </a:p>
          <a:p>
            <a:r>
              <a:rPr sz="1400">
                <a:latin typeface="Consolas"/>
              </a:rPr>
              <a:t>    BigDecimal calculateTotalPrice();</a:t>
            </a:r>
          </a:p>
          <a:p>
            <a:r>
              <a:rPr sz="1400">
                <a:latin typeface="Consolas"/>
              </a:rPr>
              <a:t>    List getAllFeatures();</a:t>
            </a:r>
          </a:p>
          <a:p>
            <a:r>
              <a:rPr sz="1400">
                <a:latin typeface="Consolas"/>
              </a:rPr>
              <a:t>    int getContractCount();</a:t>
            </a:r>
          </a:p>
          <a:p>
            <a:r>
              <a:rPr sz="1400">
                <a:latin typeface="Consolas"/>
              </a:rPr>
              <a:t>}</a:t>
            </a:r>
          </a:p>
          <a:p>
            <a:r>
              <a:rPr sz="1400">
                <a:latin typeface="Consolas"/>
              </a:rPr>
              <a:t>// Composite-Implementierung</a:t>
            </a:r>
          </a:p>
          <a:p>
            <a:r>
              <a:rPr sz="1400">
                <a:latin typeface="Consolas"/>
              </a:rPr>
              <a:t>public class TariffGroup implements TariffComponent {</a:t>
            </a:r>
          </a:p>
          <a:p>
            <a:r>
              <a:rPr sz="1400">
                <a:latin typeface="Consolas"/>
              </a:rPr>
              <a:t>    private final List children = new ArrayList&lt;&gt;();</a:t>
            </a:r>
          </a:p>
          <a:p>
            <a:r>
              <a:rPr sz="1400">
                <a:latin typeface="Consolas"/>
              </a:rPr>
              <a:t>    public BigDecimal calculateTotalPrice() {</a:t>
            </a:r>
          </a:p>
          <a:p>
            <a:r>
              <a:rPr sz="1400">
                <a:latin typeface="Consolas"/>
              </a:rPr>
              <a:t>        BigDecimal total = children.stream()</a:t>
            </a:r>
          </a:p>
          <a:p>
            <a:r>
              <a:rPr sz="1400">
                <a:latin typeface="Consolas"/>
              </a:rPr>
              <a:t>            .map(TariffComponent::calculateTotalPrice)</a:t>
            </a:r>
          </a:p>
          <a:p>
            <a:r>
              <a:rPr sz="1400">
                <a:latin typeface="Consolas"/>
              </a:rPr>
              <a:t>            .reduce(BigDecimal.ZERO, BigDecimal::add);</a:t>
            </a:r>
          </a:p>
          <a:p>
            <a:r>
              <a:rPr sz="1400">
                <a:latin typeface="Consolas"/>
              </a:rPr>
              <a:t>        return discountStrategy.applyGroupDiscount(total);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    public int getContractCount() {</a:t>
            </a:r>
          </a:p>
          <a:p>
            <a:r>
              <a:rPr sz="1400">
                <a:latin typeface="Consolas"/>
              </a:rPr>
              <a:t>        return children.stream()</a:t>
            </a:r>
          </a:p>
          <a:p>
            <a:r>
              <a:rPr sz="1400">
                <a:latin typeface="Consolas"/>
              </a:rPr>
              <a:t>            .mapToInt(TariffComponent::getContractCount)</a:t>
            </a:r>
          </a:p>
          <a:p>
            <a:r>
              <a:rPr sz="1400">
                <a:latin typeface="Consolas"/>
              </a:rPr>
              <a:t>            .sum(); // Rekursive Aggregation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Facade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nsolas"/>
              </a:rPr>
              <a:t>// Client-Albtraum: 15+ Service-Abhängigkeiten</a:t>
            </a:r>
          </a:p>
          <a:p>
            <a:r>
              <a:rPr sz="1400">
                <a:latin typeface="Consolas"/>
              </a:rPr>
              <a:t>public class TariffOrderClient {</a:t>
            </a:r>
          </a:p>
          <a:p>
            <a:r>
              <a:rPr sz="1400">
                <a:latin typeface="Consolas"/>
              </a:rPr>
              <a:t>    private TariffValidationService validation;</a:t>
            </a:r>
          </a:p>
          <a:p>
            <a:r>
              <a:rPr sz="1400">
                <a:latin typeface="Consolas"/>
              </a:rPr>
              <a:t>    private CustomerCreditCheckService creditCheck;</a:t>
            </a:r>
          </a:p>
          <a:p>
            <a:r>
              <a:rPr sz="1400">
                <a:latin typeface="Consolas"/>
              </a:rPr>
              <a:t>    private PricingService pricing;</a:t>
            </a:r>
          </a:p>
          <a:p>
            <a:r>
              <a:rPr sz="1400">
                <a:latin typeface="Consolas"/>
              </a:rPr>
              <a:t>    private InventoryService inventory;</a:t>
            </a:r>
          </a:p>
          <a:p>
            <a:r>
              <a:rPr sz="1400">
                <a:latin typeface="Consolas"/>
              </a:rPr>
              <a:t>    private NotificationService notification;</a:t>
            </a:r>
          </a:p>
          <a:p>
            <a:r>
              <a:rPr sz="1400">
                <a:latin typeface="Consolas"/>
              </a:rPr>
              <a:t>    // ... 10 weitere Services</a:t>
            </a:r>
          </a:p>
          <a:p>
            <a:r>
              <a:rPr sz="1400">
                <a:latin typeface="Consolas"/>
              </a:rPr>
              <a:t>    public void createOrder(TariffRequest request) {</a:t>
            </a:r>
          </a:p>
          <a:p>
            <a:r>
              <a:rPr sz="1400">
                <a:latin typeface="Consolas"/>
              </a:rPr>
              <a:t>        // 50+ Zeilen Orchestrierung</a:t>
            </a:r>
          </a:p>
          <a:p>
            <a:r>
              <a:rPr sz="1400">
                <a:latin typeface="Consolas"/>
              </a:rPr>
              <a:t>        if (validation.check() &amp;&amp; creditCheck.approve() &amp;&amp; </a:t>
            </a:r>
          </a:p>
          <a:p>
            <a:r>
              <a:rPr sz="1400">
                <a:latin typeface="Consolas"/>
              </a:rPr>
              <a:t>            pricing.calculate() &amp;&amp; inventory.reserve()) {</a:t>
            </a:r>
          </a:p>
          <a:p>
            <a:r>
              <a:rPr sz="1400">
                <a:latin typeface="Consolas"/>
              </a:rPr>
              <a:t>            // Komplexe If-Verschachtelung</a:t>
            </a:r>
          </a:p>
          <a:p>
            <a:r>
              <a:rPr sz="1400">
                <a:latin typeface="Consolas"/>
              </a:rPr>
              <a:t>        }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10: 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Abhängigkeits-Explosion**: Client kennt 15+ Services intimement</a:t>
            </a:r>
          </a:p>
          <a:p>
            <a:r>
              <a:t>Orchestrierungs-Komplexität**: 50+ Zeilen if/else-Logik pro Use Case</a:t>
            </a:r>
          </a:p>
          <a:p>
            <a:r>
              <a:t>Fehlerbehandlungs-Chaos**: Exponentiell wachsende Fehlerpfade</a:t>
            </a:r>
          </a:p>
          <a:p>
            <a:r>
              <a:t>Testing-Alptraum**: Mocking von 15+ Services pro Unit Test</a:t>
            </a:r>
          </a:p>
          <a:p>
            <a:r>
              <a:t>Deployment-Fragilität**: Client bricht bei jeder Service-Änderung</a:t>
            </a:r>
          </a:p>
          <a:p>
            <a:r>
              <a:t>Code-Duplikation**: Gleiche Orchestrierung in mehreren Clients</a:t>
            </a:r>
          </a:p>
          <a:p>
            <a:r>
              <a:t>Service-Interface-Leakage**: Interne Service-Details überall sichtbar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11: Lösung: Facade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Einheitliche Schnittstelle**: Eine einfache API vor komplexem Subsystem</a:t>
            </a:r>
          </a:p>
          <a:p>
            <a:r>
              <a:t>Komplexitäts-Kapselung**: Interne Orchestrierung für Clients unsichtbar</a:t>
            </a:r>
          </a:p>
          <a:p>
            <a:r>
              <a:t>Use-Case-spezifische APIs**: APIs sprechen die Sprache der Business-User</a:t>
            </a:r>
          </a:p>
          <a:p>
            <a:r>
              <a:t>Zentrale Fehlerbehandlung**: Standardisierte Error-Responses</a:t>
            </a:r>
          </a:p>
          <a:p>
            <a:r>
              <a:t>Versionierungs-Puffer**: API-Änderungen ohne Client-Brüche möglich</a:t>
            </a:r>
          </a:p>
          <a:p>
            <a:r>
              <a:t>Performance-Optimierung**: Parallelisierung und Caching zentral möglich</a:t>
            </a:r>
          </a:p>
          <a:p>
            <a:r>
              <a:t>Service-Abstraktion**: Services können ausgetauscht werden ohne Client-Impact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12: Implementierung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nsolas"/>
              </a:rPr>
              <a:t>@Service</a:t>
            </a:r>
          </a:p>
          <a:p>
            <a:r>
              <a:rPr sz="1400">
                <a:latin typeface="Consolas"/>
              </a:rPr>
              <a:t>public class TariffOrderFacade {</a:t>
            </a:r>
          </a:p>
          <a:p>
            <a:r>
              <a:rPr sz="1400">
                <a:latin typeface="Consolas"/>
              </a:rPr>
              <a:t>    // Alle komplexen Dependencies sind privat gekapselt</a:t>
            </a:r>
          </a:p>
          <a:p>
            <a:r>
              <a:rPr sz="1400">
                <a:latin typeface="Consolas"/>
              </a:rPr>
              <a:t>    private final TariffValidationService validation;</a:t>
            </a:r>
          </a:p>
          <a:p>
            <a:r>
              <a:rPr sz="1400">
                <a:latin typeface="Consolas"/>
              </a:rPr>
              <a:t>    private final CreditCheckService creditCheck;</a:t>
            </a:r>
          </a:p>
          <a:p>
            <a:r>
              <a:rPr sz="1400">
                <a:latin typeface="Consolas"/>
              </a:rPr>
              <a:t>    // ... weitere Services (privat!)</a:t>
            </a:r>
          </a:p>
          <a:p>
            <a:r>
              <a:rPr sz="1400">
                <a:latin typeface="Consolas"/>
              </a:rPr>
              <a:t>    public TariffOrderResult createTariffOrder(TariffOrderRequest request) {</a:t>
            </a:r>
          </a:p>
          <a:p>
            <a:r>
              <a:rPr sz="1400">
                <a:latin typeface="Consolas"/>
              </a:rPr>
              <a:t>        try {</a:t>
            </a:r>
          </a:p>
          <a:p>
            <a:r>
              <a:rPr sz="1400">
                <a:latin typeface="Consolas"/>
              </a:rPr>
              <a:t>            if (!validateOrder(request).isValid()) {</a:t>
            </a:r>
          </a:p>
          <a:p>
            <a:r>
              <a:rPr sz="1400">
                <a:latin typeface="Consolas"/>
              </a:rPr>
              <a:t>                return TariffOrderResult.failed("Validation failed");</a:t>
            </a:r>
          </a:p>
          <a:p>
            <a:r>
              <a:rPr sz="1400">
                <a:latin typeface="Consolas"/>
              </a:rPr>
              <a:t>            }</a:t>
            </a:r>
          </a:p>
          <a:p>
            <a:r>
              <a:rPr sz="1400">
                <a:latin typeface="Consolas"/>
              </a:rPr>
              <a:t>            return executeOrderProcess(request); // Details versteckt</a:t>
            </a:r>
          </a:p>
          <a:p>
            <a:r>
              <a:rPr sz="1400">
                <a:latin typeface="Consolas"/>
              </a:rPr>
              <a:t>        } catch (Exception e) {</a:t>
            </a:r>
          </a:p>
          <a:p>
            <a:r>
              <a:rPr sz="1400">
                <a:latin typeface="Consolas"/>
              </a:rPr>
              <a:t>            return TariffOrderResult.failed(e.getMessage());</a:t>
            </a:r>
          </a:p>
          <a:p>
            <a:r>
              <a:rPr sz="1400">
                <a:latin typeface="Consolas"/>
              </a:rPr>
              <a:t>        }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    // Parallele Validierungen für Performance</a:t>
            </a:r>
          </a:p>
          <a:p>
            <a:r>
              <a:rPr sz="1400">
                <a:latin typeface="Consolas"/>
              </a:rPr>
              <a:t>    private CompletableFuture validateOrderAsync(request) {</a:t>
            </a:r>
          </a:p>
          <a:p>
            <a:r>
              <a:rPr sz="1400">
                <a:latin typeface="Consolas"/>
              </a:rPr>
              <a:t>        // Unabhängige Service-Calls parallel ausführen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nsolas"/>
              </a:rPr>
              <a:t>// Synchrone, ungecachte DB-Zugriffe</a:t>
            </a:r>
          </a:p>
          <a:p>
            <a:r>
              <a:rPr sz="1400">
                <a:latin typeface="Consolas"/>
              </a:rPr>
              <a:t>public class CustomerService {</a:t>
            </a:r>
          </a:p>
          <a:p>
            <a:r>
              <a:rPr sz="1400">
                <a:latin typeface="Consolas"/>
              </a:rPr>
              <a:t>    public CustomerData getCustomer(String id) {</a:t>
            </a:r>
          </a:p>
          <a:p>
            <a:r>
              <a:rPr sz="1400">
                <a:latin typeface="Consolas"/>
              </a:rPr>
              <a:t>        // Legacy-DB: 200ms+ pro Query!</a:t>
            </a:r>
          </a:p>
          <a:p>
            <a:r>
              <a:rPr sz="1400">
                <a:latin typeface="Consolas"/>
              </a:rPr>
              <a:t>        return legacyDatabase.findById(id);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}</a:t>
            </a:r>
          </a:p>
          <a:p>
            <a:r>
              <a:rPr sz="1400">
                <a:latin typeface="Consolas"/>
              </a:rPr>
              <a:t>// Bei 1000 Requests/sec:</a:t>
            </a:r>
          </a:p>
          <a:p>
            <a:r>
              <a:rPr sz="1400">
                <a:latin typeface="Consolas"/>
              </a:rPr>
              <a:t>// 1000 × 200ms = 200 Sekunden DB-Zeit pro Sekunde</a:t>
            </a:r>
          </a:p>
          <a:p>
            <a:r>
              <a:rPr sz="1400">
                <a:latin typeface="Consolas"/>
              </a:rPr>
              <a:t>// System bricht zusammen!</a:t>
            </a:r>
          </a:p>
          <a:p>
            <a:r>
              <a:rPr sz="1400">
                <a:latin typeface="Consolas"/>
              </a:rPr>
              <a:t>// Memory-Verschwendung: Jeder Customer 2KB</a:t>
            </a:r>
          </a:p>
          <a:p>
            <a:r>
              <a:rPr sz="1400">
                <a:latin typeface="Consolas"/>
              </a:rPr>
              <a:t>// 50 Million Kunden × 2KB = 100GB RAM nur für Basis-Kundendaten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14: 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Latenz-Explosion**: 200ms+ Response-Zeit pro DB-Query</a:t>
            </a:r>
          </a:p>
          <a:p>
            <a:r>
              <a:t>Memory-Verschwendung**: Redundante Daten millionenfach geladen</a:t>
            </a:r>
          </a:p>
          <a:p>
            <a:r>
              <a:t>Cascade-Failure-Risk**: Langsame Services blockieren nachgelagerte Systeme</a:t>
            </a:r>
          </a:p>
          <a:p>
            <a:r>
              <a:t>No Caching Strategy**: Identische Queries werden wiederholt ausgeführt</a:t>
            </a:r>
          </a:p>
          <a:p>
            <a:r>
              <a:t>Synchronous Blocking**: Alle Threads warten auf DB-Response</a:t>
            </a:r>
          </a:p>
          <a:p>
            <a:r>
              <a:t>Resource Exhaustion**: Connection Pools werden erschöpft</a:t>
            </a:r>
          </a:p>
          <a:p>
            <a:r>
              <a:t>Poor User Experience**: Web-Interfaces werden unbenutzbar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15: Lösung: Proxy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Intelligente Zugriffssteuerung**: Proxy kontrolliert Zugriff auf teure Objekte</a:t>
            </a:r>
          </a:p>
          <a:p>
            <a:r>
              <a:t>Transparente Optimierung**: Client merkt nichts von Performance-Verbesserungen</a:t>
            </a:r>
          </a:p>
          <a:p>
            <a:r>
              <a:t>Lazy Loading**: Objekte nur bei tatsächlichem Bedarf laden</a:t>
            </a:r>
          </a:p>
          <a:p>
            <a:r>
              <a:t>Caching-Integration**: Intelligente Zwischenspeicherung mit konfigurierbaren Policies</a:t>
            </a:r>
          </a:p>
          <a:p>
            <a:r>
              <a:t>Security-Layer**: Transparent implementierte Sicherheitsprüfungen</a:t>
            </a:r>
          </a:p>
          <a:p>
            <a:r>
              <a:t>Remote Proxy**: Netzwerk-Komplexität verstecken mit Resilience Patterns</a:t>
            </a:r>
          </a:p>
          <a:p>
            <a:r>
              <a:t>Monitoring-Integration**: Zentrale Metriken für alle Service-Calls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16: Implementierung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nsolas"/>
              </a:rPr>
              <a:t>// Virtual Proxy für Lazy Loading</a:t>
            </a:r>
          </a:p>
          <a:p>
            <a:r>
              <a:rPr sz="1400">
                <a:latin typeface="Consolas"/>
              </a:rPr>
              <a:t>public class LazyCustomerServiceProxy implements CustomerService {</a:t>
            </a:r>
          </a:p>
          <a:p>
            <a:r>
              <a:rPr sz="1400">
                <a:latin typeface="Consolas"/>
              </a:rPr>
              <a:t>    private final CustomerService realService;</a:t>
            </a:r>
          </a:p>
          <a:p>
            <a:r>
              <a:rPr sz="1400">
                <a:latin typeface="Consolas"/>
              </a:rPr>
              <a:t>    private final Map loadedCustomers = new HashMap&lt;&gt;();</a:t>
            </a:r>
          </a:p>
          <a:p>
            <a:r>
              <a:rPr sz="1400">
                <a:latin typeface="Consolas"/>
              </a:rPr>
              <a:t>    public CustomerData getCustomer(String customerId) {</a:t>
            </a:r>
          </a:p>
          <a:p>
            <a:r>
              <a:rPr sz="1400">
                <a:latin typeface="Consolas"/>
              </a:rPr>
              <a:t>        return loadedCustomers.computeIfAbsent(customerId, </a:t>
            </a:r>
          </a:p>
          <a:p>
            <a:r>
              <a:rPr sz="1400">
                <a:latin typeface="Consolas"/>
              </a:rPr>
              <a:t>            id -&gt; realService.getCustomer(id)); // Lazy Loading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}</a:t>
            </a:r>
          </a:p>
          <a:p>
            <a:r>
              <a:rPr sz="1400">
                <a:latin typeface="Consolas"/>
              </a:rPr>
              <a:t>// Caching Proxy für Performance</a:t>
            </a:r>
          </a:p>
          <a:p>
            <a:r>
              <a:rPr sz="1400">
                <a:latin typeface="Consolas"/>
              </a:rPr>
              <a:t>@Component</a:t>
            </a:r>
          </a:p>
          <a:p>
            <a:r>
              <a:rPr sz="1400">
                <a:latin typeface="Consolas"/>
              </a:rPr>
              <a:t>public class CachedCustomerServiceProxy implements CustomerService {</a:t>
            </a:r>
          </a:p>
          <a:p>
            <a:r>
              <a:rPr sz="1400">
                <a:latin typeface="Consolas"/>
              </a:rPr>
              <a:t>    private final Cache customerCache;</a:t>
            </a:r>
          </a:p>
          <a:p>
            <a:r>
              <a:rPr sz="1400">
                <a:latin typeface="Consolas"/>
              </a:rPr>
              <a:t>    public CustomerData getCustomer(String customerId) {</a:t>
            </a:r>
          </a:p>
          <a:p>
            <a:r>
              <a:rPr sz="1400">
                <a:latin typeface="Consolas"/>
              </a:rPr>
              <a:t>        return customerCache.get(customerId, id -&gt; {</a:t>
            </a:r>
          </a:p>
          <a:p>
            <a:r>
              <a:rPr sz="1400">
                <a:latin typeface="Consolas"/>
              </a:rPr>
              <a:t>            return realService.getCustomer(id); // Cache Miss</a:t>
            </a:r>
          </a:p>
          <a:p>
            <a:r>
              <a:rPr sz="1400">
                <a:latin typeface="Consolas"/>
              </a:rPr>
              <a:t>        });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Flyweight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nsolas"/>
              </a:rPr>
              <a:t>// REDUNDANT: Gleiche Tarif-Daten millionenfach dupliziert</a:t>
            </a:r>
          </a:p>
          <a:p>
            <a:r>
              <a:rPr sz="1400">
                <a:latin typeface="Consolas"/>
              </a:rPr>
              <a:t>public class CustomerData {</a:t>
            </a:r>
          </a:p>
          <a:p>
            <a:r>
              <a:rPr sz="1400">
                <a:latin typeface="Consolas"/>
              </a:rPr>
              <a:t>    private String customerId;          // INDIVIDUELL</a:t>
            </a:r>
          </a:p>
          <a:p>
            <a:r>
              <a:rPr sz="1400">
                <a:latin typeface="Consolas"/>
              </a:rPr>
              <a:t>    private String name;                // INDIVIDUELL</a:t>
            </a:r>
          </a:p>
          <a:p>
            <a:r>
              <a:rPr sz="1400">
                <a:latin typeface="Consolas"/>
              </a:rPr>
              <a:t>    // Nur ~50 verschiedene Werte für Millionen Kunden!</a:t>
            </a:r>
          </a:p>
          <a:p>
            <a:r>
              <a:rPr sz="1400">
                <a:latin typeface="Consolas"/>
              </a:rPr>
              <a:t>    private String tariffPlanName;      // "MagentaMobil L" - 1M× dupliziert!</a:t>
            </a:r>
          </a:p>
          <a:p>
            <a:r>
              <a:rPr sz="1400">
                <a:latin typeface="Consolas"/>
              </a:rPr>
              <a:t>    private String tariffDescription;   // Beschreibung - 1M× dupliziert!</a:t>
            </a:r>
          </a:p>
          <a:p>
            <a:r>
              <a:rPr sz="1400">
                <a:latin typeface="Consolas"/>
              </a:rPr>
              <a:t>    private BigDecimal tariffPrice;     // 49.99 - 1M× dupliziert!</a:t>
            </a:r>
          </a:p>
          <a:p>
            <a:r>
              <a:rPr sz="1400">
                <a:latin typeface="Consolas"/>
              </a:rPr>
              <a:t>    private Set tariffFeatures; // Feature-Liste - 1M× dupliziert!</a:t>
            </a:r>
          </a:p>
          <a:p>
            <a:r>
              <a:rPr sz="1400">
                <a:latin typeface="Consolas"/>
              </a:rPr>
              <a:t>}</a:t>
            </a:r>
          </a:p>
          <a:p>
            <a:r>
              <a:rPr sz="1400">
                <a:latin typeface="Consolas"/>
              </a:rPr>
              <a:t>// Memory-Verschwendung: 500MB für identische Strings!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18: 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Memory-Explosion**: 50 verschiedene Tarife × 1M Kunden = 50M redundante Kopien</a:t>
            </a:r>
          </a:p>
          <a:p>
            <a:r>
              <a:t>Gigabyte-Verschwendung**: Identische Strings millionenfach im Memory</a:t>
            </a:r>
          </a:p>
          <a:p>
            <a:r>
              <a:t>Skalierungs-Problem**: Memory-Verbrauch explodiert mit Kundenzahl</a:t>
            </a:r>
          </a:p>
          <a:p>
            <a:r>
              <a:t>Cloud-Kosten-Explosion**: Ineffiziente Memory-Nutzung = hohe Infrastruktur-Kosten</a:t>
            </a:r>
          </a:p>
          <a:p>
            <a:r>
              <a:t>Cache-Ineffizienz**: Redundante Daten verdrängen wichtige Daten aus Caches</a:t>
            </a:r>
          </a:p>
          <a:p>
            <a:r>
              <a:t>GC-Pressure**: Garbage Collector überlastet durch redundante Objekte</a:t>
            </a:r>
          </a:p>
          <a:p>
            <a:r>
              <a:t>Network-Overhead**: Redundante Daten werden über Netzwerk übertragen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19: Lösung: Flyweight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Intrinsic vs. Extrinsic State**: Geteilte von individuellen Daten trennen</a:t>
            </a:r>
          </a:p>
          <a:p>
            <a:r>
              <a:t>Memory-Sharing**: Identische Objekte nur einmal im Memory speichern</a:t>
            </a:r>
          </a:p>
          <a:p>
            <a:r>
              <a:t>Factory-Management**: Zentrale Verwaltung garantiert Singleton-Eigenschaften</a:t>
            </a:r>
          </a:p>
          <a:p>
            <a:r>
              <a:t>Immutable Flyweights**: Thread-Safety durch Unveränderlichkeit</a:t>
            </a:r>
          </a:p>
          <a:p>
            <a:r>
              <a:t>Context Pattern**: Individuelle Daten als Parameter-Objekte</a:t>
            </a:r>
          </a:p>
          <a:p>
            <a:r>
              <a:t>70%+ Memory-Ersparnis**: Dramatische Reduktion des Speicherverbrauchs</a:t>
            </a:r>
          </a:p>
          <a:p>
            <a:r>
              <a:t>Lineare Skalierung**: Memory-Verbrauch wächst linear mit Kundenzahl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20: Implementierung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nsolas"/>
              </a:rPr>
              <a:t>// Flyweight: Nur intrinsic (geteilte) Properties</a:t>
            </a:r>
          </a:p>
          <a:p>
            <a:r>
              <a:rPr sz="1400">
                <a:latin typeface="Consolas"/>
              </a:rPr>
              <a:t>public class TariffPlanFlyweight {</a:t>
            </a:r>
          </a:p>
          <a:p>
            <a:r>
              <a:rPr sz="1400">
                <a:latin typeface="Consolas"/>
              </a:rPr>
              <a:t>    private final String planName;          // Intrinsic - geteilt</a:t>
            </a:r>
          </a:p>
          <a:p>
            <a:r>
              <a:rPr sz="1400">
                <a:latin typeface="Consolas"/>
              </a:rPr>
              <a:t>    private final String description;       // Intrinsic - geteilt  </a:t>
            </a:r>
          </a:p>
          <a:p>
            <a:r>
              <a:rPr sz="1400">
                <a:latin typeface="Consolas"/>
              </a:rPr>
              <a:t>    private final BigDecimal basePrice;     // Intrinsic - geteilt</a:t>
            </a:r>
          </a:p>
          <a:p>
            <a:r>
              <a:rPr sz="1400">
                <a:latin typeface="Consolas"/>
              </a:rPr>
              <a:t>    private final Set features;     // Intrinsic - geteilt</a:t>
            </a:r>
          </a:p>
          <a:p>
            <a:r>
              <a:rPr sz="1400">
                <a:latin typeface="Consolas"/>
              </a:rPr>
              <a:t>    // Business-Operation mit extrinsic context</a:t>
            </a:r>
          </a:p>
          <a:p>
            <a:r>
              <a:rPr sz="1400">
                <a:latin typeface="Consolas"/>
              </a:rPr>
              <a:t>    public CustomerBill calculateBill(CustomerContext context) {</a:t>
            </a:r>
          </a:p>
          <a:p>
            <a:r>
              <a:rPr sz="1400">
                <a:latin typeface="Consolas"/>
              </a:rPr>
              <a:t>        BigDecimal finalPrice = basePrice;</a:t>
            </a:r>
          </a:p>
          <a:p>
            <a:r>
              <a:rPr sz="1400">
                <a:latin typeface="Consolas"/>
              </a:rPr>
              <a:t>        if (context.hasLoyaltyDiscount()) {</a:t>
            </a:r>
          </a:p>
          <a:p>
            <a:r>
              <a:rPr sz="1400">
                <a:latin typeface="Consolas"/>
              </a:rPr>
              <a:t>            finalPrice = finalPrice.multiply(BigDecimal.valueOf(0.9));</a:t>
            </a:r>
          </a:p>
          <a:p>
            <a:r>
              <a:rPr sz="1400">
                <a:latin typeface="Consolas"/>
              </a:rPr>
              <a:t>        }</a:t>
            </a:r>
          </a:p>
          <a:p>
            <a:r>
              <a:rPr sz="1400">
                <a:latin typeface="Consolas"/>
              </a:rPr>
              <a:t>        return new CustomerBill(context.getCustomerId(), planName, finalPrice);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}</a:t>
            </a:r>
          </a:p>
          <a:p>
            <a:r>
              <a:rPr sz="1400">
                <a:latin typeface="Consolas"/>
              </a:rPr>
              <a:t>// Factory für Flyweight-Management</a:t>
            </a:r>
          </a:p>
          <a:p>
            <a:r>
              <a:rPr sz="1400">
                <a:latin typeface="Consolas"/>
              </a:rPr>
              <a:t>@Component</a:t>
            </a:r>
          </a:p>
          <a:p>
            <a:r>
              <a:rPr sz="1400">
                <a:latin typeface="Consolas"/>
              </a:rPr>
              <a:t>public class TariffPlanFlyweightFactory {</a:t>
            </a:r>
          </a:p>
          <a:p>
            <a:r>
              <a:rPr sz="1400">
                <a:latin typeface="Consolas"/>
              </a:rPr>
              <a:t>    private final Map flyweights = new ConcurrentHashMap&lt;&gt;();</a:t>
            </a:r>
          </a:p>
          <a:p>
            <a:r>
              <a:rPr sz="1400">
                <a:latin typeface="Consolas"/>
              </a:rPr>
              <a:t>    public TariffPlanFlyweight getTariffPlan(String planName) {</a:t>
            </a:r>
          </a:p>
          <a:p>
            <a:r>
              <a:rPr sz="1400">
                <a:latin typeface="Consolas"/>
              </a:rPr>
              <a:t>        return flyweights.computeIfAbsent(planName, this::createTariffPlan);</a:t>
            </a:r>
          </a:p>
          <a:p>
            <a:r>
              <a:rPr sz="1400">
                <a:latin typeface="Consolas"/>
              </a:rPr>
              <a:t>    }</a:t>
            </a:r>
          </a:p>
          <a:p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Pattern-Integration &amp; Enterprise-Readiness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Decorator + Strategy**: Optionale, austauschbare Algorithmen kombinieren</a:t>
            </a:r>
          </a:p>
          <a:p>
            <a:r>
              <a:t>Composite + Visitor**: Performance-optimierte Hierarchie-Traversierung</a:t>
            </a:r>
          </a:p>
          <a:p>
            <a:r>
              <a:t>Facade + Circuit Breaker**: Resiliente Service-Orchestrierung</a:t>
            </a:r>
          </a:p>
          <a:p>
            <a:r>
              <a:t>Proxy + Flyweight**: Memory-effiziente Performance-Optimierung</a:t>
            </a:r>
          </a:p>
          <a:p>
            <a:r>
              <a:t>Bridge + Factory**: Dynamische Provider-Auswahl mit Abstraktion</a:t>
            </a:r>
          </a:p>
          <a:p>
            <a:r>
              <a:t>Template Method Integration**: Konsistente Flows über alle Patterns</a:t>
            </a:r>
          </a:p>
          <a:p>
            <a:r>
              <a:t>Event-Driven Enhancement**: Eventual Consistency für komplexe Systeme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22: Production-Ready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Distributed Caching**: Redis für Multi-Instance Cache-Konsistenz</a:t>
            </a:r>
          </a:p>
          <a:p>
            <a:r>
              <a:t>Circuit Breaker**: Resilience bei Provider-Integration</a:t>
            </a:r>
          </a:p>
          <a:p>
            <a:r>
              <a:t>Health Monitoring**: Proaktive Performance- und Verfügbarkeits-Überwachung</a:t>
            </a:r>
          </a:p>
          <a:p>
            <a:r>
              <a:t>Cache Warming**: Predictive Loading für kritische Daten</a:t>
            </a:r>
          </a:p>
          <a:p>
            <a:r>
              <a:t>Graceful Degradation**: Fallback-Strategien für Provider-Ausfälle</a:t>
            </a:r>
          </a:p>
          <a:p>
            <a:r>
              <a:t>Memory Monitoring**: JVM-Metriken und Alerting für Memory-Patterns</a:t>
            </a:r>
          </a:p>
          <a:p>
            <a:r>
              <a:t>Event Sourcing**: Audit-Trail und System-Konsistenz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Zusammenfassung: Block 2 Erkenntnisse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</a:t>
            </a:r>
            <a:r>
              <a:rPr b="1"/>
              <a:t>Strukturelle Probleme elegant lösen</a:t>
            </a:r>
            <a:r>
              <a:t>: Patterns adressieren fundamentale Kompositions-Herausforderungen</a:t>
            </a:r>
          </a:p>
          <a:p>
            <a:r>
              <a:t>✅ </a:t>
            </a:r>
            <a:r>
              <a:rPr b="1"/>
              <a:t>Performance durch Design</a:t>
            </a:r>
            <a:r>
              <a:t>: Memory-Optimierung und Latenz-Reduktion als architektonische Entscheidung</a:t>
            </a:r>
          </a:p>
          <a:p>
            <a:r>
              <a:t>✅ </a:t>
            </a:r>
            <a:r>
              <a:rPr b="1"/>
              <a:t>Enterprise-Skalierung</a:t>
            </a:r>
            <a:r>
              <a:t>: Patterns skalieren mit bewusster Implementierung bis zu 50M+ Kunden</a:t>
            </a:r>
          </a:p>
          <a:p>
            <a:r>
              <a:t>✅ </a:t>
            </a:r>
            <a:r>
              <a:rPr b="1"/>
              <a:t>Microservice-Integration</a:t>
            </a:r>
            <a:r>
              <a:t>: Loose Coupling und Provider-Abstraktion für resiliente Systeme</a:t>
            </a:r>
          </a:p>
          <a:p>
            <a:r>
              <a:t>✅ </a:t>
            </a:r>
            <a:r>
              <a:rPr b="1"/>
              <a:t>Pattern-Kombination</a:t>
            </a:r>
            <a:r>
              <a:t>: Synergien zwischen Patterns multiplizieren architektonischen Wert</a:t>
            </a:r>
          </a:p>
          <a:p>
            <a:r>
              <a:t>✅ </a:t>
            </a:r>
            <a:r>
              <a:rPr b="1"/>
              <a:t>Production-Readiness</a:t>
            </a:r>
            <a:r>
              <a:t>: Mit Monitoring, Caching und Resilience enterprise-tauglich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anillaCore" id="{A4188DAF-3037-9A46-8AA0-BDB523AB8B82}" vid="{1D57C864-6CD3-B749-8548-A8609C08E9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Arial</vt:lpstr>
      <vt:lpstr>Open Sans</vt:lpstr>
      <vt:lpstr>Open Sans Light</vt:lpstr>
      <vt:lpstr>Source Code Pro</vt:lpstr>
      <vt:lpstr>Custom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Samaschke, Karsten</dc:creator>
  <cp:lastModifiedBy>Samaschke, Karsten</cp:lastModifiedBy>
  <cp:revision>8</cp:revision>
  <dcterms:created xsi:type="dcterms:W3CDTF">2025-09-10T03:57:45Z</dcterms:created>
  <dcterms:modified xsi:type="dcterms:W3CDTF">2025-09-10T05:07:05Z</dcterms:modified>
</cp:coreProperties>
</file>