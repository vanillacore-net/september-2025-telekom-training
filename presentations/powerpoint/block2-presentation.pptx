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43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9" d="100"/>
          <a:sy n="129" d="100"/>
        </p:scale>
        <p:origin x="4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Deutsche Telekom bietet verschiedenste Tarif-Optionen: Datenvolumen-Upgrades, Roaming-Pakete, Streaming-Services, Hotspot-Zugang. Der naive OOP-Ansatz führt zu exponentieller Klassenzahl.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mathematische Problem: Bei nur 10 Tarif-Optionen entstehen 1.024 Klassen! Dies verletzt fundamental das Open/Closed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Decorator Pattern löst das Problem durch Komposition statt Vererbung. Ein Tarif-Objekt wird von "Decorator"-Objekten umschlossen, die jeweils eine zusätzliche Funktion bereitstellen.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Jeder Decorator implementiert dieselbe Schnittstelle wie das umhüllte Objekt - so können Decorators beliebig geschachtelt werden. Factory Pattern übernimmt die Objektkomposition und versteckt die Komplexität.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Telekom verkauft komplexe Familien-Strukturen mit verschachtelten Abhängigkeiten. Separate Klassen für jede Konstellation führen zu kombinatorischer Explosion.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Komplexitäts-Dilemma: Wie behandeln wir Einzeltarife und Gruppen-Tarife einheitlich? Naive Ansätze scheitern an kombinatorischer Explosion.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Pattern behandelt Einzelobjekte und Objektsammlungen einheitlich. Ein Familien-Tarif wird genauso behandelt wie ein Einzel-Tarif.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Transparente Rekursion: TariffGroup "weiß" nicht, ob Kinder Leafs oder Composites sind. Visitor Pattern kann für Performance-Optimierung bei tiefen Hierarchien eingesetzt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Eine einfache Tarif-Bestellung erfordert Koordination von 15+ Microservices. Client-Code wird unlesesbar und untestbar.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Komplexitäts-Dilemma: Jede Service-Änderung bricht den Client. Deployment-Abhängigkeiten werden unbeherrschbar.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Facade Pattern erstellt eine "einfache" Schnittstelle vor einem "komplexen" Subsystem. Client-Sicht: 1 Methode statt 15 Service-Calls.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Facade vs. Microservice Gateway: Façade ist ein architektonisches Pattern, Gateway ist infrastrukturell. Circuit Breaker, Timeout Management und Parallelisierung können integriert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Legacy-Datenbanken sind oft der Flaschenhals moderner Systeme. Hochfrequente Zugriffe führen zu Cascading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Latenz-Spirale: 1000+ Customer-Abfragen pro Sekunde multipliziert mit 200ms = System-Kollaps.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Proxy Pattern stellt einen "Stellvertreter" vor ein teures Objekt. Der Proxy kann Caching, Lazy Loading, Security etc. transparent hinzufügen.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Cache-Hit-Rate von 99.5%+ ist realistisch = 2000x Performance-Verbesserung. Security Proxy kann Authorization und Audit-Logging transparent implementieren.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Mit 50+ Millionen Kunden entstehen massive Datenmengen. Redundante Tarif-Beschreibungen werden millionenfach dupliziert = Gigabytes verschwendeter Speicher.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Mathematisches Dilemma: 50 Millionen Kunden × 2KB = 100GB RAM nur für Customer-Objekte. Redundante Daten vervielfachen den Speicher-Bedarf exponentiell.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Flyweight Pattern trennt "geteilte" von "individuellen" Daten. Objekte mit identischen Properties werden nur einmal gespeichert.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Messbare Ergebnisse: 77% Memory-Ersparnis! Von 103GB auf 24GB RAM-Verbrauch. Nur 50 Flyweight-Objekte statt 50 Millionen redundante Tarif-Kopien.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Patterns ergänzen sich perfekt: Komplexe Business-Domänen werden durch Pattern-Kombination beherrschbar. Factory + Decorator lösen gemeinsam das Problem der flexiblen Objektzusammensetzung.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200" b="1">
                <a:latin typeface="Calibri"/>
              </a:rPr>
              <a:t>Block 2: Structural Patterns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 b="0">
                <a:latin typeface="Calibri"/>
              </a:rPr>
              <a:t>Design Patterns Workshop - Deutsche Telekom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Decorator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latin typeface="Calibri"/>
              </a:rPr>
              <a:t>**Klassen-Explosion**: Bei n Features entstehen 2^n Klassen</a:t>
            </a:r>
          </a:p>
          <a:p>
            <a:pPr/>
            <a:r>
              <a:rPr sz="1600">
                <a:latin typeface="Calibri"/>
              </a:rPr>
              <a:t>**Code-Duplikation**: Bugfixes müssen in hunderten Klassen repliziert werden</a:t>
            </a:r>
          </a:p>
          <a:p>
            <a:pPr/>
            <a:r>
              <a:rPr sz="1600">
                <a:latin typeface="Calibri"/>
              </a:rPr>
              <a:t>**Open/Closed Verletzung**: Jede neue Option erfordert Dutzende neuer Klassen</a:t>
            </a:r>
          </a:p>
          <a:p>
            <a:pPr/>
            <a:r>
              <a:rPr sz="1600">
                <a:latin typeface="Calibri"/>
              </a:rPr>
              <a:t>**Wartungs-Alptraum**: Änderungen propagieren durch die gesamte Hierarchie</a:t>
            </a:r>
          </a:p>
          <a:p>
            <a:pPr/>
            <a:r>
              <a:rPr sz="1600">
                <a:latin typeface="Calibri"/>
              </a:rPr>
              <a:t>**Kombinatorisches Problem**: Unmöglich alle Feature-Kombinationen zu modellieren</a:t>
            </a:r>
          </a:p>
          <a:p>
            <a:pPr/>
            <a:r>
              <a:rPr sz="1600">
                <a:latin typeface="Calibri"/>
              </a:rPr>
              <a:t>**Tight Coupling**: Features sind fest mit Basis-Implementierung gekoppelt</a:t>
            </a:r>
          </a:p>
          <a:p>
            <a:pPr/>
            <a:r>
              <a:rPr sz="1600">
                <a:latin typeface="Calibri"/>
              </a:rPr>
              <a:t>**Inflexibilität**: Keine zur-Laufzeit-Konfiguration von Features möglich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Lösung: Decorator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latin typeface="Calibri"/>
              </a:rPr>
              <a:t>**Komposition über Vererbung**: Objekte zur Laufzeit "umhüllen"</a:t>
            </a:r>
          </a:p>
          <a:p>
            <a:pPr/>
            <a:r>
              <a:rPr sz="1600">
                <a:latin typeface="Calibri"/>
              </a:rPr>
              <a:t>**Gemeinsame Schnittstelle**: Component-Interface für einheitliche Behandlung</a:t>
            </a:r>
          </a:p>
          <a:p>
            <a:pPr/>
            <a:r>
              <a:rPr sz="1600">
                <a:latin typeface="Calibri"/>
              </a:rPr>
              <a:t>**Transparente Erweiterung**: Decorators sind für Clients unsichtbar</a:t>
            </a:r>
          </a:p>
          <a:p>
            <a:pPr/>
            <a:r>
              <a:rPr sz="1600">
                <a:latin typeface="Calibri"/>
              </a:rPr>
              <a:t>**Beliebige Kombinierbarkeit**: Features können flexibel kombiniert werden</a:t>
            </a:r>
          </a:p>
          <a:p>
            <a:pPr/>
            <a:r>
              <a:rPr sz="1600">
                <a:latin typeface="Calibri"/>
              </a:rPr>
              <a:t>**Einzelne Verantwortung**: Jeder Decorator fügt genau ein Feature hinzu</a:t>
            </a:r>
          </a:p>
          <a:p>
            <a:pPr/>
            <a:r>
              <a:rPr sz="1600">
                <a:latin typeface="Calibri"/>
              </a:rPr>
              <a:t>**Zur-Laufzeit-Konfiguration**: Dynamische Objekt-Zusammensetzung</a:t>
            </a:r>
          </a:p>
          <a:p>
            <a:pPr/>
            <a:r>
              <a:rPr sz="1600">
                <a:latin typeface="Calibri"/>
              </a:rPr>
              <a:t>**Template Method Integration**: Abstraktes Decorator-Rückgrat für Standards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Implementierung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tIns="9144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// Gemeinsame Schnittstelle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public interface TariffService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BigDecimal calculatePrice();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Set&lt;String&gt; getFeatures();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// Abstrakter Decorator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public abstract class TariffDecorator implements TariffService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protected final TariffService decoratedTariff;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public BigDecimal calculatePrice()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return decoratedTariff.calculatePrice(); // Delegation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// Konkreter Decorator 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public class DataOptionDecorator extends TariffDecorator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private final BigDecimal dataPrice;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@Override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public BigDecimal calculatePrice()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return super.calculatePrice().add(dataPrice); // Erweiterung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Composite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latin typeface="Calibri"/>
              </a:rPr>
              <a:t>**Type-Checking Nightmare**: Instanceof-Checks überall im Code</a:t>
            </a:r>
          </a:p>
          <a:p>
            <a:pPr/>
            <a:r>
              <a:rPr sz="1600">
                <a:latin typeface="Calibri"/>
              </a:rPr>
              <a:t>**Rekursive Logik-Duplikation**: Gleiche Traversierung in jeder Methode</a:t>
            </a:r>
          </a:p>
          <a:p>
            <a:pPr/>
            <a:r>
              <a:rPr sz="1600">
                <a:latin typeface="Calibri"/>
              </a:rPr>
              <a:t>**Kombinatorische Explosion**: Neue Tarif-Typen = neue If-Zweige überall</a:t>
            </a:r>
          </a:p>
          <a:p>
            <a:pPr/>
            <a:r>
              <a:rPr sz="1600">
                <a:latin typeface="Calibri"/>
              </a:rPr>
              <a:t>**Client-Komplexität**: Clients müssen alle Tarif-Typen kennen</a:t>
            </a:r>
          </a:p>
          <a:p>
            <a:pPr/>
            <a:r>
              <a:rPr sz="1600">
                <a:latin typeface="Calibri"/>
              </a:rPr>
              <a:t>**Tight Coupling**: Client-Code gekoppelt an konkrete Tarif-Typen</a:t>
            </a:r>
          </a:p>
          <a:p>
            <a:pPr/>
            <a:r>
              <a:rPr sz="1600">
                <a:latin typeface="Calibri"/>
              </a:rPr>
              <a:t>**Inkonsistente Behandlung**: Verschiedene Logik für ähnliche Operationen</a:t>
            </a:r>
          </a:p>
          <a:p>
            <a:pPr/>
            <a:r>
              <a:rPr sz="1600">
                <a:latin typeface="Calibri"/>
              </a:rPr>
              <a:t>**Schwer erweiterbar**: Neue Hierarchie-Ebenen = massive Code-Änderungen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Lösung: Composite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latin typeface="Calibri"/>
              </a:rPr>
              <a:t>**Einheitliche Behandlung**: Einzelobjekte und Sammlungen identisch behandeln</a:t>
            </a:r>
          </a:p>
          <a:p>
            <a:pPr/>
            <a:r>
              <a:rPr sz="1600">
                <a:latin typeface="Calibri"/>
              </a:rPr>
              <a:t>**Rekursive Struktur**: Composites können andere Composites enthalten</a:t>
            </a:r>
          </a:p>
          <a:p>
            <a:pPr/>
            <a:r>
              <a:rPr sz="1600">
                <a:latin typeface="Calibri"/>
              </a:rPr>
              <a:t>**Transparenz für Client**: Client arbeitet nur mit Component-Interface</a:t>
            </a:r>
          </a:p>
          <a:p>
            <a:pPr/>
            <a:r>
              <a:rPr sz="1600">
                <a:latin typeface="Calibri"/>
              </a:rPr>
              <a:t>**Natürliche Hierarchie-Abbildung**: Teil-Ganzes-Beziehungen elegant modelliert</a:t>
            </a:r>
          </a:p>
          <a:p>
            <a:pPr/>
            <a:r>
              <a:rPr sz="1600">
                <a:latin typeface="Calibri"/>
              </a:rPr>
              <a:t>**Liskov Substitution**: Blätter und Äste vollständig austauschbar</a:t>
            </a:r>
          </a:p>
          <a:p>
            <a:pPr/>
            <a:r>
              <a:rPr sz="1600">
                <a:latin typeface="Calibri"/>
              </a:rPr>
              <a:t>**Funktionale Aggregation**: Stream-API macht Traversierung elegant</a:t>
            </a:r>
          </a:p>
          <a:p>
            <a:pPr/>
            <a:r>
              <a:rPr sz="1600">
                <a:latin typeface="Calibri"/>
              </a:rPr>
              <a:t>**Strategy Pattern Integration**: Gruppen-Rabatte bleiben austauschbar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Implementierung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tIns="9144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// Component-Interface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public interface TariffComponent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BigDecimal calculateTotalPrice();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List&lt;String&gt; getAllFeatures();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int getContractCount();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// Composite-Implementierung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public class TariffGroup implements TariffComponent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private final List&lt;TariffComponent&gt; children = new ArrayList&lt;&gt;();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public BigDecimal calculateTotalPrice()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BigDecimal total = children.stream()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    .map(TariffComponent::calculateTotalPrice)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    .reduce(BigDecimal.ZERO, BigDecimal::add);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return discountStrategy.applyGroupDiscount(total);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public int getContractCount()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return children.stream()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    .mapToInt(TariffComponent::getContractCount)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    .sum(); // Rekursive Aggregation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Facade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latin typeface="Calibri"/>
              </a:rPr>
              <a:t>**Abhängigkeits-Explosion**: Client kennt 15+ Services intimement</a:t>
            </a:r>
          </a:p>
          <a:p>
            <a:pPr/>
            <a:r>
              <a:rPr sz="1600">
                <a:latin typeface="Calibri"/>
              </a:rPr>
              <a:t>**Orchestrierungs-Komplexität**: 50+ Zeilen if/else-Logik pro Use Case</a:t>
            </a:r>
          </a:p>
          <a:p>
            <a:pPr/>
            <a:r>
              <a:rPr sz="1600">
                <a:latin typeface="Calibri"/>
              </a:rPr>
              <a:t>**Fehlerbehandlungs-Chaos**: Exponentiell wachsende Fehlerpfade</a:t>
            </a:r>
          </a:p>
          <a:p>
            <a:pPr/>
            <a:r>
              <a:rPr sz="1600">
                <a:latin typeface="Calibri"/>
              </a:rPr>
              <a:t>**Testing-Alptraum**: Mocking von 15+ Services pro Unit Test</a:t>
            </a:r>
          </a:p>
          <a:p>
            <a:pPr/>
            <a:r>
              <a:rPr sz="1600">
                <a:latin typeface="Calibri"/>
              </a:rPr>
              <a:t>**Deployment-Fragilität**: Client bricht bei jeder Service-Änderung</a:t>
            </a:r>
          </a:p>
          <a:p>
            <a:pPr/>
            <a:r>
              <a:rPr sz="1600">
                <a:latin typeface="Calibri"/>
              </a:rPr>
              <a:t>**Code-Duplikation**: Gleiche Orchestrierung in mehreren Clients</a:t>
            </a:r>
          </a:p>
          <a:p>
            <a:pPr/>
            <a:r>
              <a:rPr sz="1600">
                <a:latin typeface="Calibri"/>
              </a:rPr>
              <a:t>**Service-Interface-Leakage**: Interne Service-Details überall sichtbar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Lösung: Facade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latin typeface="Calibri"/>
              </a:rPr>
              <a:t>**Einheitliche Schnittstelle**: Eine einfache API vor komplexem Subsystem</a:t>
            </a:r>
          </a:p>
          <a:p>
            <a:pPr/>
            <a:r>
              <a:rPr sz="1600">
                <a:latin typeface="Calibri"/>
              </a:rPr>
              <a:t>**Komplexitäts-Kapselung**: Interne Orchestrierung für Clients unsichtbar</a:t>
            </a:r>
          </a:p>
          <a:p>
            <a:pPr/>
            <a:r>
              <a:rPr sz="1600">
                <a:latin typeface="Calibri"/>
              </a:rPr>
              <a:t>**Use-Case-spezifische APIs**: APIs sprechen die Sprache der Business-User</a:t>
            </a:r>
          </a:p>
          <a:p>
            <a:pPr/>
            <a:r>
              <a:rPr sz="1600">
                <a:latin typeface="Calibri"/>
              </a:rPr>
              <a:t>**Zentrale Fehlerbehandlung**: Standardisierte Error-Responses</a:t>
            </a:r>
          </a:p>
          <a:p>
            <a:pPr/>
            <a:r>
              <a:rPr sz="1600">
                <a:latin typeface="Calibri"/>
              </a:rPr>
              <a:t>**Versionierungs-Puffer**: API-Änderungen ohne Client-Brüche möglich</a:t>
            </a:r>
          </a:p>
          <a:p>
            <a:pPr/>
            <a:r>
              <a:rPr sz="1600">
                <a:latin typeface="Calibri"/>
              </a:rPr>
              <a:t>**Performance-Optimierung**: Parallelisierung und Caching zentral möglich</a:t>
            </a:r>
          </a:p>
          <a:p>
            <a:pPr/>
            <a:r>
              <a:rPr sz="1600">
                <a:latin typeface="Calibri"/>
              </a:rPr>
              <a:t>**Service-Abstraktion**: Services können ausgetauscht werden ohne Client-Impact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Implementierung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tIns="9144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@Service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public class TariffOrderFacade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// Alle komplexen Dependencies sind privat gekapselt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private final TariffValidationService validation;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private final CreditCheckService creditCheck;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// ... weitere Services (privat!)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public TariffOrderResult createTariffOrder(TariffOrderRequest request)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try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    if (!validateOrder(request).isValid())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        return TariffOrderResult.failed("Validation failed");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    return executeOrderProcess(request); // Details versteckt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} catch (Exception e)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    return TariffOrderResult.failed(e.getMessage());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// Parallele Validierungen für Performance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private CompletableFuture&lt;ValidationResult&gt; validateOrderAsync(request)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// Unabhängige Service-Calls parallel ausführen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Proxy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latin typeface="Calibri"/>
              </a:rPr>
              <a:t>**Latenz-Explosion**: 200ms+ Response-Zeit pro DB-Query</a:t>
            </a:r>
          </a:p>
          <a:p>
            <a:pPr/>
            <a:r>
              <a:rPr sz="1600">
                <a:latin typeface="Calibri"/>
              </a:rPr>
              <a:t>**Memory-Verschwendung**: Redundante Daten millionenfach geladen</a:t>
            </a:r>
          </a:p>
          <a:p>
            <a:pPr/>
            <a:r>
              <a:rPr sz="1600">
                <a:latin typeface="Calibri"/>
              </a:rPr>
              <a:t>**Cascade-Failure-Risk**: Langsame Services blockieren nachgelagerte Systeme</a:t>
            </a:r>
          </a:p>
          <a:p>
            <a:pPr/>
            <a:r>
              <a:rPr sz="1600">
                <a:latin typeface="Calibri"/>
              </a:rPr>
              <a:t>**No Caching Strategy**: Identische Queries werden wiederholt ausgeführt</a:t>
            </a:r>
          </a:p>
          <a:p>
            <a:pPr/>
            <a:r>
              <a:rPr sz="1600">
                <a:latin typeface="Calibri"/>
              </a:rPr>
              <a:t>**Synchronous Blocking**: Alle Threads warten auf DB-Response</a:t>
            </a:r>
          </a:p>
          <a:p>
            <a:pPr/>
            <a:r>
              <a:rPr sz="1600">
                <a:latin typeface="Calibri"/>
              </a:rPr>
              <a:t>**Resource Exhaustion**: Connection Pools werden erschöpft</a:t>
            </a:r>
          </a:p>
          <a:p>
            <a:pPr/>
            <a:r>
              <a:rPr sz="1600">
                <a:latin typeface="Calibri"/>
              </a:rPr>
              <a:t>**Poor User Experience**: Web-Interfaces werden unbenutzbar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Lösung: Proxy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latin typeface="Calibri"/>
              </a:rPr>
              <a:t>**Intelligente Zugriffssteuerung**: Proxy kontrolliert Zugriff auf teure Objekte</a:t>
            </a:r>
          </a:p>
          <a:p>
            <a:pPr/>
            <a:r>
              <a:rPr sz="1600">
                <a:latin typeface="Calibri"/>
              </a:rPr>
              <a:t>**Transparente Optimierung**: Client merkt nichts von Performance-Verbesserungen</a:t>
            </a:r>
          </a:p>
          <a:p>
            <a:pPr/>
            <a:r>
              <a:rPr sz="1600">
                <a:latin typeface="Calibri"/>
              </a:rPr>
              <a:t>**Lazy Loading**: Objekte nur bei tatsächlichem Bedarf laden</a:t>
            </a:r>
          </a:p>
          <a:p>
            <a:pPr/>
            <a:r>
              <a:rPr sz="1600">
                <a:latin typeface="Calibri"/>
              </a:rPr>
              <a:t>**Caching-Integration**: Intelligente Zwischenspeicherung mit konfigurierbaren Policies</a:t>
            </a:r>
          </a:p>
          <a:p>
            <a:pPr/>
            <a:r>
              <a:rPr sz="1600">
                <a:latin typeface="Calibri"/>
              </a:rPr>
              <a:t>**Security-Layer**: Transparent implementierte Sicherheitsprüfungen</a:t>
            </a:r>
          </a:p>
          <a:p>
            <a:pPr/>
            <a:r>
              <a:rPr sz="1600">
                <a:latin typeface="Calibri"/>
              </a:rPr>
              <a:t>**Remote Proxy**: Netzwerk-Komplexität verstecken mit Resilience Patterns</a:t>
            </a:r>
          </a:p>
          <a:p>
            <a:pPr/>
            <a:r>
              <a:rPr sz="1600">
                <a:latin typeface="Calibri"/>
              </a:rPr>
              <a:t>**Monitoring-Integration**: Zentrale Metriken für alle Service-Calls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Implementierung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tIns="9144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// Virtual Proxy für Lazy Loading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public class LazyCustomerServiceProxy implements CustomerService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private final CustomerService realService;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private final Map&lt;String, CustomerData&gt; loadedCustomers = new HashMap&lt;&gt;();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public CustomerData getCustomer(String customerId)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return loadedCustomers.computeIfAbsent(customerId,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    id -&gt; realService.getCustomer(id)); // Lazy Loading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// Caching Proxy für Performance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@Component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public class CachedCustomerServiceProxy implements CustomerService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private final Cache&lt;String, CustomerData&gt; customerCache;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public CustomerData getCustomer(String customerId)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return customerCache.get(customerId, id -&gt;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    return realService.getCustomer(id); // Cache Miss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});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Flyweight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latin typeface="Calibri"/>
              </a:rPr>
              <a:t>**Memory-Explosion**: 50 verschiedene Tarife × 1M Kunden = 50M redundante Kopien</a:t>
            </a:r>
          </a:p>
          <a:p>
            <a:pPr/>
            <a:r>
              <a:rPr sz="1600">
                <a:latin typeface="Calibri"/>
              </a:rPr>
              <a:t>**Gigabyte-Verschwendung**: Identische Strings millionenfach im Memory</a:t>
            </a:r>
          </a:p>
          <a:p>
            <a:pPr/>
            <a:r>
              <a:rPr sz="1600">
                <a:latin typeface="Calibri"/>
              </a:rPr>
              <a:t>**Skalierungs-Problem**: Memory-Verbrauch explodiert mit Kundenzahl</a:t>
            </a:r>
          </a:p>
          <a:p>
            <a:pPr/>
            <a:r>
              <a:rPr sz="1600">
                <a:latin typeface="Calibri"/>
              </a:rPr>
              <a:t>**Cloud-Kosten-Explosion**: Ineffiziente Memory-Nutzung = hohe Infrastruktur-Kosten</a:t>
            </a:r>
          </a:p>
          <a:p>
            <a:pPr/>
            <a:r>
              <a:rPr sz="1600">
                <a:latin typeface="Calibri"/>
              </a:rPr>
              <a:t>**Cache-Ineffizienz**: Redundante Daten verdrängen wichtige Daten aus Caches</a:t>
            </a:r>
          </a:p>
          <a:p>
            <a:pPr/>
            <a:r>
              <a:rPr sz="1600">
                <a:latin typeface="Calibri"/>
              </a:rPr>
              <a:t>**GC-Pressure**: Garbage Collector überlastet durch redundante Objekte</a:t>
            </a:r>
          </a:p>
          <a:p>
            <a:pPr/>
            <a:r>
              <a:rPr sz="1600">
                <a:latin typeface="Calibri"/>
              </a:rPr>
              <a:t>**Network-Overhead**: Redundante Daten werden über Netzwerk übertragen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Lösung: Flyweight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latin typeface="Calibri"/>
              </a:rPr>
              <a:t>**Intrinsic vs. Extrinsic State**: Geteilte von individuellen Daten trennen</a:t>
            </a:r>
          </a:p>
          <a:p>
            <a:pPr/>
            <a:r>
              <a:rPr sz="1600">
                <a:latin typeface="Calibri"/>
              </a:rPr>
              <a:t>**Memory-Sharing**: Identische Objekte nur einmal im Memory speichern</a:t>
            </a:r>
          </a:p>
          <a:p>
            <a:pPr/>
            <a:r>
              <a:rPr sz="1600">
                <a:latin typeface="Calibri"/>
              </a:rPr>
              <a:t>**Factory-Management**: Zentrale Verwaltung garantiert Singleton-Eigenschaften</a:t>
            </a:r>
          </a:p>
          <a:p>
            <a:pPr/>
            <a:r>
              <a:rPr sz="1600">
                <a:latin typeface="Calibri"/>
              </a:rPr>
              <a:t>**Immutable Flyweights**: Thread-Safety durch Unveränderlichkeit</a:t>
            </a:r>
          </a:p>
          <a:p>
            <a:pPr/>
            <a:r>
              <a:rPr sz="1600">
                <a:latin typeface="Calibri"/>
              </a:rPr>
              <a:t>**Context Pattern**: Individuelle Daten als Parameter-Objekte</a:t>
            </a:r>
          </a:p>
          <a:p>
            <a:pPr/>
            <a:r>
              <a:rPr sz="1600">
                <a:latin typeface="Calibri"/>
              </a:rPr>
              <a:t>**70%+ Memory-Ersparnis**: Dramatische Reduktion des Speicherverbrauchs</a:t>
            </a:r>
          </a:p>
          <a:p>
            <a:pPr/>
            <a:r>
              <a:rPr sz="1600">
                <a:latin typeface="Calibri"/>
              </a:rPr>
              <a:t>**Lineare Skalierung**: Memory-Verbrauch wächst linear mit Kundenzahl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Implementierung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tIns="91440" bIns="9144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// Flyweight: Nur intrinsic (geteilte) Properties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public class TariffPlanFlyweight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private final String planName;          // Intrinsic - geteilt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private final String description;       // Intrinsic - geteilt 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private final BigDecimal basePrice;     // Intrinsic - geteilt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private final Set&lt;String&gt; features;     // Intrinsic - geteilt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// Business-Operation mit extrinsic context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public CustomerBill calculateBill(CustomerContext context)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BigDecimal finalPrice = basePrice;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if (context.hasLoyaltyDiscount())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    finalPrice = finalPrice.multiply(BigDecimal.valueOf(0.9));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return new CustomerBill(context.getCustomerId(), planName, finalPrice);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// Factory für Flyweight-Management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@Component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public class TariffPlanFlyweightFactory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private final Map&lt;String, TariffPlanFlyweight&gt; flyweights = new ConcurrentHashMap&lt;&gt;();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public TariffPlanFlyweight getTariffPlan(String planName)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    return flyweights.computeIfAbsent(planName, this::createTariffPlan);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Pattern-Integration &amp; Enterprise-Readiness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Calibri"/>
              </a:rPr>
              <a:t>Production-Ready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latin typeface="Calibri"/>
              </a:rPr>
              <a:t>**Distributed Caching**: Redis für Multi-Instance Cache-Konsistenz</a:t>
            </a:r>
          </a:p>
          <a:p>
            <a:pPr/>
            <a:r>
              <a:rPr sz="1600">
                <a:latin typeface="Calibri"/>
              </a:rPr>
              <a:t>**Circuit Breaker**: Resilience bei Provider-Integration</a:t>
            </a:r>
          </a:p>
          <a:p>
            <a:pPr/>
            <a:r>
              <a:rPr sz="1600">
                <a:latin typeface="Calibri"/>
              </a:rPr>
              <a:t>**Health Monitoring**: Proaktive Performance- und Verfügbarkeits-Überwachung</a:t>
            </a:r>
          </a:p>
          <a:p>
            <a:pPr/>
            <a:r>
              <a:rPr sz="1600">
                <a:latin typeface="Calibri"/>
              </a:rPr>
              <a:t>**Cache Warming**: Predictive Loading für kritische Daten</a:t>
            </a:r>
          </a:p>
          <a:p>
            <a:pPr/>
            <a:r>
              <a:rPr sz="1600">
                <a:latin typeface="Calibri"/>
              </a:rPr>
              <a:t>**Graceful Degradation**: Fallback-Strategien für Provider-Ausfälle</a:t>
            </a:r>
          </a:p>
          <a:p>
            <a:pPr/>
            <a:r>
              <a:rPr sz="1600">
                <a:latin typeface="Calibri"/>
              </a:rPr>
              <a:t>**Memory Monitoring**: JVM-Metriken und Alerting für Memory-Patterns</a:t>
            </a:r>
          </a:p>
          <a:p>
            <a:pPr/>
            <a:r>
              <a:rPr sz="1600">
                <a:latin typeface="Calibri"/>
              </a:rPr>
              <a:t>**Event Sourcing**: Audit-Trail und System-Konsistenz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 Zusammenfassung: Block 2 Erkenntnisse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Aptos</vt:lpstr>
      <vt:lpstr>Arial</vt:lpstr>
      <vt:lpstr>Open Sans</vt:lpstr>
      <vt:lpstr>Open Sans Light</vt:lpstr>
      <vt:lpstr>Source Code Pro</vt:lpstr>
      <vt:lpstr>Custom Design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Samaschke, Karsten</dc:creator>
  <cp:lastModifiedBy>Samaschke, Karsten</cp:lastModifiedBy>
  <cp:revision>8</cp:revision>
  <dcterms:created xsi:type="dcterms:W3CDTF">2025-09-10T03:57:45Z</dcterms:created>
  <dcterms:modified xsi:type="dcterms:W3CDTF">2025-09-10T05:07:05Z</dcterms:modified>
</cp:coreProperties>
</file>